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webextensions/taskpanes.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media/image1.jpe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microsoft.com/office/2011/relationships/webextensiontaskpanes" Target="ppt/webextensions/taskpanes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ko-KR" sz="1800" spc="-1" strike="noStrike">
                <a:solidFill>
                  <a:schemeClr val="dk1"/>
                </a:solidFill>
                <a:latin typeface="Malgun Gothic"/>
              </a:rPr>
              <a:t>슬라이드를 이동하려면 클릭하십시오</a:t>
            </a:r>
            <a:r>
              <a:rPr b="0" lang="en-US" sz="1800" spc="-1" strike="noStrike">
                <a:solidFill>
                  <a:schemeClr val="dk1"/>
                </a:solidFill>
                <a:latin typeface="Malgun Gothic"/>
              </a:rPr>
              <a:t>.</a:t>
            </a: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메모 서식을 편집하려면 클릭하십시오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&lt;머리글&gt;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r">
              <a:buNone/>
            </a:pPr>
            <a:fld id="{C839065C-2B75-4EA8-91AF-6D892FF0C4D1}" type="slidenum"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&lt;숫자&gt;</a:t>
            </a:fld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안녕하세요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지난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일 동안 배운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AI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내용을 핵심만 정리해서 발표하겠습니다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1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일차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LLM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기초부터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RAG, Fine-tuning,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마지막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AI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에이전트까지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각 주제의 구조와 동작 흐름을 단계별로 설명드리겠습니다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7B35FB9-D7C9-4A35-BB43-A1413407F34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8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전체 흐름부터 보겠습니다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1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일차에는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LLM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이 무엇이고 어떻게 호출하는지 배웠고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2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일차에는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LLM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이 모르는 지식을 검색으로 넣어 주는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RAG, 3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일차에는 모델 자체를 내 데이터로 고치는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Fine-tuning, 4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일차에는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LLM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에게 일을 맡기는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AI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에이전트를 배웠습니다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각 일차가 앞에서 드러난 한계를 해결하는 방향으로 이어진다는 점이 핵심입니다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071DD73-83A4-4D32-8EB6-9132434412A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8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1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일차 내용입니다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AI,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머신러닝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딥러닝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LLM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은 포함 관계입니다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머신러닝은 사람이 규칙을 쓰지 않고 데이터에서 규칙을 찾고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딥러닝은 그중 여러 층의 신경망을 쓰는 방식이며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LLM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은 글을 대량으로 학습한 아주 큰 딥러닝 모델입니다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학습은 예측하고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오차를 재고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역전파로 원인을 찾아 경사하강법으로 가중치를 고치는 과정의 반복입니다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LLM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의 핵심 동작은 다음 토큰 예측입니다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후보 토큰의 확률을 계산해서 하나씩 이어 붙이고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temperature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로 얼마나 무작위로 고를지 조절합니다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이 계산의 뼈대가 트랜스포머와 어텐션입니다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5E4CBDC-4960-42DB-A680-C1202B4884D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8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LLM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호출 구조입니다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먼저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system, user, assistant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역할로 메시지를 만들고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API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로 보냅니다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모델이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OpenAI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든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Gemini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든 로컬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Ollama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든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base_url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과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api_key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만 바꾸면 같은 형식으로 호출됩니다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모델은 다음 토큰을 반복 예측해 답을 만들고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응답에서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content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가 본문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finish_reason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이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stop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이면 정상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length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면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max_tokens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에 걸려 잘린 것입니다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중요한 점은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LLM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이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stateless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라는 것입니다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기억하는 것처럼 보이려면 지난 대화를 매번 다시 보내야 하고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context window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를 넘으면 오래된 대화부터 잘립니다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비용은 출력에서 많이 나오기 때문에 답을 짧게 시키는 것이 효과적입니다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01F0899-6BFB-4F9D-9A5C-71A64CC76EE7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8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1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일차에서 확인한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LLM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의 한계입니다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학습 이후 정보와 비공개 정보를 모르고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모르는 것도 지어내며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기억이 없고 넣을 수 있는 분량에도 한도가 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모르는 지식을 주는 방법은 세 가지입니다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프롬프트에 직접 넣는 방법은 간단하지만 분량 한계가 있고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그래서 필요한 부분만 찾아 넣는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RAG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를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2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일차에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모델 자체를 추가 학습하는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Fine-tuning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을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3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일차에 배웠습니다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2B26064-70EF-4E4E-B429-4A1B3866CFC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8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2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일차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RAG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의 구조입니다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RAG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는 두 개의 파이프라인으로 움직입니다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위쪽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Data Ingestion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은 미리 한 번 실행되는데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문서를 수집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·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정제하고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의미 단위로 청킹하고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임베딩 모델로 숫자 벡터로 바꾼 뒤 원문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메타데이터와 함께 벡터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DB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에 저장합니다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아래쪽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Query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파이프라인은 질문마다 실행됩니다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질문을 문서 어휘에 맞게 다시 쓰고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저장할 때와 같은 임베딩 모델로 벡터화해서 벡터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DB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에서 가장 가까운 조각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k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개를 검색하고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재정렬로 상위만 남긴 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LLM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이 그 근거로 답변과 출처를 만듭니다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답변이 끝나면 사용자의 다음 질문을 받아 다시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1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단계부터 반복하고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LLM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은 기억이 없기 때문에 이전 대화를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history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로 함께 넘겨 맥락을 이어 갑니다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오픈북 시험처럼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벡터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DB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는 페이지를 찾아 주고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LLM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이 정리해서 답하는 구조입니다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015F0D4-6667-4A26-B6C7-5E9DE6A0E29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8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각 단계에서 기억할 핵심입니다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첫째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청킹은 한 조각에 한 가지 이야기만 담기게 자르는 것이고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글의 종류에 맞는 방법을 골라야 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둘째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임베딩은 의미를 좌표로 바꾸기 때문에 단어가 달라도 비슷한 의미를 찾을 수 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셋째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벡터 검색은 관련이 없어도 가까운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k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개를 무조건 가져오기 때문에 재정렬과 하이브리드 검색으로 보완합니다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넷째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생성 단계에서는 자료만 근거로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없으면 없다고 답하게 해야 환각을 줄일 수 있고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채점표로 숫자 평가를 해야 품질을 올릴 수 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여기서 더 발전하면 에이전트가 검색을 주도하는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Agentic RAG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가 되고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이것이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일차로 이어집니다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018DA43-6D38-4DF8-8059-DD971A9E384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8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3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일차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Fine-tuning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Fine-tuning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은 이미 학습된 모델을 내 데이터로 추가 학습해 가중치 자체를 바꾸는 방법입니다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진행 순서는 목표 설정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데이터 수집과 정제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JSONL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변환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학습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·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검증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·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테스트를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대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1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대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2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로 분할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모델과 하이퍼파라미터 선정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학습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평가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개선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배포의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9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단계이고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평가 결과를 보며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단계부터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단계를 반복합니다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RAG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와 비교하면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자주 바뀌는 지식은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RAG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가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고정된 말투나 형식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특정 작업은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Fine-tuning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이 맞습니다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72A5C09-BD5F-4F00-B365-0D3C86145035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8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Fine-tuning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을 적은 자원으로 하는 방법이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LoRA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입력은 두 갈래로 흐릅니다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위쪽의 원래 가중치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W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는 고정해서 학습하지 않고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아래쪽에 작은 행렬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A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와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B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로 된 어댑터를 붙여 이것만 학습합니다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A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는 입력을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r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차원으로 줄이고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B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가 원래 차원으로 되돌리며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두 결과를 더해 출력을 만듭니다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r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은 어댑터 폭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alpha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는 어댑터 영향력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learning rate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는 수정 정도입니다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QLoRA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는 여기에 원래 가중치를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비트로 양자화하는 것을 더해 메모리를 더 줄인 방법이라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Colab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같은 환경에서도 학습할 수 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6AC43D4-3C0E-43BB-BB5B-7C97B5FDC924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8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일차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AI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에이전트입니다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에이전트는 스스로 판단하고 결정하는 시스템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즉 일을 위임하는 것입니다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Anthropic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은 이를 정해진 코드 경로로 움직이는 워크플로와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LLM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이 절차와 도구를 스스로 정하는 에이전트로 나눕니다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영업 메일 실습에서 같은 일을 세 가지 방식으로 해 봤는데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코드가 결정하면 가장 안전하고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매니저 에이전트가 도구를 고르게 하면 유연해지고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핸드오프로 결정까지 넘기면 가장 예측하기 어렵습니다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LLM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에게 맡길수록 유연하지만 통제가 어려워지므로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어디까지 맡길지 의식적으로 설계하고 트레이스로 확인해야 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A24CA1C-1712-463C-9729-CB576DDE785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8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에이전트를 설계할 때 쓰는 다섯 가지 패턴입니다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프롬프트 체이닝은 단계를 순서대로 잇고 중간 게이트에서 검증하는 가장 기본 형태입니다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라우팅은 라우터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LLM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이 입력을 보고 경로 하나를 고르고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병렬화는 여러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LLM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이 동시에 처리한 결과를 모읍니다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오케스트레이터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-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워커는 지휘자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LLM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이 작업을 동적으로 쪼개 맡기고 종합하며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평가자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-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최적화는 평가자가 통과시킬 때까지 생성과 평가를 반복합니다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주황색으로 표시한 곳이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LLM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이 흐름을 결정하는 지점입니다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실제 시스템은 이 패턴들을 조합하지만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LLM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호출이 많을수록 위험과 비용이 커지기 때문에 단순한 설계가 이긴다는 것이 핵심입니다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F3AC137-B167-4CCE-A861-4247B84A65D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8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오후에는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OpenAI Agents SDK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로 에이전트를 만들었습니다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에이전트는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LLM,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지시문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도구 목록으로 구성하고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Runner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로 비동기 실행합니다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입력과 출력은 가드레일이 걸러 잘못된 내용이면 즉시 중단합니다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에이전트는 스스로 실행할 수 없어서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function_tool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로 만든 도구를 호출해 행동하는데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도구의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docstring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이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LLM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이 읽는 설명서가 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에이전트도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stateless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라 세션으로 대화를 기록하고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필요하면 핸드오프로 다른 에이전트에게 일을 넘깁니다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그리고 이 모든 과정을 트레이스가 기록하기 때문에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문제가 생기면 트레이스로 원인과 비용을 확인합니다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도구만으로 부족할 때는 플래닝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파일 시스템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서브에이전트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스킬을 갖춘 하네스를 붙입니다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0CD3821-6741-4B8B-9CE9-ECD670CA58B4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8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일차 금요일에는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MCP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를 배웠습니다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MCP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는 남이 만든 도구 묶음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즉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MCP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서버를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AI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에 꽂아 쓰는 연결 규격이라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AI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용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USB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포트라고 볼 수 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AI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쪽 클라이언트는 주피터 노트북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VS Code, Claude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앱이고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도구 쪽 서버는 내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PC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에서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uvx, npx, Docker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로 실행합니다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로컬 서버는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stdio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로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원격 서버는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URL,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즉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Streamable HTTP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로 연결합니다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에이전트는 지시만 하고 실제 일은 도구가 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도구가 도는 곳과 자료가 있는 곳은 다를 수 있다는 점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AI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가 잘 읽는 형식이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JSON, Markdown, XML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이라는 점도 기억해야 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좋은 도구가 있으면 다시 만들지 말고 가져다 쓰는 것이 핵심입니다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0E200EA-D4ED-470A-8C9B-B23A1B76877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8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오전과 오후에 걸쳐 여러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MCP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서버를 꽂아 봤습니다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기본 실습에서는 떡 조리법을 검색해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ricecake.md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로 저장하라고만 했는데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AI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가 순서를 알아서 정해 도구를 실행했습니다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Context7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은 꽂기 전에는 모른다고 답하다가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꽂은 뒤에는 최신 문서를 찾아 답했습니다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Docker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로는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fetch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와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filesystem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서버를 상자 안에서 실행하고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mount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로 허락한 폴더만 연결했습니다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메모리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MCP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를 쓰면 새 대화에서도 이름과 좋아하는 떡을 기억하는데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기억하는 것은 모델이 아니라 도구입니다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Tavily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검색과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Qdrant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벡터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DB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를 함께 꽂으면 검색해서 저장해 달라는 말만으로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Agentic RAG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가 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시장 데이터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MCP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API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권한 부족으로 실패했는데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유료 데이터는 키와 요금제를 먼저 확인해야 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결국 코드는 거의 같고 서버만 바뀝니다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2D9C205-0C21-487F-B89E-42ECF1FFD08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8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같은 웹 페이지를 두 도구로 읽어 비교했습니다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fetch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HTML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을 받아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Markdown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으로 바꾸는 가벼운 도구인데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자바스크립트로 그리는 페이지에서는 불러오는 중이라는 문구만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85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자를 가져왔고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CVE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번호도 없었습니다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Playwright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는 실제 브라우저로 페이지를 띄우기 때문에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CVE-2021-44228, CVSS 10.0,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조치 방법까지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222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자를 가져왔습니다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그래서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fetch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를 먼저 쓰고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내용이 비어 있으면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Playwright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로 넘어가는 것이 원칙입니다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2D3788F-FC90-4262-9BF3-0FF87552241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8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오후에는 직접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MCP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서버를 만들었습니다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파이썬 함수에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server.tool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데코레이터 한 줄만 붙이면 도구가 되고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독스트링이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AI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가 읽는 설명서가 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lookup_cve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와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list_cves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두 도구를 만들어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streamable-http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로 띄우고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filesystem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과 함께 도구 세 개로 보안 보고서를 자동 작성했습니다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자산 목록을 읽고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등록된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CVE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를 확인하고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상세 정보를 조회해 버전을 비교한 뒤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report.md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로 저장하는 흐름입니다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결과는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Log4j 2.14.1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과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Cisco AnyConnect 4.9.0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모두 영향 있음이었고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샌드박스 밖 파일을 읽으려 하자 서버가 거부했습니다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기억으로 답하지 말고 도구로 조회하라는 한 줄이 정확도를 지켜 줍니다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이미 만든 보안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RAG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도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function_tool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을 붙이면 에이전트의 도구가 되고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Agent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에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mcp_servers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와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tools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를 함께 넣어 남의 도구와 내 도구를 같이 쓸 수 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AAA1FA3-86AE-4BFF-A67D-C6D7D20A0F8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8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정리하겠습니다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1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일차에는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LLM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이 다음 토큰을 예측하는 모델이고 기억이 없다는 것을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2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일차에는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RAG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로 근거를 찾아 넣되 품질은 검색이 좌우한다는 것을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3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일차에는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Fine-tuning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으로 가중치를 고치되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LoRA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로 가볍게 할 수 있다는 것을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4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일차에는 에이전트가 결국 위임이고 통제는 코드와 트레이스로 해야 한다는 것을 배웠습니다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에이전트 개발의 다섯 가지 원칙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실행 권한은 우리에게 있고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코드로 될 일은 코드로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안전장치는 코드에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기록으로 확인하고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독스트링이 곧 명세라는 점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그리고 무엇보다 기록하는 습관이 중요하다는 점을 기억하겠습니다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5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일차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MCP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에서는 도구는 직접 만들지 말고 꽂아 쓰고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위험한 것은 샌드박스 안에서 돌리라는 것을 배웠습니다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교수님이 강조하신 다섯 가지는 꽂아 쓰면 코드는 같고 서버만 바뀐다는 것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로컬 서버라서 안전하다는 것은 착각이라 외부 연동은 샌드박스에서 해야 한다는 것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검증된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MCP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만 쓰고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API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키와 비밀번호를 함부로 넘기지 않는 것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도구 목록부터 확인하고 유료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API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와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GPU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비용을 생각하는 것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그리고 직접 만들어 봐야 안다는 것입니다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이상으로 발표를 마치겠습니다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감사합니다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3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1003D03-9A41-4E80-BDC8-DC1F346EE31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8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376D0DF-BE4C-4A66-9A7B-D87BBC288810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B56A006-0F85-43C6-8B1A-F261FDB08B2D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body"/>
          </p:nvPr>
        </p:nvSpPr>
        <p:spPr>
          <a:xfrm>
            <a:off x="812880" y="749160"/>
            <a:ext cx="10566000" cy="253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개요 텍스트의 서식을 편집하려면 클릭하십시오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2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번째 개요 수준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3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번째 개요 수준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4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번째 개요 수준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5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번째 개요 수준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6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번째 개요 수준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7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번째 개요 수준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812880" y="1028880"/>
            <a:ext cx="10566000" cy="533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r>
              <a:rPr b="0" lang="ko-KR" sz="3000" spc="-1" strike="noStrike">
                <a:solidFill>
                  <a:schemeClr val="dk1"/>
                </a:solidFill>
                <a:latin typeface="Malgun Gothic"/>
              </a:rPr>
              <a:t>제목 텍스트의 서식을 편집하려면 클릭하십시오</a:t>
            </a:r>
            <a:r>
              <a:rPr b="0" lang="en-US" sz="3000" spc="-1" strike="noStrike">
                <a:solidFill>
                  <a:schemeClr val="dk1"/>
                </a:solidFill>
                <a:latin typeface="Malgun Gothic"/>
              </a:rPr>
              <a:t>.</a:t>
            </a:r>
            <a:endParaRPr b="0" lang="en-US" sz="30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" name="Text 0"/>
          <p:cNvSpPr/>
          <p:nvPr/>
        </p:nvSpPr>
        <p:spPr>
          <a:xfrm>
            <a:off x="812880" y="6222960"/>
            <a:ext cx="634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a7f8a"/>
                </a:solidFill>
                <a:latin typeface="Malgun Gothic"/>
              </a:rPr>
              <a:t>AI </a:t>
            </a:r>
            <a:r>
              <a:rPr b="0" lang="ko-KR" sz="1200" spc="-1" strike="noStrike">
                <a:solidFill>
                  <a:srgbClr val="7a7f8a"/>
                </a:solidFill>
                <a:latin typeface="Malgun Gothic"/>
              </a:rPr>
              <a:t>학습 정리 </a:t>
            </a:r>
            <a:r>
              <a:rPr b="0" lang="en-US" sz="1200" spc="-1" strike="noStrike">
                <a:solidFill>
                  <a:srgbClr val="7a7f8a"/>
                </a:solidFill>
                <a:latin typeface="Malgun Gothic"/>
              </a:rPr>
              <a:t>1–4</a:t>
            </a:r>
            <a:r>
              <a:rPr b="0" lang="ko-KR" sz="1200" spc="-1" strike="noStrike">
                <a:solidFill>
                  <a:srgbClr val="7a7f8a"/>
                </a:solidFill>
                <a:latin typeface="Malgun Gothic"/>
              </a:rPr>
              <a:t>일차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1"/>
          </p:nvPr>
        </p:nvSpPr>
        <p:spPr>
          <a:xfrm>
            <a:off x="10744200" y="6222960"/>
            <a:ext cx="6346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rgbClr val="7a7f8a"/>
                </a:solidFill>
                <a:latin typeface="Malgun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305DFF-EC48-4C4B-9AC9-9AFEAE02A308}" type="slidenum">
              <a:rPr b="0" lang="en-US" sz="1200" spc="-1" strike="noStrike">
                <a:solidFill>
                  <a:srgbClr val="7a7f8a"/>
                </a:solidFill>
                <a:latin typeface="Malgun Gothic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body"/>
          </p:nvPr>
        </p:nvSpPr>
        <p:spPr>
          <a:xfrm>
            <a:off x="812880" y="749160"/>
            <a:ext cx="10566000" cy="253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개요 텍스트의 서식을 편집하려면 클릭하십시오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2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번째 개요 수준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3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번째 개요 수준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4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번째 개요 수준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5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번째 개요 수준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6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번째 개요 수준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7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번째 개요 수준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812880" y="1028880"/>
            <a:ext cx="10566000" cy="533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r>
              <a:rPr b="0" lang="ko-KR" sz="3000" spc="-1" strike="noStrike">
                <a:solidFill>
                  <a:schemeClr val="dk1"/>
                </a:solidFill>
                <a:latin typeface="Malgun Gothic"/>
              </a:rPr>
              <a:t>제목 텍스트의 서식을 편집하려면 클릭하십시오</a:t>
            </a:r>
            <a:r>
              <a:rPr b="0" lang="en-US" sz="3000" spc="-1" strike="noStrike">
                <a:solidFill>
                  <a:schemeClr val="dk1"/>
                </a:solidFill>
                <a:latin typeface="Malgun Gothic"/>
              </a:rPr>
              <a:t>.</a:t>
            </a:r>
            <a:endParaRPr b="0" lang="en-US" sz="30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6" name="Text 0"/>
          <p:cNvSpPr/>
          <p:nvPr/>
        </p:nvSpPr>
        <p:spPr>
          <a:xfrm>
            <a:off x="812880" y="6222960"/>
            <a:ext cx="634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a7f8a"/>
                </a:solidFill>
                <a:latin typeface="Malgun Gothic"/>
              </a:rPr>
              <a:t>AI </a:t>
            </a:r>
            <a:r>
              <a:rPr b="0" lang="ko-KR" sz="1200" spc="-1" strike="noStrike">
                <a:solidFill>
                  <a:srgbClr val="7a7f8a"/>
                </a:solidFill>
                <a:latin typeface="Malgun Gothic"/>
              </a:rPr>
              <a:t>학습 정리 </a:t>
            </a:r>
            <a:r>
              <a:rPr b="0" lang="en-US" sz="1200" spc="-1" strike="noStrike">
                <a:solidFill>
                  <a:srgbClr val="7a7f8a"/>
                </a:solidFill>
                <a:latin typeface="Malgun Gothic"/>
              </a:rPr>
              <a:t>1–4</a:t>
            </a:r>
            <a:r>
              <a:rPr b="0" lang="ko-KR" sz="1200" spc="-1" strike="noStrike">
                <a:solidFill>
                  <a:srgbClr val="7a7f8a"/>
                </a:solidFill>
                <a:latin typeface="Malgun Gothic"/>
              </a:rPr>
              <a:t>일차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10744200" y="6222960"/>
            <a:ext cx="6346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rgbClr val="7a7f8a"/>
                </a:solidFill>
                <a:latin typeface="Malgun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AEAE7D-324A-400D-98D2-56CE31DDDF66}" type="slidenum">
              <a:rPr b="0" lang="en-US" sz="1200" spc="-1" strike="noStrike">
                <a:solidFill>
                  <a:srgbClr val="7a7f8a"/>
                </a:solidFill>
                <a:latin typeface="Malgun Gothic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body"/>
          </p:nvPr>
        </p:nvSpPr>
        <p:spPr>
          <a:xfrm>
            <a:off x="812880" y="749160"/>
            <a:ext cx="10566000" cy="253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개요 텍스트의 서식을 편집하려면 클릭하십시오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2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번째 개요 수준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3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번째 개요 수준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4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번째 개요 수준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5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번째 개요 수준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6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번째 개요 수준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7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번째 개요 수준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812880" y="1028880"/>
            <a:ext cx="10566000" cy="533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r>
              <a:rPr b="0" lang="ko-KR" sz="3000" spc="-1" strike="noStrike">
                <a:solidFill>
                  <a:schemeClr val="dk1"/>
                </a:solidFill>
                <a:latin typeface="Malgun Gothic"/>
              </a:rPr>
              <a:t>제목 텍스트의 서식을 편집하려면 클릭하십시오</a:t>
            </a:r>
            <a:r>
              <a:rPr b="0" lang="en-US" sz="3000" spc="-1" strike="noStrike">
                <a:solidFill>
                  <a:schemeClr val="dk1"/>
                </a:solidFill>
                <a:latin typeface="Malgun Gothic"/>
              </a:rPr>
              <a:t>.</a:t>
            </a:r>
            <a:endParaRPr b="0" lang="en-US" sz="3000" spc="-1" strike="noStrike">
              <a:solidFill>
                <a:schemeClr val="dk1"/>
              </a:solidFill>
              <a:latin typeface="Malgun Gothic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812880" y="2031840"/>
            <a:ext cx="105660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89a5b"/>
                </a:solidFill>
                <a:latin typeface="Malgun Gothic"/>
              </a:rPr>
              <a:t>AI </a:t>
            </a:r>
            <a:r>
              <a:rPr b="1" lang="ko-KR" sz="1400" spc="-1" strike="noStrike">
                <a:solidFill>
                  <a:srgbClr val="e89a5b"/>
                </a:solidFill>
                <a:latin typeface="Malgun Gothic"/>
              </a:rPr>
              <a:t>과정 정리 발표 </a:t>
            </a:r>
            <a:r>
              <a:rPr b="1" lang="en-US" sz="1400" spc="-1" strike="noStrike">
                <a:solidFill>
                  <a:srgbClr val="e89a5b"/>
                </a:solidFill>
                <a:latin typeface="Malgun Gothic"/>
              </a:rPr>
              <a:t>· 10/12 – 10/16</a:t>
            </a:r>
            <a:endParaRPr b="0" lang="en-US" sz="14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7" name="Text 1"/>
          <p:cNvSpPr/>
          <p:nvPr/>
        </p:nvSpPr>
        <p:spPr>
          <a:xfrm>
            <a:off x="812880" y="2438280"/>
            <a:ext cx="10566000" cy="171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5600" spc="-1" strike="noStrike">
                <a:solidFill>
                  <a:schemeClr val="lt1"/>
                </a:solidFill>
                <a:latin typeface="Malgun Gothic"/>
              </a:rPr>
              <a:t>AI </a:t>
            </a:r>
            <a:r>
              <a:rPr b="1" lang="ko-KR" sz="5600" spc="-1" strike="noStrike">
                <a:solidFill>
                  <a:schemeClr val="lt1"/>
                </a:solidFill>
                <a:latin typeface="Malgun Gothic"/>
              </a:rPr>
              <a:t>학습 정리</a:t>
            </a:r>
            <a:endParaRPr b="0" lang="en-US" sz="5600" spc="-1" strike="noStrike">
              <a:solidFill>
                <a:srgbClr val="ffffff"/>
              </a:solidFill>
              <a:latin typeface="Noto Sans KR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5600" spc="-1" strike="noStrike">
                <a:solidFill>
                  <a:schemeClr val="lt1"/>
                </a:solidFill>
                <a:latin typeface="Malgun Gothic"/>
              </a:rPr>
              <a:t>1–5</a:t>
            </a:r>
            <a:r>
              <a:rPr b="1" lang="ko-KR" sz="5600" spc="-1" strike="noStrike">
                <a:solidFill>
                  <a:schemeClr val="lt1"/>
                </a:solidFill>
                <a:latin typeface="Malgun Gothic"/>
              </a:rPr>
              <a:t>일차</a:t>
            </a:r>
            <a:endParaRPr b="0" lang="en-US" sz="56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8" name="Text 2"/>
          <p:cNvSpPr/>
          <p:nvPr/>
        </p:nvSpPr>
        <p:spPr>
          <a:xfrm>
            <a:off x="812880" y="4292640"/>
            <a:ext cx="105660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</a:pPr>
            <a:r>
              <a:rPr b="0" lang="en-US" sz="2000" spc="-1" strike="noStrike">
                <a:solidFill>
                  <a:srgbClr val="c9d2e0"/>
                </a:solidFill>
                <a:latin typeface="Malgun Gothic"/>
              </a:rPr>
              <a:t>LLM </a:t>
            </a:r>
            <a:r>
              <a:rPr b="0" lang="ko-KR" sz="2000" spc="-1" strike="noStrike">
                <a:solidFill>
                  <a:srgbClr val="c9d2e0"/>
                </a:solidFill>
                <a:latin typeface="Malgun Gothic"/>
              </a:rPr>
              <a:t>기초 → </a:t>
            </a:r>
            <a:r>
              <a:rPr b="0" lang="en-US" sz="2000" spc="-1" strike="noStrike">
                <a:solidFill>
                  <a:srgbClr val="c9d2e0"/>
                </a:solidFill>
                <a:latin typeface="Malgun Gothic"/>
              </a:rPr>
              <a:t>RAG → Fine-tuning → AI </a:t>
            </a:r>
            <a:r>
              <a:rPr b="0" lang="ko-KR" sz="2000" spc="-1" strike="noStrike">
                <a:solidFill>
                  <a:srgbClr val="c9d2e0"/>
                </a:solidFill>
                <a:latin typeface="Malgun Gothic"/>
              </a:rPr>
              <a:t>에이전트 → </a:t>
            </a:r>
            <a:r>
              <a:rPr b="0" lang="en-US" sz="2000" spc="-1" strike="noStrike">
                <a:solidFill>
                  <a:srgbClr val="c9d2e0"/>
                </a:solidFill>
                <a:latin typeface="Malgun Gothic"/>
              </a:rPr>
              <a:t>MCP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812880" y="4902120"/>
            <a:ext cx="1015560" cy="5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000" bIns="-9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0" name="Text 4"/>
          <p:cNvSpPr/>
          <p:nvPr/>
        </p:nvSpPr>
        <p:spPr>
          <a:xfrm>
            <a:off x="812880" y="5312160"/>
            <a:ext cx="6349680" cy="11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9d2e0"/>
                </a:solidFill>
                <a:latin typeface="Malgun Gothic"/>
              </a:rPr>
              <a:t>2</a:t>
            </a:r>
            <a:r>
              <a:rPr b="0" lang="ko-KR" sz="1200" spc="-1" strike="noStrike">
                <a:solidFill>
                  <a:srgbClr val="c9d2e0"/>
                </a:solidFill>
                <a:latin typeface="Malgun Gothic"/>
              </a:rPr>
              <a:t>조</a:t>
            </a:r>
            <a:r>
              <a:rPr b="0" lang="en-US" sz="1200" spc="-1" strike="noStrike">
                <a:solidFill>
                  <a:srgbClr val="c9d2e0"/>
                </a:solidFill>
                <a:latin typeface="Malgun Gothic"/>
              </a:rPr>
              <a:t>: </a:t>
            </a:r>
            <a:r>
              <a:rPr b="0" lang="ko-KR" sz="1200" spc="-1" strike="noStrike">
                <a:solidFill>
                  <a:srgbClr val="c9d2e0"/>
                </a:solidFill>
                <a:latin typeface="Malgun Gothic"/>
              </a:rPr>
              <a:t>맹지현</a:t>
            </a:r>
            <a:r>
              <a:rPr b="0" lang="en-US" sz="1200" spc="-1" strike="noStrike">
                <a:solidFill>
                  <a:srgbClr val="c9d2e0"/>
                </a:solidFill>
                <a:latin typeface="Malgun Gothic"/>
              </a:rPr>
              <a:t>, </a:t>
            </a:r>
            <a:r>
              <a:rPr b="0" lang="ko-KR" sz="1200" spc="-1" strike="noStrike">
                <a:solidFill>
                  <a:srgbClr val="c9d2e0"/>
                </a:solidFill>
                <a:latin typeface="Malgun Gothic"/>
              </a:rPr>
              <a:t>이승윤</a:t>
            </a:r>
            <a:r>
              <a:rPr b="0" lang="en-US" sz="1200" spc="-1" strike="noStrike">
                <a:solidFill>
                  <a:srgbClr val="c9d2e0"/>
                </a:solidFill>
                <a:latin typeface="Malgun Gothic"/>
              </a:rPr>
              <a:t>, </a:t>
            </a:r>
            <a:r>
              <a:rPr b="0" lang="ko-KR" sz="1200" spc="-1" strike="noStrike">
                <a:solidFill>
                  <a:srgbClr val="c9d2e0"/>
                </a:solidFill>
                <a:latin typeface="Malgun Gothic"/>
              </a:rPr>
              <a:t>왕선규</a:t>
            </a:r>
            <a:r>
              <a:rPr b="0" lang="en-US" sz="1200" spc="-1" strike="noStrike">
                <a:solidFill>
                  <a:srgbClr val="c9d2e0"/>
                </a:solidFill>
                <a:latin typeface="Malgun Gothic"/>
              </a:rPr>
              <a:t>, </a:t>
            </a:r>
            <a:r>
              <a:rPr b="0" lang="ko-KR" sz="1200" spc="-1" strike="noStrike">
                <a:solidFill>
                  <a:srgbClr val="c9d2e0"/>
                </a:solidFill>
                <a:latin typeface="Malgun Gothic"/>
              </a:rPr>
              <a:t>정현우</a:t>
            </a:r>
            <a:r>
              <a:rPr b="0" lang="en-US" sz="1200" spc="-1" strike="noStrike">
                <a:solidFill>
                  <a:srgbClr val="c9d2e0"/>
                </a:solidFill>
                <a:latin typeface="Malgun Gothic"/>
              </a:rPr>
              <a:t>, </a:t>
            </a:r>
            <a:r>
              <a:rPr b="0" lang="ko-KR" sz="1200" spc="-1" strike="noStrike">
                <a:solidFill>
                  <a:srgbClr val="c9d2e0"/>
                </a:solidFill>
                <a:latin typeface="Malgun Gothic"/>
              </a:rPr>
              <a:t>김동준</a:t>
            </a:r>
            <a:endParaRPr b="0" lang="en-US" sz="1200" spc="-1" strike="noStrike">
              <a:solidFill>
                <a:srgbClr val="ffffff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c9d2e0"/>
                </a:solidFill>
                <a:latin typeface="Malgun Gothic"/>
              </a:rPr>
              <a:t>발표자</a:t>
            </a:r>
            <a:r>
              <a:rPr b="0" lang="en-US" sz="1200" spc="-1" strike="noStrike">
                <a:solidFill>
                  <a:srgbClr val="c9d2e0"/>
                </a:solidFill>
                <a:latin typeface="Malgun Gothic"/>
              </a:rPr>
              <a:t>: </a:t>
            </a:r>
            <a:r>
              <a:rPr b="0" lang="ko-KR" sz="1200" spc="-1" strike="noStrike">
                <a:solidFill>
                  <a:srgbClr val="c9d2e0"/>
                </a:solidFill>
                <a:latin typeface="Malgun Gothic"/>
              </a:rPr>
              <a:t>이승윤</a:t>
            </a:r>
            <a:endParaRPr b="0" lang="en-US" sz="1200" spc="-1" strike="noStrike">
              <a:solidFill>
                <a:srgbClr val="ffffff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/>
          </p:nvPr>
        </p:nvSpPr>
        <p:spPr>
          <a:xfrm>
            <a:off x="812880" y="749160"/>
            <a:ext cx="10566000" cy="25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ko-KR" sz="1200" spc="97" strike="noStrike">
                <a:solidFill>
                  <a:schemeClr val="accent2"/>
                </a:solidFill>
                <a:latin typeface="Malgun Gothic"/>
              </a:rPr>
              <a:t>전체 로드맵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title"/>
          </p:nvPr>
        </p:nvSpPr>
        <p:spPr>
          <a:xfrm>
            <a:off x="812880" y="1028880"/>
            <a:ext cx="10566000" cy="5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Malgun Gothic"/>
              </a:rPr>
              <a:t>4</a:t>
            </a: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일 동안의 흐름</a:t>
            </a:r>
            <a:r>
              <a:rPr b="1" lang="en-US" sz="3000" spc="-1" strike="noStrike">
                <a:solidFill>
                  <a:schemeClr val="dk1"/>
                </a:solidFill>
                <a:latin typeface="Malgun Gothic"/>
              </a:rPr>
              <a:t>: </a:t>
            </a: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이해 → 주입 → 수정 → 위임</a:t>
            </a:r>
            <a:endParaRPr b="0" lang="en-US" sz="30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3" name="day-card-1"/>
          <p:cNvSpPr/>
          <p:nvPr/>
        </p:nvSpPr>
        <p:spPr>
          <a:xfrm>
            <a:off x="812880" y="1968480"/>
            <a:ext cx="2260080" cy="2476080"/>
          </a:xfrm>
          <a:prstGeom prst="roundRect">
            <a:avLst>
              <a:gd name="adj" fmla="val 3933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28600" rIns="228600" tIns="228600" bIns="228600" anchor="t">
            <a:noAutofit/>
          </a:bodyPr>
          <a:p>
            <a:pPr defTabSz="914400">
              <a:lnSpc>
                <a:spcPct val="125000"/>
              </a:lnSpc>
              <a:spcAft>
                <a:spcPts val="700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chemeClr val="accent2"/>
                </a:solidFill>
                <a:latin typeface="Malgun Gothic"/>
              </a:rPr>
              <a:t>1</a:t>
            </a:r>
            <a:r>
              <a:rPr b="1" lang="ko-KR" sz="1200" spc="-1" strike="noStrike">
                <a:solidFill>
                  <a:schemeClr val="accent2"/>
                </a:solidFill>
                <a:latin typeface="Malgun Gothic"/>
              </a:rPr>
              <a:t>일차 </a:t>
            </a:r>
            <a:r>
              <a:rPr b="1" lang="en-US" sz="1200" spc="-1" strike="noStrike">
                <a:solidFill>
                  <a:schemeClr val="accent2"/>
                </a:solidFill>
                <a:latin typeface="Malgun Gothic"/>
              </a:rPr>
              <a:t>· 10/12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spcAft>
                <a:spcPts val="700"/>
              </a:spcAft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Malgun Gothic"/>
              </a:rPr>
              <a:t>LLM </a:t>
            </a:r>
            <a:r>
              <a:rPr b="1" lang="ko-KR" sz="1800" spc="-1" strike="noStrike">
                <a:solidFill>
                  <a:schemeClr val="dk1"/>
                </a:solidFill>
                <a:latin typeface="Malgun Gothic"/>
              </a:rPr>
              <a:t>기초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Malgun Gothic"/>
              </a:rPr>
              <a:t>LLM</a:t>
            </a:r>
            <a:r>
              <a:rPr b="0" lang="ko-KR" sz="1400" spc="-1" strike="noStrike">
                <a:solidFill>
                  <a:schemeClr val="dk2"/>
                </a:solidFill>
                <a:latin typeface="Malgun Gothic"/>
              </a:rPr>
              <a:t>은 무엇이고 어떻게 호출하나</a:t>
            </a:r>
            <a:r>
              <a:rPr b="0" lang="en-US" sz="1400" spc="-1" strike="noStrike">
                <a:solidFill>
                  <a:schemeClr val="dk2"/>
                </a:solidFill>
                <a:latin typeface="Malgun Gothic"/>
              </a:rPr>
              <a:t>?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4" name="Text 3"/>
          <p:cNvSpPr/>
          <p:nvPr/>
        </p:nvSpPr>
        <p:spPr>
          <a:xfrm>
            <a:off x="1041480" y="3873600"/>
            <a:ext cx="1802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토큰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· temperature · stateless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5" name="Shape 4"/>
          <p:cNvSpPr/>
          <p:nvPr/>
        </p:nvSpPr>
        <p:spPr>
          <a:xfrm>
            <a:off x="3174840" y="3117960"/>
            <a:ext cx="304560" cy="17748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920" bIns="43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6" name="day-card-2"/>
          <p:cNvSpPr/>
          <p:nvPr/>
        </p:nvSpPr>
        <p:spPr>
          <a:xfrm>
            <a:off x="3581280" y="1968480"/>
            <a:ext cx="2260080" cy="2476080"/>
          </a:xfrm>
          <a:prstGeom prst="roundRect">
            <a:avLst>
              <a:gd name="adj" fmla="val 3933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28600" rIns="228600" tIns="228600" bIns="228600" anchor="t">
            <a:noAutofit/>
          </a:bodyPr>
          <a:p>
            <a:pPr defTabSz="914400">
              <a:lnSpc>
                <a:spcPct val="125000"/>
              </a:lnSpc>
              <a:spcAft>
                <a:spcPts val="700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chemeClr val="accent2"/>
                </a:solidFill>
                <a:latin typeface="Malgun Gothic"/>
              </a:rPr>
              <a:t>2</a:t>
            </a:r>
            <a:r>
              <a:rPr b="1" lang="ko-KR" sz="1200" spc="-1" strike="noStrike">
                <a:solidFill>
                  <a:schemeClr val="accent2"/>
                </a:solidFill>
                <a:latin typeface="Malgun Gothic"/>
              </a:rPr>
              <a:t>일차 </a:t>
            </a:r>
            <a:r>
              <a:rPr b="1" lang="en-US" sz="1200" spc="-1" strike="noStrike">
                <a:solidFill>
                  <a:schemeClr val="accent2"/>
                </a:solidFill>
                <a:latin typeface="Malgun Gothic"/>
              </a:rPr>
              <a:t>· 10/13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spcAft>
                <a:spcPts val="700"/>
              </a:spcAft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Malgun Gothic"/>
              </a:rPr>
              <a:t>RAG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Malgun Gothic"/>
              </a:rPr>
              <a:t>LLM</a:t>
            </a:r>
            <a:r>
              <a:rPr b="0" lang="ko-KR" sz="1400" spc="-1" strike="noStrike">
                <a:solidFill>
                  <a:schemeClr val="dk2"/>
                </a:solidFill>
                <a:latin typeface="Malgun Gothic"/>
              </a:rPr>
              <a:t>이 모르는 지식을 어떻게 주나</a:t>
            </a:r>
            <a:r>
              <a:rPr b="0" lang="en-US" sz="1400" spc="-1" strike="noStrike">
                <a:solidFill>
                  <a:schemeClr val="dk2"/>
                </a:solidFill>
                <a:latin typeface="Malgun Gothic"/>
              </a:rPr>
              <a:t>?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7" name="Text 6"/>
          <p:cNvSpPr/>
          <p:nvPr/>
        </p:nvSpPr>
        <p:spPr>
          <a:xfrm>
            <a:off x="3809880" y="3873600"/>
            <a:ext cx="1802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청킹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·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임베딩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·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벡터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DB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5943600" y="3117960"/>
            <a:ext cx="304560" cy="17748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920" bIns="43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9" name="day-card-3"/>
          <p:cNvSpPr/>
          <p:nvPr/>
        </p:nvSpPr>
        <p:spPr>
          <a:xfrm>
            <a:off x="6350040" y="1968480"/>
            <a:ext cx="2260080" cy="2476080"/>
          </a:xfrm>
          <a:prstGeom prst="roundRect">
            <a:avLst>
              <a:gd name="adj" fmla="val 3933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28600" rIns="228600" tIns="228600" bIns="228600" anchor="t">
            <a:noAutofit/>
          </a:bodyPr>
          <a:p>
            <a:pPr defTabSz="914400">
              <a:lnSpc>
                <a:spcPct val="125000"/>
              </a:lnSpc>
              <a:spcAft>
                <a:spcPts val="700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chemeClr val="accent2"/>
                </a:solidFill>
                <a:latin typeface="Malgun Gothic"/>
              </a:rPr>
              <a:t>3</a:t>
            </a:r>
            <a:r>
              <a:rPr b="1" lang="ko-KR" sz="1200" spc="-1" strike="noStrike">
                <a:solidFill>
                  <a:schemeClr val="accent2"/>
                </a:solidFill>
                <a:latin typeface="Malgun Gothic"/>
              </a:rPr>
              <a:t>일차 </a:t>
            </a:r>
            <a:r>
              <a:rPr b="1" lang="en-US" sz="1200" spc="-1" strike="noStrike">
                <a:solidFill>
                  <a:schemeClr val="accent2"/>
                </a:solidFill>
                <a:latin typeface="Malgun Gothic"/>
              </a:rPr>
              <a:t>· 10/14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spcAft>
                <a:spcPts val="700"/>
              </a:spcAft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Malgun Gothic"/>
              </a:rPr>
              <a:t>Fine-tuning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chemeClr val="dk2"/>
                </a:solidFill>
                <a:latin typeface="Malgun Gothic"/>
              </a:rPr>
              <a:t>모델 자체를 어떻게 내 용도에 맞추나</a:t>
            </a:r>
            <a:r>
              <a:rPr b="0" lang="en-US" sz="1400" spc="-1" strike="noStrike">
                <a:solidFill>
                  <a:schemeClr val="dk2"/>
                </a:solidFill>
                <a:latin typeface="Malgun Gothic"/>
              </a:rPr>
              <a:t>?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0" name="Text 9"/>
          <p:cNvSpPr/>
          <p:nvPr/>
        </p:nvSpPr>
        <p:spPr>
          <a:xfrm>
            <a:off x="6578640" y="3873600"/>
            <a:ext cx="1802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LoRA · QLoRA ·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하이퍼파라미터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8712360" y="3117960"/>
            <a:ext cx="304560" cy="17748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920" bIns="43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32" name="day-card-4"/>
          <p:cNvSpPr/>
          <p:nvPr/>
        </p:nvSpPr>
        <p:spPr>
          <a:xfrm>
            <a:off x="9118440" y="1968480"/>
            <a:ext cx="2260080" cy="2476080"/>
          </a:xfrm>
          <a:prstGeom prst="roundRect">
            <a:avLst>
              <a:gd name="adj" fmla="val 3933"/>
            </a:avLst>
          </a:prstGeom>
          <a:solidFill>
            <a:schemeClr val="accent3"/>
          </a:solidFill>
          <a:ln w="25400">
            <a:solidFill>
              <a:srgbClr val="d977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28600" rIns="228600" tIns="228600" bIns="228600" anchor="t">
            <a:noAutofit/>
          </a:bodyPr>
          <a:p>
            <a:pPr defTabSz="914400">
              <a:lnSpc>
                <a:spcPct val="125000"/>
              </a:lnSpc>
              <a:spcAft>
                <a:spcPts val="700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chemeClr val="accent2"/>
                </a:solidFill>
                <a:latin typeface="Malgun Gothic"/>
              </a:rPr>
              <a:t>4</a:t>
            </a:r>
            <a:r>
              <a:rPr b="1" lang="ko-KR" sz="1200" spc="-1" strike="noStrike">
                <a:solidFill>
                  <a:schemeClr val="accent2"/>
                </a:solidFill>
                <a:latin typeface="Malgun Gothic"/>
              </a:rPr>
              <a:t>일차 </a:t>
            </a:r>
            <a:r>
              <a:rPr b="1" lang="en-US" sz="1200" spc="-1" strike="noStrike">
                <a:solidFill>
                  <a:schemeClr val="accent2"/>
                </a:solidFill>
                <a:latin typeface="Malgun Gothic"/>
              </a:rPr>
              <a:t>· 10/15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spcAft>
                <a:spcPts val="700"/>
              </a:spcAft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Malgun Gothic"/>
              </a:rPr>
              <a:t>AI </a:t>
            </a:r>
            <a:r>
              <a:rPr b="1" lang="ko-KR" sz="1800" spc="-1" strike="noStrike">
                <a:solidFill>
                  <a:schemeClr val="dk1"/>
                </a:solidFill>
                <a:latin typeface="Malgun Gothic"/>
              </a:rPr>
              <a:t>에이전트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Malgun Gothic"/>
              </a:rPr>
              <a:t>LLM</a:t>
            </a:r>
            <a:r>
              <a:rPr b="0" lang="ko-KR" sz="1400" spc="-1" strike="noStrike">
                <a:solidFill>
                  <a:schemeClr val="dk2"/>
                </a:solidFill>
                <a:latin typeface="Malgun Gothic"/>
              </a:rPr>
              <a:t>에게 어디까지 맡기고 어떻게 통제하나</a:t>
            </a:r>
            <a:r>
              <a:rPr b="0" lang="en-US" sz="1400" spc="-1" strike="noStrike">
                <a:solidFill>
                  <a:schemeClr val="dk2"/>
                </a:solidFill>
                <a:latin typeface="Malgun Gothic"/>
              </a:rPr>
              <a:t>?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9347040" y="3873600"/>
            <a:ext cx="1802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패턴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·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도구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·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트레이스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4" name="Text 13"/>
          <p:cNvSpPr/>
          <p:nvPr/>
        </p:nvSpPr>
        <p:spPr>
          <a:xfrm>
            <a:off x="812880" y="4826160"/>
            <a:ext cx="105660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ko-KR" sz="1600" spc="-1" strike="noStrike">
                <a:solidFill>
                  <a:schemeClr val="dk1"/>
                </a:solidFill>
                <a:latin typeface="Malgun Gothic"/>
              </a:rPr>
              <a:t>각 일차는 </a:t>
            </a:r>
            <a:r>
              <a:rPr b="1" lang="ko-KR" sz="1600" spc="-1" strike="noStrike">
                <a:solidFill>
                  <a:schemeClr val="dk1"/>
                </a:solidFill>
                <a:latin typeface="Malgun Gothic"/>
              </a:rPr>
              <a:t>앞 일차에서 드러난 </a:t>
            </a:r>
            <a:r>
              <a:rPr b="1" lang="en-US" sz="1600" spc="-1" strike="noStrike">
                <a:solidFill>
                  <a:schemeClr val="dk1"/>
                </a:solidFill>
                <a:latin typeface="Malgun Gothic"/>
              </a:rPr>
              <a:t>LLM</a:t>
            </a:r>
            <a:r>
              <a:rPr b="1" lang="ko-KR" sz="1600" spc="-1" strike="noStrike">
                <a:solidFill>
                  <a:schemeClr val="dk1"/>
                </a:solidFill>
                <a:latin typeface="Malgun Gothic"/>
              </a:rPr>
              <a:t>의 한계</a:t>
            </a:r>
            <a:r>
              <a:rPr b="0" lang="ko-KR" sz="1600" spc="-1" strike="noStrike">
                <a:solidFill>
                  <a:schemeClr val="dk1"/>
                </a:solidFill>
                <a:latin typeface="Malgun Gothic"/>
              </a:rPr>
              <a:t>를 해결하는 방향으로 이어집니다</a:t>
            </a:r>
            <a:r>
              <a:rPr b="0" lang="en-US" sz="1600" spc="-1" strike="noStrike">
                <a:solidFill>
                  <a:schemeClr val="dk1"/>
                </a:solidFill>
                <a:latin typeface="Malgun Gothic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sldNum" idx="6"/>
          </p:nvPr>
        </p:nvSpPr>
        <p:spPr>
          <a:xfrm>
            <a:off x="10744200" y="6222960"/>
            <a:ext cx="6346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rgbClr val="7a7f8a"/>
                </a:solidFill>
                <a:latin typeface="Malgun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0583EB-64BB-4387-923E-5CC85D441C3B}" type="slidenum">
              <a:rPr b="0" lang="en-US" sz="1200" spc="-1" strike="noStrike">
                <a:solidFill>
                  <a:srgbClr val="7a7f8a"/>
                </a:solidFill>
                <a:latin typeface="Malgun Gothic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28" descr="딥러닝에서 가중치(W), 편향(Bias)의 역할"/>
          <p:cNvPicPr/>
          <p:nvPr/>
        </p:nvPicPr>
        <p:blipFill>
          <a:blip r:embed="rId1"/>
          <a:stretch/>
        </p:blipFill>
        <p:spPr>
          <a:xfrm>
            <a:off x="812880" y="4124160"/>
            <a:ext cx="3371400" cy="2037960"/>
          </a:xfrm>
          <a:prstGeom prst="rect">
            <a:avLst/>
          </a:prstGeom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/>
          </p:nvPr>
        </p:nvSpPr>
        <p:spPr>
          <a:xfrm>
            <a:off x="812880" y="749160"/>
            <a:ext cx="10566000" cy="25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1</a:t>
            </a:r>
            <a:r>
              <a:rPr b="1" lang="ko-KR" sz="1200" spc="97" strike="noStrike">
                <a:solidFill>
                  <a:schemeClr val="accent2"/>
                </a:solidFill>
                <a:latin typeface="Malgun Gothic"/>
              </a:rPr>
              <a:t>일차 </a:t>
            </a: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· LLM </a:t>
            </a:r>
            <a:r>
              <a:rPr b="1" lang="ko-KR" sz="1200" spc="97" strike="noStrike">
                <a:solidFill>
                  <a:schemeClr val="accent2"/>
                </a:solidFill>
                <a:latin typeface="Malgun Gothic"/>
              </a:rPr>
              <a:t>기초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title"/>
          </p:nvPr>
        </p:nvSpPr>
        <p:spPr>
          <a:xfrm>
            <a:off x="812880" y="1028880"/>
            <a:ext cx="10566000" cy="5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Malgun Gothic"/>
              </a:rPr>
              <a:t>LLM</a:t>
            </a: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은 다음 토큰을 예측하는 딥러닝 모델</a:t>
            </a:r>
            <a:endParaRPr b="0" lang="en-US" sz="30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812880" y="1841400"/>
            <a:ext cx="5333760" cy="2234880"/>
          </a:xfrm>
          <a:prstGeom prst="roundRect">
            <a:avLst>
              <a:gd name="adj" fmla="val 5682"/>
            </a:avLst>
          </a:prstGeom>
          <a:solidFill>
            <a:schemeClr val="accent6"/>
          </a:solidFill>
          <a:ln w="1905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40" name="Text 3"/>
          <p:cNvSpPr/>
          <p:nvPr/>
        </p:nvSpPr>
        <p:spPr>
          <a:xfrm>
            <a:off x="990720" y="1943280"/>
            <a:ext cx="50162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인공지능</a:t>
            </a:r>
            <a:r>
              <a:rPr b="1" lang="en-US" sz="1300" spc="-1" strike="noStrike">
                <a:solidFill>
                  <a:schemeClr val="dk1"/>
                </a:solidFill>
                <a:latin typeface="Malgun Gothic"/>
              </a:rPr>
              <a:t>(AI) 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· </a:t>
            </a:r>
            <a:r>
              <a:rPr b="0" lang="ko-KR" sz="1300" spc="-1" strike="noStrike">
                <a:solidFill>
                  <a:schemeClr val="dk2"/>
                </a:solidFill>
                <a:latin typeface="Malgun Gothic"/>
              </a:rPr>
              <a:t>판단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·</a:t>
            </a:r>
            <a:r>
              <a:rPr b="0" lang="ko-KR" sz="1300" spc="-1" strike="noStrike">
                <a:solidFill>
                  <a:schemeClr val="dk2"/>
                </a:solidFill>
                <a:latin typeface="Malgun Gothic"/>
              </a:rPr>
              <a:t>학습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·</a:t>
            </a:r>
            <a:r>
              <a:rPr b="0" lang="ko-KR" sz="1300" spc="-1" strike="noStrike">
                <a:solidFill>
                  <a:schemeClr val="dk2"/>
                </a:solidFill>
                <a:latin typeface="Malgun Gothic"/>
              </a:rPr>
              <a:t>추론 기술 전체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1" name="Shape 4"/>
          <p:cNvSpPr/>
          <p:nvPr/>
        </p:nvSpPr>
        <p:spPr>
          <a:xfrm>
            <a:off x="990720" y="2286000"/>
            <a:ext cx="4978080" cy="1663200"/>
          </a:xfrm>
          <a:prstGeom prst="roundRect">
            <a:avLst>
              <a:gd name="adj" fmla="val 6107"/>
            </a:avLst>
          </a:prstGeom>
          <a:solidFill>
            <a:srgbClr val="f0ece3"/>
          </a:solidFill>
          <a:ln w="1905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42" name="Text 5"/>
          <p:cNvSpPr/>
          <p:nvPr/>
        </p:nvSpPr>
        <p:spPr>
          <a:xfrm>
            <a:off x="1143000" y="2374920"/>
            <a:ext cx="46987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머신러닝 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· </a:t>
            </a:r>
            <a:r>
              <a:rPr b="0" lang="ko-KR" sz="1300" spc="-1" strike="noStrike">
                <a:solidFill>
                  <a:schemeClr val="dk2"/>
                </a:solidFill>
                <a:latin typeface="Malgun Gothic"/>
              </a:rPr>
              <a:t>데이터에서 규칙을 스스로 찾음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3" name="Shape 6"/>
          <p:cNvSpPr/>
          <p:nvPr/>
        </p:nvSpPr>
        <p:spPr>
          <a:xfrm>
            <a:off x="1143000" y="2717640"/>
            <a:ext cx="4673160" cy="1104480"/>
          </a:xfrm>
          <a:prstGeom prst="roundRect">
            <a:avLst>
              <a:gd name="adj" fmla="val 8046"/>
            </a:avLst>
          </a:prstGeom>
          <a:solidFill>
            <a:srgbClr val="e6e0d4"/>
          </a:solidFill>
          <a:ln w="19050">
            <a:solidFill>
              <a:srgbClr val="b9b2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44" name="Text 7"/>
          <p:cNvSpPr/>
          <p:nvPr/>
        </p:nvSpPr>
        <p:spPr>
          <a:xfrm>
            <a:off x="1295280" y="2806560"/>
            <a:ext cx="43812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딥러닝 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· </a:t>
            </a:r>
            <a:r>
              <a:rPr b="0" lang="ko-KR" sz="1300" spc="-1" strike="noStrike">
                <a:solidFill>
                  <a:schemeClr val="dk2"/>
                </a:solidFill>
                <a:latin typeface="Malgun Gothic"/>
              </a:rPr>
              <a:t>다층 인공 신경망</a:t>
            </a:r>
            <a:r>
              <a:rPr b="0" lang="ko-KR" sz="1300" spc="-1" strike="noStrike">
                <a:solidFill>
                  <a:schemeClr val="dk2"/>
                </a:solidFill>
                <a:latin typeface="Malgun Gothic"/>
              </a:rPr>
              <a:t>을 사용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5" name="Text 8"/>
          <p:cNvSpPr/>
          <p:nvPr/>
        </p:nvSpPr>
        <p:spPr>
          <a:xfrm>
            <a:off x="1295280" y="3149640"/>
            <a:ext cx="4368600" cy="53316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25400">
            <a:solidFill>
              <a:srgbClr val="d977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39680" rIns="139680" tIns="63360" bIns="6336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1"/>
                </a:solidFill>
                <a:latin typeface="Malgun Gothic"/>
              </a:rPr>
              <a:t>LLM 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· </a:t>
            </a:r>
            <a:r>
              <a:rPr b="0" lang="ko-KR" sz="1300" spc="-1" strike="noStrike">
                <a:solidFill>
                  <a:schemeClr val="dk2"/>
                </a:solidFill>
                <a:latin typeface="Malgun Gothic"/>
              </a:rPr>
              <a:t>대량의 글을 학습한 거대 모델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6" name="Text 9"/>
          <p:cNvSpPr/>
          <p:nvPr/>
        </p:nvSpPr>
        <p:spPr>
          <a:xfrm>
            <a:off x="4955040" y="4165560"/>
            <a:ext cx="727560" cy="3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학습 원리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 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7" name="Shape 10"/>
          <p:cNvSpPr/>
          <p:nvPr/>
        </p:nvSpPr>
        <p:spPr>
          <a:xfrm>
            <a:off x="6451560" y="1841400"/>
            <a:ext cx="4927320" cy="3301560"/>
          </a:xfrm>
          <a:prstGeom prst="roundRect">
            <a:avLst>
              <a:gd name="adj" fmla="val 3846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6705720" y="2044800"/>
            <a:ext cx="444456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ko-KR" sz="1800" spc="-1" strike="noStrike">
                <a:solidFill>
                  <a:schemeClr val="dk1"/>
                </a:solidFill>
                <a:latin typeface="Malgun Gothic"/>
              </a:rPr>
              <a:t>다음 토큰 예측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6705720" y="2438280"/>
            <a:ext cx="44445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chemeClr val="dk2"/>
                </a:solidFill>
                <a:latin typeface="Malgun Gothic"/>
              </a:rPr>
              <a:t>입력 “하늘은 왜” 다음에 올 토큰 후보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6705720" y="2832120"/>
            <a:ext cx="6091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ko-KR" sz="1400" spc="-1" strike="noStrike">
                <a:solidFill>
                  <a:schemeClr val="dk1"/>
                </a:solidFill>
                <a:latin typeface="Malgun Gothic"/>
              </a:rPr>
              <a:t>파란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1" name="Shape 14"/>
          <p:cNvSpPr/>
          <p:nvPr/>
        </p:nvSpPr>
        <p:spPr>
          <a:xfrm>
            <a:off x="7442280" y="2857680"/>
            <a:ext cx="2361960" cy="202680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52" name="Text 15"/>
          <p:cNvSpPr/>
          <p:nvPr/>
        </p:nvSpPr>
        <p:spPr>
          <a:xfrm>
            <a:off x="9931320" y="2832120"/>
            <a:ext cx="7617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Malgun Gothic"/>
              </a:rPr>
              <a:t>62%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3" name="Text 16"/>
          <p:cNvSpPr/>
          <p:nvPr/>
        </p:nvSpPr>
        <p:spPr>
          <a:xfrm>
            <a:off x="6705720" y="3174840"/>
            <a:ext cx="6091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chemeClr val="dk1"/>
                </a:solidFill>
                <a:latin typeface="Malgun Gothic"/>
              </a:rPr>
              <a:t>높은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4" name="Shape 17"/>
          <p:cNvSpPr/>
          <p:nvPr/>
        </p:nvSpPr>
        <p:spPr>
          <a:xfrm>
            <a:off x="7442280" y="3200400"/>
            <a:ext cx="571320" cy="202680"/>
          </a:xfrm>
          <a:prstGeom prst="roundRect">
            <a:avLst>
              <a:gd name="adj" fmla="val 18750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55" name="Text 18"/>
          <p:cNvSpPr/>
          <p:nvPr/>
        </p:nvSpPr>
        <p:spPr>
          <a:xfrm>
            <a:off x="8140680" y="3174840"/>
            <a:ext cx="7617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Malgun Gothic"/>
              </a:rPr>
              <a:t>15%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6" name="Text 19"/>
          <p:cNvSpPr/>
          <p:nvPr/>
        </p:nvSpPr>
        <p:spPr>
          <a:xfrm>
            <a:off x="6705720" y="3517920"/>
            <a:ext cx="6091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chemeClr val="dk1"/>
                </a:solidFill>
                <a:latin typeface="Malgun Gothic"/>
              </a:rPr>
              <a:t>흐린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7" name="Shape 20"/>
          <p:cNvSpPr/>
          <p:nvPr/>
        </p:nvSpPr>
        <p:spPr>
          <a:xfrm>
            <a:off x="7442280" y="3543480"/>
            <a:ext cx="304560" cy="202680"/>
          </a:xfrm>
          <a:prstGeom prst="roundRect">
            <a:avLst>
              <a:gd name="adj" fmla="val 18750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58" name="Text 21"/>
          <p:cNvSpPr/>
          <p:nvPr/>
        </p:nvSpPr>
        <p:spPr>
          <a:xfrm>
            <a:off x="7873920" y="3517920"/>
            <a:ext cx="7617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2"/>
                </a:solidFill>
                <a:latin typeface="Malgun Gothic"/>
              </a:rPr>
              <a:t>8%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9" name="Text 22"/>
          <p:cNvSpPr/>
          <p:nvPr/>
        </p:nvSpPr>
        <p:spPr>
          <a:xfrm>
            <a:off x="6705720" y="3898800"/>
            <a:ext cx="44445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ko-KR" sz="1300" spc="-1" strike="noStrike">
                <a:solidFill>
                  <a:schemeClr val="dk2"/>
                </a:solidFill>
                <a:latin typeface="Malgun Gothic"/>
              </a:rPr>
              <a:t>토큰을 하나씩 골라 이어 붙여 문장을 완성합니다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.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0" name="Text 23"/>
          <p:cNvSpPr/>
          <p:nvPr/>
        </p:nvSpPr>
        <p:spPr>
          <a:xfrm>
            <a:off x="6705720" y="4317840"/>
            <a:ext cx="2158560" cy="6091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114480" tIns="76320" bIns="7632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Malgun Gothic"/>
              </a:rPr>
              <a:t>temperature 0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항상 </a:t>
            </a: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1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위 선택 → 일관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1" name="Text 24"/>
          <p:cNvSpPr/>
          <p:nvPr/>
        </p:nvSpPr>
        <p:spPr>
          <a:xfrm>
            <a:off x="8966160" y="4317840"/>
            <a:ext cx="2158560" cy="6091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114480" tIns="76320" bIns="7632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Malgun Gothic"/>
              </a:rPr>
              <a:t>temperature 1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확률대로 선택 → 창의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7"/>
          </p:nvPr>
        </p:nvSpPr>
        <p:spPr>
          <a:xfrm>
            <a:off x="10744200" y="6222960"/>
            <a:ext cx="6346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rgbClr val="7a7f8a"/>
                </a:solidFill>
                <a:latin typeface="Malgun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13C3D2-8E54-4843-8025-83BA37AE9CBA}" type="slidenum">
              <a:rPr b="0" lang="en-US" sz="1200" spc="-1" strike="noStrike">
                <a:solidFill>
                  <a:srgbClr val="7a7f8a"/>
                </a:solidFill>
                <a:latin typeface="Malgun Gothic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63" name="Text 9"/>
          <p:cNvSpPr/>
          <p:nvPr/>
        </p:nvSpPr>
        <p:spPr>
          <a:xfrm>
            <a:off x="4391640" y="5017680"/>
            <a:ext cx="1854360" cy="336960"/>
          </a:xfrm>
          <a:prstGeom prst="rect">
            <a:avLst/>
          </a:prstGeom>
          <a:noFill/>
          <a:ln w="0">
            <a:solidFill>
              <a:srgbClr val="d9772b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40000"/>
              </a:lnSpc>
              <a:tabLst>
                <a:tab algn="l" pos="0"/>
              </a:tabLst>
            </a:pPr>
            <a:r>
              <a:rPr b="0" lang="ko-KR" sz="1300" spc="-1" strike="noStrike">
                <a:solidFill>
                  <a:schemeClr val="dk1"/>
                </a:solidFill>
                <a:latin typeface="Malgun Gothic"/>
              </a:rPr>
              <a:t>손실 계산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4" name="Text 9"/>
          <p:cNvSpPr/>
          <p:nvPr/>
        </p:nvSpPr>
        <p:spPr>
          <a:xfrm>
            <a:off x="4391640" y="5542920"/>
            <a:ext cx="1854360" cy="336960"/>
          </a:xfrm>
          <a:prstGeom prst="rect">
            <a:avLst/>
          </a:prstGeom>
          <a:noFill/>
          <a:ln w="0">
            <a:solidFill>
              <a:srgbClr val="d9772b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40000"/>
              </a:lnSpc>
              <a:tabLst>
                <a:tab algn="l" pos="0"/>
              </a:tabLst>
            </a:pPr>
            <a:r>
              <a:rPr b="0" lang="ko-KR" sz="1300" spc="-1" strike="noStrike">
                <a:solidFill>
                  <a:schemeClr val="dk1"/>
                </a:solidFill>
                <a:latin typeface="Malgun Gothic"/>
              </a:rPr>
              <a:t>역전파</a:t>
            </a:r>
            <a:r>
              <a:rPr b="0" lang="en-US" sz="1300" spc="-1" strike="noStrike">
                <a:solidFill>
                  <a:schemeClr val="dk1"/>
                </a:solidFill>
                <a:latin typeface="Malgun Gothic"/>
              </a:rPr>
              <a:t>(</a:t>
            </a:r>
            <a:r>
              <a:rPr b="0" lang="ko-KR" sz="1300" spc="-1" strike="noStrike">
                <a:solidFill>
                  <a:schemeClr val="dk1"/>
                </a:solidFill>
                <a:latin typeface="Malgun Gothic"/>
              </a:rPr>
              <a:t>틀린 원인 추적</a:t>
            </a:r>
            <a:r>
              <a:rPr b="0" lang="en-US" sz="1300" spc="-1" strike="noStrike">
                <a:solidFill>
                  <a:schemeClr val="dk1"/>
                </a:solidFill>
                <a:latin typeface="Malgun Gothic"/>
              </a:rPr>
              <a:t>)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5" name="Text 9"/>
          <p:cNvSpPr/>
          <p:nvPr/>
        </p:nvSpPr>
        <p:spPr>
          <a:xfrm>
            <a:off x="4391640" y="6062760"/>
            <a:ext cx="1854360" cy="336960"/>
          </a:xfrm>
          <a:prstGeom prst="rect">
            <a:avLst/>
          </a:prstGeom>
          <a:noFill/>
          <a:ln w="0">
            <a:solidFill>
              <a:srgbClr val="d9772b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40000"/>
              </a:lnSpc>
              <a:tabLst>
                <a:tab algn="l" pos="0"/>
              </a:tabLst>
            </a:pPr>
            <a:r>
              <a:rPr b="0" lang="ko-KR" sz="1300" spc="-1" strike="noStrike">
                <a:solidFill>
                  <a:schemeClr val="dk1"/>
                </a:solidFill>
                <a:latin typeface="Malgun Gothic"/>
              </a:rPr>
              <a:t>경사하강법</a:t>
            </a:r>
            <a:r>
              <a:rPr b="0" lang="en-US" sz="1300" spc="-1" strike="noStrike">
                <a:solidFill>
                  <a:schemeClr val="dk1"/>
                </a:solidFill>
                <a:latin typeface="Malgun Gothic"/>
              </a:rPr>
              <a:t>(</a:t>
            </a:r>
            <a:r>
              <a:rPr b="0" lang="ko-KR" sz="1300" spc="-1" strike="noStrike">
                <a:solidFill>
                  <a:schemeClr val="dk1"/>
                </a:solidFill>
                <a:latin typeface="Malgun Gothic"/>
              </a:rPr>
              <a:t>가중치 수정</a:t>
            </a:r>
            <a:r>
              <a:rPr b="0" lang="en-US" sz="1300" spc="-1" strike="noStrike">
                <a:solidFill>
                  <a:schemeClr val="dk1"/>
                </a:solidFill>
                <a:latin typeface="Malgun Gothic"/>
              </a:rPr>
              <a:t>)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cxnSp>
        <p:nvCxnSpPr>
          <p:cNvPr id="66" name="직선 화살표 연결선 37"/>
          <p:cNvCxnSpPr>
            <a:stCxn id="63" idx="2"/>
            <a:endCxn id="64" idx="0"/>
          </p:cNvCxnSpPr>
          <p:nvPr/>
        </p:nvCxnSpPr>
        <p:spPr>
          <a:xfrm>
            <a:off x="5318640" y="5354640"/>
            <a:ext cx="360" cy="188640"/>
          </a:xfrm>
          <a:prstGeom prst="straightConnector1">
            <a:avLst/>
          </a:prstGeom>
          <a:ln>
            <a:solidFill>
              <a:srgbClr val="d9772b"/>
            </a:solidFill>
            <a:tailEnd len="med" type="triangle" w="med"/>
          </a:ln>
        </p:spPr>
      </p:cxnSp>
      <p:cxnSp>
        <p:nvCxnSpPr>
          <p:cNvPr id="67" name="직선 화살표 연결선 41"/>
          <p:cNvCxnSpPr>
            <a:stCxn id="64" idx="2"/>
            <a:endCxn id="65" idx="0"/>
          </p:cNvCxnSpPr>
          <p:nvPr/>
        </p:nvCxnSpPr>
        <p:spPr>
          <a:xfrm>
            <a:off x="5318640" y="5879880"/>
            <a:ext cx="360" cy="183240"/>
          </a:xfrm>
          <a:prstGeom prst="straightConnector1">
            <a:avLst/>
          </a:prstGeom>
          <a:ln>
            <a:solidFill>
              <a:srgbClr val="d9772b"/>
            </a:solidFill>
            <a:tailEnd len="med" type="triangle" w="med"/>
          </a:ln>
        </p:spPr>
      </p:cxnSp>
      <p:sp>
        <p:nvSpPr>
          <p:cNvPr id="68" name="Text 9"/>
          <p:cNvSpPr/>
          <p:nvPr/>
        </p:nvSpPr>
        <p:spPr>
          <a:xfrm>
            <a:off x="4391640" y="4497120"/>
            <a:ext cx="1854360" cy="336960"/>
          </a:xfrm>
          <a:prstGeom prst="rect">
            <a:avLst/>
          </a:prstGeom>
          <a:noFill/>
          <a:ln w="0">
            <a:solidFill>
              <a:srgbClr val="d9772b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40000"/>
              </a:lnSpc>
              <a:tabLst>
                <a:tab algn="l" pos="0"/>
              </a:tabLst>
            </a:pPr>
            <a:r>
              <a:rPr b="0" lang="ko-KR" sz="1300" spc="-1" strike="noStrike">
                <a:solidFill>
                  <a:schemeClr val="dk1"/>
                </a:solidFill>
                <a:latin typeface="Malgun Gothic"/>
              </a:rPr>
              <a:t>순전파</a:t>
            </a:r>
            <a:r>
              <a:rPr b="0" lang="en-US" sz="1300" spc="-1" strike="noStrike">
                <a:solidFill>
                  <a:schemeClr val="dk1"/>
                </a:solidFill>
                <a:latin typeface="Malgun Gothic"/>
              </a:rPr>
              <a:t>(</a:t>
            </a:r>
            <a:r>
              <a:rPr b="0" lang="ko-KR" sz="1300" spc="-1" strike="noStrike">
                <a:solidFill>
                  <a:schemeClr val="dk1"/>
                </a:solidFill>
                <a:latin typeface="Malgun Gothic"/>
              </a:rPr>
              <a:t>예측</a:t>
            </a:r>
            <a:r>
              <a:rPr b="0" lang="en-US" sz="1300" spc="-1" strike="noStrike">
                <a:solidFill>
                  <a:schemeClr val="dk1"/>
                </a:solidFill>
                <a:latin typeface="Malgun Gothic"/>
              </a:rPr>
              <a:t>)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cxnSp>
        <p:nvCxnSpPr>
          <p:cNvPr id="69" name="직선 화살표 연결선 48"/>
          <p:cNvCxnSpPr>
            <a:stCxn id="68" idx="2"/>
            <a:endCxn id="63" idx="0"/>
          </p:cNvCxnSpPr>
          <p:nvPr/>
        </p:nvCxnSpPr>
        <p:spPr>
          <a:xfrm>
            <a:off x="5318640" y="4834080"/>
            <a:ext cx="360" cy="183960"/>
          </a:xfrm>
          <a:prstGeom prst="straightConnector1">
            <a:avLst/>
          </a:prstGeom>
          <a:ln>
            <a:solidFill>
              <a:srgbClr val="d9772b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/>
          </p:nvPr>
        </p:nvSpPr>
        <p:spPr>
          <a:xfrm>
            <a:off x="812880" y="749160"/>
            <a:ext cx="10566000" cy="25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1</a:t>
            </a:r>
            <a:r>
              <a:rPr b="1" lang="ko-KR" sz="1200" spc="97" strike="noStrike">
                <a:solidFill>
                  <a:schemeClr val="accent2"/>
                </a:solidFill>
                <a:latin typeface="Malgun Gothic"/>
              </a:rPr>
              <a:t>일차 </a:t>
            </a: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· </a:t>
            </a:r>
            <a:r>
              <a:rPr b="1" lang="ko-KR" sz="1200" spc="97" strike="noStrike">
                <a:solidFill>
                  <a:schemeClr val="accent2"/>
                </a:solidFill>
                <a:latin typeface="Malgun Gothic"/>
              </a:rPr>
              <a:t>호출 구조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title"/>
          </p:nvPr>
        </p:nvSpPr>
        <p:spPr>
          <a:xfrm>
            <a:off x="812880" y="1028880"/>
            <a:ext cx="10566000" cy="5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Malgun Gothic"/>
              </a:rPr>
              <a:t>LLM </a:t>
            </a: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호</a:t>
            </a: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출은 </a:t>
            </a:r>
            <a:r>
              <a:rPr b="1" lang="en-US" sz="3000" spc="-1" strike="noStrike">
                <a:solidFill>
                  <a:schemeClr val="dk1"/>
                </a:solidFill>
                <a:latin typeface="Malgun Gothic"/>
              </a:rPr>
              <a:t>4</a:t>
            </a: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단계로 흐르고 매번 백지에서 시작</a:t>
            </a:r>
            <a:endParaRPr b="0" lang="en-US" sz="30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72" name="step-1"/>
          <p:cNvSpPr/>
          <p:nvPr/>
        </p:nvSpPr>
        <p:spPr>
          <a:xfrm>
            <a:off x="812880" y="1841400"/>
            <a:ext cx="2279160" cy="1904760"/>
          </a:xfrm>
          <a:prstGeom prst="roundRect">
            <a:avLst>
              <a:gd name="adj" fmla="val 4667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90440" rIns="190440" tIns="190440" bIns="190440" anchor="t">
            <a:noAutofit/>
          </a:bodyPr>
          <a:p>
            <a:pPr defTabSz="914400">
              <a:lnSpc>
                <a:spcPct val="125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chemeClr val="accent2"/>
                </a:solidFill>
                <a:latin typeface="Malgun Gothic"/>
              </a:rPr>
              <a:t>STEP 1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ko-KR" sz="1600" spc="-1" strike="noStrike">
                <a:solidFill>
                  <a:schemeClr val="dk1"/>
                </a:solidFill>
                <a:latin typeface="Malgun Gothic"/>
              </a:rPr>
              <a:t>메시지 구성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Malgun Gothic"/>
              </a:rPr>
              <a:t>system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개발자의 지시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Malgun Gothic"/>
              </a:rPr>
              <a:t>user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사용자의 말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Malgun Gothic"/>
              </a:rPr>
              <a:t>assistant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모델의 답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3" name="Shape 3"/>
          <p:cNvSpPr/>
          <p:nvPr/>
        </p:nvSpPr>
        <p:spPr>
          <a:xfrm>
            <a:off x="3193920" y="2711520"/>
            <a:ext cx="279000" cy="16488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800" bIns="37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74" name="step-2"/>
          <p:cNvSpPr/>
          <p:nvPr/>
        </p:nvSpPr>
        <p:spPr>
          <a:xfrm>
            <a:off x="3575160" y="1841400"/>
            <a:ext cx="2279160" cy="1904760"/>
          </a:xfrm>
          <a:prstGeom prst="roundRect">
            <a:avLst>
              <a:gd name="adj" fmla="val 4667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90440" rIns="190440" tIns="190440" bIns="190440" anchor="t">
            <a:noAutofit/>
          </a:bodyPr>
          <a:p>
            <a:pPr defTabSz="914400">
              <a:lnSpc>
                <a:spcPct val="125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chemeClr val="accent2"/>
                </a:solidFill>
                <a:latin typeface="Malgun Gothic"/>
              </a:rPr>
              <a:t>STEP 2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1"/>
                </a:solidFill>
                <a:latin typeface="Malgun Gothic"/>
              </a:rPr>
              <a:t>API </a:t>
            </a:r>
            <a:r>
              <a:rPr b="1" lang="ko-KR" sz="1600" spc="-1" strike="noStrike">
                <a:solidFill>
                  <a:schemeClr val="dk1"/>
                </a:solidFill>
                <a:latin typeface="Malgun Gothic"/>
              </a:rPr>
              <a:t>호출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base_url·api_key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만 바꿔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OpenAI·Gemini·Ollama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같은 형식으로 호출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.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키는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.env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에 보관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5" name="Shape 5"/>
          <p:cNvSpPr/>
          <p:nvPr/>
        </p:nvSpPr>
        <p:spPr>
          <a:xfrm>
            <a:off x="5956200" y="2711520"/>
            <a:ext cx="279000" cy="16488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800" bIns="37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76" name="step-3"/>
          <p:cNvSpPr/>
          <p:nvPr/>
        </p:nvSpPr>
        <p:spPr>
          <a:xfrm>
            <a:off x="6337440" y="1841400"/>
            <a:ext cx="2279160" cy="1904760"/>
          </a:xfrm>
          <a:prstGeom prst="roundRect">
            <a:avLst>
              <a:gd name="adj" fmla="val 4667"/>
            </a:avLst>
          </a:prstGeom>
          <a:solidFill>
            <a:schemeClr val="accent3"/>
          </a:solidFill>
          <a:ln w="25400">
            <a:solidFill>
              <a:srgbClr val="d977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90440" rIns="190440" tIns="190440" bIns="190440" anchor="t">
            <a:noAutofit/>
          </a:bodyPr>
          <a:p>
            <a:pPr defTabSz="914400">
              <a:lnSpc>
                <a:spcPct val="125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chemeClr val="accent2"/>
                </a:solidFill>
                <a:latin typeface="Malgun Gothic"/>
              </a:rPr>
              <a:t>STEP 3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ko-KR" sz="1600" spc="-1" strike="noStrike">
                <a:solidFill>
                  <a:schemeClr val="dk1"/>
                </a:solidFill>
                <a:latin typeface="Malgun Gothic"/>
              </a:rPr>
              <a:t>모델 생성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다음 토큰 예측 반복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Malgun Gothic"/>
              </a:rPr>
              <a:t>temperature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무작위성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Malgun Gothic"/>
              </a:rPr>
              <a:t>max_tokens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생성 상한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7" name="Shape 7"/>
          <p:cNvSpPr/>
          <p:nvPr/>
        </p:nvSpPr>
        <p:spPr>
          <a:xfrm>
            <a:off x="8718480" y="2711520"/>
            <a:ext cx="279000" cy="16488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800" bIns="37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78" name="step-4"/>
          <p:cNvSpPr/>
          <p:nvPr/>
        </p:nvSpPr>
        <p:spPr>
          <a:xfrm>
            <a:off x="9099720" y="1841400"/>
            <a:ext cx="2279160" cy="1904760"/>
          </a:xfrm>
          <a:prstGeom prst="roundRect">
            <a:avLst>
              <a:gd name="adj" fmla="val 4667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90440" rIns="190440" tIns="190440" bIns="190440" anchor="t">
            <a:noAutofit/>
          </a:bodyPr>
          <a:p>
            <a:pPr defTabSz="914400">
              <a:lnSpc>
                <a:spcPct val="125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chemeClr val="accent2"/>
                </a:solidFill>
                <a:latin typeface="Malgun Gothic"/>
              </a:rPr>
              <a:t>STEP 4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ko-KR" sz="1600" spc="-1" strike="noStrike">
                <a:solidFill>
                  <a:schemeClr val="dk1"/>
                </a:solidFill>
                <a:latin typeface="Malgun Gothic"/>
              </a:rPr>
              <a:t>응답 확인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Malgun Gothic"/>
              </a:rPr>
              <a:t>content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답변 본문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Malgun Gothic"/>
              </a:rPr>
              <a:t>finish_reason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stop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정상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· length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잘림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9" name="Shape 9"/>
          <p:cNvSpPr/>
          <p:nvPr/>
        </p:nvSpPr>
        <p:spPr>
          <a:xfrm>
            <a:off x="812880" y="3975120"/>
            <a:ext cx="10566000" cy="8884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9050">
            <a:solidFill>
              <a:srgbClr val="b9b2a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1015920" y="4127400"/>
            <a:ext cx="317448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Malgun Gothic"/>
              </a:rPr>
              <a:t>Stateless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이전 호출을 기억하지 못함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1" name="Shape 11"/>
          <p:cNvSpPr/>
          <p:nvPr/>
        </p:nvSpPr>
        <p:spPr>
          <a:xfrm>
            <a:off x="4335120" y="4101840"/>
            <a:ext cx="360" cy="635040"/>
          </a:xfrm>
          <a:prstGeom prst="line">
            <a:avLst/>
          </a:prstGeom>
          <a:ln w="19050">
            <a:solidFill>
              <a:srgbClr val="b9b2a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82" name="Text 12"/>
          <p:cNvSpPr/>
          <p:nvPr/>
        </p:nvSpPr>
        <p:spPr>
          <a:xfrm>
            <a:off x="4538520" y="4127400"/>
            <a:ext cx="317448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ko-KR" sz="1400" spc="-1" strike="noStrike">
                <a:solidFill>
                  <a:schemeClr val="dk1"/>
                </a:solidFill>
                <a:latin typeface="Malgun Gothic"/>
              </a:rPr>
              <a:t>기억 구현 </a:t>
            </a:r>
            <a:r>
              <a:rPr b="1" lang="en-US" sz="1400" spc="-1" strike="noStrike">
                <a:solidFill>
                  <a:schemeClr val="dk1"/>
                </a:solidFill>
                <a:latin typeface="Malgun Gothic"/>
              </a:rPr>
              <a:t>(STEP 4 → 1)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지난 대화를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messages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에 누적해 다시 전송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3" name="Shape 13"/>
          <p:cNvSpPr/>
          <p:nvPr/>
        </p:nvSpPr>
        <p:spPr>
          <a:xfrm>
            <a:off x="7857360" y="4101840"/>
            <a:ext cx="360" cy="635040"/>
          </a:xfrm>
          <a:prstGeom prst="line">
            <a:avLst/>
          </a:prstGeom>
          <a:ln w="19050">
            <a:solidFill>
              <a:srgbClr val="b9b2a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84" name="Text 14"/>
          <p:cNvSpPr/>
          <p:nvPr/>
        </p:nvSpPr>
        <p:spPr>
          <a:xfrm>
            <a:off x="8060760" y="4127400"/>
            <a:ext cx="317448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Malgun Gothic"/>
              </a:rPr>
              <a:t>Context Window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한도를 넘으면 오래된 대화부터 잘림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5" name="Text 15"/>
          <p:cNvSpPr/>
          <p:nvPr/>
        </p:nvSpPr>
        <p:spPr>
          <a:xfrm>
            <a:off x="812880" y="5118120"/>
            <a:ext cx="105660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ko-KR" sz="1400" spc="-1" strike="noStrike">
                <a:solidFill>
                  <a:schemeClr val="dk1"/>
                </a:solidFill>
                <a:latin typeface="Malgun Gothic"/>
              </a:rPr>
              <a:t>토큰 비용</a:t>
            </a:r>
            <a:r>
              <a:rPr b="0" lang="en-US" sz="1400" spc="-1" strike="noStrike">
                <a:solidFill>
                  <a:schemeClr val="dk1"/>
                </a:solidFill>
                <a:latin typeface="Malgun Gothic"/>
              </a:rPr>
              <a:t> </a:t>
            </a:r>
            <a:r>
              <a:rPr b="0" lang="en-US" sz="1400" spc="-1" strike="noStrike">
                <a:solidFill>
                  <a:schemeClr val="dk1"/>
                </a:solidFill>
                <a:latin typeface="Malgun Gothic"/>
              </a:rPr>
              <a:t>· </a:t>
            </a:r>
            <a:r>
              <a:rPr b="0" lang="ko-KR" sz="1400" spc="-1" strike="noStrike">
                <a:solidFill>
                  <a:schemeClr val="dk1"/>
                </a:solidFill>
                <a:latin typeface="Malgun Gothic"/>
              </a:rPr>
              <a:t>한국어는 토큰을 더 쓰고</a:t>
            </a:r>
            <a:r>
              <a:rPr b="0" lang="en-US" sz="1400" spc="-1" strike="noStrike">
                <a:solidFill>
                  <a:schemeClr val="dk1"/>
                </a:solidFill>
                <a:latin typeface="Malgun Gothic"/>
              </a:rPr>
              <a:t>, </a:t>
            </a:r>
            <a:r>
              <a:rPr b="0" lang="ko-KR" sz="1400" spc="-1" strike="noStrike">
                <a:solidFill>
                  <a:schemeClr val="dk1"/>
                </a:solidFill>
                <a:latin typeface="Malgun Gothic"/>
              </a:rPr>
              <a:t>비용은 출력에서 더 큼 → “답은 세 문장 이내로”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8"/>
          </p:nvPr>
        </p:nvSpPr>
        <p:spPr>
          <a:xfrm>
            <a:off x="10744200" y="6222960"/>
            <a:ext cx="6346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rgbClr val="7a7f8a"/>
                </a:solidFill>
                <a:latin typeface="Malgun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4429C9-D702-436D-A8E6-FDCA6146D8C8}" type="slidenum">
              <a:rPr b="0" lang="en-US" sz="1200" spc="-1" strike="noStrike">
                <a:solidFill>
                  <a:srgbClr val="7a7f8a"/>
                </a:solidFill>
                <a:latin typeface="Malgun Gothic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/>
          </p:nvPr>
        </p:nvSpPr>
        <p:spPr>
          <a:xfrm>
            <a:off x="812880" y="749160"/>
            <a:ext cx="10566000" cy="25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1</a:t>
            </a:r>
            <a:r>
              <a:rPr b="1" lang="ko-KR" sz="1200" spc="97" strike="noStrike">
                <a:solidFill>
                  <a:schemeClr val="accent2"/>
                </a:solidFill>
                <a:latin typeface="Malgun Gothic"/>
              </a:rPr>
              <a:t>일차 → </a:t>
            </a: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2·3</a:t>
            </a:r>
            <a:r>
              <a:rPr b="1" lang="ko-KR" sz="1200" spc="97" strike="noStrike">
                <a:solidFill>
                  <a:schemeClr val="accent2"/>
                </a:solidFill>
                <a:latin typeface="Malgun Gothic"/>
              </a:rPr>
              <a:t>일차 연결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title"/>
          </p:nvPr>
        </p:nvSpPr>
        <p:spPr>
          <a:xfrm>
            <a:off x="812880" y="1028880"/>
            <a:ext cx="10566000" cy="5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Malgun Gothic"/>
              </a:rPr>
              <a:t>LLM</a:t>
            </a: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의 한계와 이를 푸는 세 가지 방법</a:t>
            </a:r>
            <a:endParaRPr b="0" lang="en-US" sz="30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812880" y="1905120"/>
            <a:ext cx="4952520" cy="3149280"/>
          </a:xfrm>
          <a:prstGeom prst="roundRect">
            <a:avLst>
              <a:gd name="adj" fmla="val 3226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90" name="Text 3"/>
          <p:cNvSpPr/>
          <p:nvPr/>
        </p:nvSpPr>
        <p:spPr>
          <a:xfrm>
            <a:off x="1015920" y="2044800"/>
            <a:ext cx="457164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ko-KR" sz="1400" spc="-1" strike="noStrike">
                <a:solidFill>
                  <a:schemeClr val="dk1"/>
                </a:solidFill>
                <a:latin typeface="Malgun Gothic"/>
              </a:rPr>
              <a:t>학습 이후 정보를 모름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예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: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어제 공개된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CVE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1" name="Shape 4"/>
          <p:cNvSpPr/>
          <p:nvPr/>
        </p:nvSpPr>
        <p:spPr>
          <a:xfrm>
            <a:off x="812520" y="2692080"/>
            <a:ext cx="4953240" cy="360"/>
          </a:xfrm>
          <a:prstGeom prst="line">
            <a:avLst/>
          </a:prstGeom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92" name="Text 5"/>
          <p:cNvSpPr/>
          <p:nvPr/>
        </p:nvSpPr>
        <p:spPr>
          <a:xfrm>
            <a:off x="1015920" y="2832120"/>
            <a:ext cx="457164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ko-KR" sz="1400" spc="-1" strike="noStrike">
                <a:solidFill>
                  <a:schemeClr val="dk1"/>
                </a:solidFill>
                <a:latin typeface="Malgun Gothic"/>
              </a:rPr>
              <a:t>비공개 정보를 모름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예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: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우리 회사 보안 규정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3" name="Shape 6"/>
          <p:cNvSpPr/>
          <p:nvPr/>
        </p:nvSpPr>
        <p:spPr>
          <a:xfrm>
            <a:off x="812520" y="3479760"/>
            <a:ext cx="4953240" cy="360"/>
          </a:xfrm>
          <a:prstGeom prst="line">
            <a:avLst/>
          </a:prstGeom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94" name="Text 7"/>
          <p:cNvSpPr/>
          <p:nvPr/>
        </p:nvSpPr>
        <p:spPr>
          <a:xfrm>
            <a:off x="1015920" y="3619440"/>
            <a:ext cx="457164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ko-KR" sz="1400" spc="-1" strike="noStrike">
                <a:solidFill>
                  <a:schemeClr val="dk1"/>
                </a:solidFill>
                <a:latin typeface="Malgun Gothic"/>
              </a:rPr>
              <a:t>환각 </a:t>
            </a:r>
            <a:r>
              <a:rPr b="1" lang="en-US" sz="1400" spc="-1" strike="noStrike">
                <a:solidFill>
                  <a:schemeClr val="dk1"/>
                </a:solidFill>
                <a:latin typeface="Malgun Gothic"/>
              </a:rPr>
              <a:t>(Hallucination)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모르는 것도 그럴듯하게 지어냄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5" name="Shape 8"/>
          <p:cNvSpPr/>
          <p:nvPr/>
        </p:nvSpPr>
        <p:spPr>
          <a:xfrm>
            <a:off x="812520" y="4267080"/>
            <a:ext cx="4953240" cy="360"/>
          </a:xfrm>
          <a:prstGeom prst="line">
            <a:avLst/>
          </a:prstGeom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96" name="Text 9"/>
          <p:cNvSpPr/>
          <p:nvPr/>
        </p:nvSpPr>
        <p:spPr>
          <a:xfrm>
            <a:off x="1015920" y="4406760"/>
            <a:ext cx="457164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ko-KR" sz="1400" spc="-1" strike="noStrike">
                <a:solidFill>
                  <a:schemeClr val="dk1"/>
                </a:solidFill>
                <a:latin typeface="Malgun Gothic"/>
              </a:rPr>
              <a:t>기억 없음 </a:t>
            </a:r>
            <a:r>
              <a:rPr b="1" lang="en-US" sz="1400" spc="-1" strike="noStrike">
                <a:solidFill>
                  <a:schemeClr val="dk1"/>
                </a:solidFill>
                <a:latin typeface="Malgun Gothic"/>
              </a:rPr>
              <a:t>· </a:t>
            </a:r>
            <a:r>
              <a:rPr b="1" lang="ko-KR" sz="1400" spc="-1" strike="noStrike">
                <a:solidFill>
                  <a:schemeClr val="dk1"/>
                </a:solidFill>
                <a:latin typeface="Malgun Gothic"/>
              </a:rPr>
              <a:t>분량 한도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Stateless, Context Window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7" name="Shape 10"/>
          <p:cNvSpPr/>
          <p:nvPr/>
        </p:nvSpPr>
        <p:spPr>
          <a:xfrm>
            <a:off x="5943600" y="3365640"/>
            <a:ext cx="40608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98" name="solution-1"/>
          <p:cNvSpPr/>
          <p:nvPr/>
        </p:nvSpPr>
        <p:spPr>
          <a:xfrm>
            <a:off x="6527880" y="2095560"/>
            <a:ext cx="4851000" cy="812520"/>
          </a:xfrm>
          <a:prstGeom prst="roundRect">
            <a:avLst>
              <a:gd name="adj" fmla="val 10938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03040" rIns="203040" tIns="139680" bIns="139680" anchor="t">
            <a:noAutofit/>
          </a:bodyPr>
          <a:p>
            <a:pPr defTabSz="914400">
              <a:lnSpc>
                <a:spcPct val="12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Malgun Gothic"/>
              </a:rPr>
              <a:t>① </a:t>
            </a:r>
            <a:r>
              <a:rPr b="1" lang="ko-KR" sz="1500" spc="-1" strike="noStrike">
                <a:solidFill>
                  <a:schemeClr val="dk1"/>
                </a:solidFill>
                <a:latin typeface="Malgun Gothic"/>
              </a:rPr>
              <a:t>프롬프트에 직접 넣기</a:t>
            </a:r>
            <a:endParaRPr b="0" lang="en-US" sz="15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가장 간단하지만 문서가 많으면 다 못 넣음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9" name="solution-2"/>
          <p:cNvSpPr/>
          <p:nvPr/>
        </p:nvSpPr>
        <p:spPr>
          <a:xfrm>
            <a:off x="6527880" y="3048120"/>
            <a:ext cx="4851000" cy="812520"/>
          </a:xfrm>
          <a:prstGeom prst="roundRect">
            <a:avLst>
              <a:gd name="adj" fmla="val 10938"/>
            </a:avLst>
          </a:prstGeom>
          <a:solidFill>
            <a:schemeClr val="accent3"/>
          </a:solidFill>
          <a:ln w="25400">
            <a:solidFill>
              <a:srgbClr val="d977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03040" rIns="203040" tIns="139680" bIns="139680" anchor="t">
            <a:noAutofit/>
          </a:bodyPr>
          <a:p>
            <a:pPr defTabSz="914400">
              <a:lnSpc>
                <a:spcPct val="12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Malgun Gothic"/>
              </a:rPr>
              <a:t>② </a:t>
            </a:r>
            <a:r>
              <a:rPr b="1" lang="en-US" sz="1500" spc="-1" strike="noStrike">
                <a:solidFill>
                  <a:schemeClr val="dk1"/>
                </a:solidFill>
                <a:latin typeface="Malgun Gothic"/>
              </a:rPr>
              <a:t>RAG → 2</a:t>
            </a:r>
            <a:r>
              <a:rPr b="1" lang="ko-KR" sz="1500" spc="-1" strike="noStrike">
                <a:solidFill>
                  <a:schemeClr val="dk1"/>
                </a:solidFill>
                <a:latin typeface="Malgun Gothic"/>
              </a:rPr>
              <a:t>일차</a:t>
            </a:r>
            <a:endParaRPr b="0" lang="en-US" sz="15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필요한 부분만 검색해서 넣음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·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출처 제시 가능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0" name="solution-3"/>
          <p:cNvSpPr/>
          <p:nvPr/>
        </p:nvSpPr>
        <p:spPr>
          <a:xfrm>
            <a:off x="6527880" y="4000680"/>
            <a:ext cx="4851000" cy="812520"/>
          </a:xfrm>
          <a:prstGeom prst="roundRect">
            <a:avLst>
              <a:gd name="adj" fmla="val 10938"/>
            </a:avLst>
          </a:prstGeom>
          <a:solidFill>
            <a:schemeClr val="accent3"/>
          </a:solidFill>
          <a:ln w="25400">
            <a:solidFill>
              <a:srgbClr val="d977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03040" rIns="203040" tIns="139680" bIns="139680" anchor="t">
            <a:noAutofit/>
          </a:bodyPr>
          <a:p>
            <a:pPr defTabSz="914400">
              <a:lnSpc>
                <a:spcPct val="12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Malgun Gothic"/>
              </a:rPr>
              <a:t>③ </a:t>
            </a:r>
            <a:r>
              <a:rPr b="1" lang="en-US" sz="1500" spc="-1" strike="noStrike">
                <a:solidFill>
                  <a:schemeClr val="dk1"/>
                </a:solidFill>
                <a:latin typeface="Malgun Gothic"/>
              </a:rPr>
              <a:t>Fine-tuning → 3</a:t>
            </a:r>
            <a:r>
              <a:rPr b="1" lang="ko-KR" sz="1500" spc="-1" strike="noStrike">
                <a:solidFill>
                  <a:schemeClr val="dk1"/>
                </a:solidFill>
                <a:latin typeface="Malgun Gothic"/>
              </a:rPr>
              <a:t>일차</a:t>
            </a:r>
            <a:endParaRPr b="0" lang="en-US" sz="15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내 데이터로 모델 자체를 추가 학습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9"/>
          </p:nvPr>
        </p:nvSpPr>
        <p:spPr>
          <a:xfrm>
            <a:off x="10744200" y="6222960"/>
            <a:ext cx="6346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rgbClr val="7a7f8a"/>
                </a:solidFill>
                <a:latin typeface="Malgun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13ABBF-6AAB-4FD6-B462-72947704BF52}" type="slidenum">
              <a:rPr b="0" lang="en-US" sz="1200" spc="-1" strike="noStrike">
                <a:solidFill>
                  <a:srgbClr val="7a7f8a"/>
                </a:solidFill>
                <a:latin typeface="Malgun Gothic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/>
          </p:nvPr>
        </p:nvSpPr>
        <p:spPr>
          <a:xfrm>
            <a:off x="812880" y="749160"/>
            <a:ext cx="10566000" cy="25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2</a:t>
            </a:r>
            <a:r>
              <a:rPr b="1" lang="ko-KR" sz="1200" spc="97" strike="noStrike">
                <a:solidFill>
                  <a:schemeClr val="accent2"/>
                </a:solidFill>
                <a:latin typeface="Malgun Gothic"/>
              </a:rPr>
              <a:t>일차 </a:t>
            </a: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· RAG </a:t>
            </a:r>
            <a:r>
              <a:rPr b="1" lang="ko-KR" sz="1200" spc="97" strike="noStrike">
                <a:solidFill>
                  <a:schemeClr val="accent2"/>
                </a:solidFill>
                <a:latin typeface="Malgun Gothic"/>
              </a:rPr>
              <a:t>아키텍처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title"/>
          </p:nvPr>
        </p:nvSpPr>
        <p:spPr>
          <a:xfrm>
            <a:off x="812880" y="1028880"/>
            <a:ext cx="10566000" cy="5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Malgun Gothic"/>
              </a:rPr>
              <a:t>RAG</a:t>
            </a: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는 두 개의 파이프라인으로 움직인다</a:t>
            </a:r>
            <a:endParaRPr b="0" lang="en-US" sz="30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04" name="Text 2"/>
          <p:cNvSpPr/>
          <p:nvPr/>
        </p:nvSpPr>
        <p:spPr>
          <a:xfrm>
            <a:off x="812880" y="1701720"/>
            <a:ext cx="634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accent2"/>
                </a:solidFill>
                <a:latin typeface="Malgun Gothic"/>
              </a:rPr>
              <a:t>① </a:t>
            </a:r>
            <a:r>
              <a:rPr b="1" lang="en-US" sz="1200" spc="-1" strike="noStrike">
                <a:solidFill>
                  <a:schemeClr val="accent2"/>
                </a:solidFill>
                <a:latin typeface="Malgun Gothic"/>
              </a:rPr>
              <a:t>Data Ingestion — </a:t>
            </a:r>
            <a:r>
              <a:rPr b="1" lang="ko-KR" sz="1200" spc="-1" strike="noStrike">
                <a:solidFill>
                  <a:schemeClr val="accent2"/>
                </a:solidFill>
                <a:latin typeface="Malgun Gothic"/>
              </a:rPr>
              <a:t>미리 한 번 실행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5" name="ingest-1"/>
          <p:cNvSpPr/>
          <p:nvPr/>
        </p:nvSpPr>
        <p:spPr>
          <a:xfrm>
            <a:off x="812880" y="1981080"/>
            <a:ext cx="1422000" cy="837720"/>
          </a:xfrm>
          <a:prstGeom prst="roundRect">
            <a:avLst>
              <a:gd name="adj" fmla="val 10606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01520" bIns="101520" anchor="t">
            <a:noAutofit/>
          </a:bodyPr>
          <a:p>
            <a:pPr defTabSz="914400">
              <a:lnSpc>
                <a:spcPct val="125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1"/>
                </a:solidFill>
                <a:latin typeface="Malgun Gothic"/>
              </a:rPr>
              <a:t>1 </a:t>
            </a: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수집</a:t>
            </a:r>
            <a:r>
              <a:rPr b="1" lang="en-US" sz="1300" spc="-1" strike="noStrike">
                <a:solidFill>
                  <a:schemeClr val="dk1"/>
                </a:solidFill>
                <a:latin typeface="Malgun Gothic"/>
              </a:rPr>
              <a:t>·</a:t>
            </a: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정제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텍스트화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,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불필요 부분 제거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6" name="ingest-2"/>
          <p:cNvSpPr/>
          <p:nvPr/>
        </p:nvSpPr>
        <p:spPr>
          <a:xfrm>
            <a:off x="2641680" y="1981080"/>
            <a:ext cx="1422000" cy="837720"/>
          </a:xfrm>
          <a:prstGeom prst="roundRect">
            <a:avLst>
              <a:gd name="adj" fmla="val 10606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01520" bIns="101520" anchor="t">
            <a:noAutofit/>
          </a:bodyPr>
          <a:p>
            <a:pPr defTabSz="914400">
              <a:lnSpc>
                <a:spcPct val="125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1"/>
                </a:solidFill>
                <a:latin typeface="Malgun Gothic"/>
              </a:rPr>
              <a:t>2 </a:t>
            </a: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청킹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의미 단위 조각으로 자르기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7" name="ingest-3"/>
          <p:cNvSpPr/>
          <p:nvPr/>
        </p:nvSpPr>
        <p:spPr>
          <a:xfrm>
            <a:off x="4470480" y="1981080"/>
            <a:ext cx="1422000" cy="837720"/>
          </a:xfrm>
          <a:prstGeom prst="roundRect">
            <a:avLst>
              <a:gd name="adj" fmla="val 10606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01520" bIns="101520" anchor="t">
            <a:noAutofit/>
          </a:bodyPr>
          <a:p>
            <a:pPr defTabSz="914400">
              <a:lnSpc>
                <a:spcPct val="125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1"/>
                </a:solidFill>
                <a:latin typeface="Malgun Gothic"/>
              </a:rPr>
              <a:t>3 </a:t>
            </a: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임베딩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조각 → 숫자 벡터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8" name="ingest-4"/>
          <p:cNvSpPr/>
          <p:nvPr/>
        </p:nvSpPr>
        <p:spPr>
          <a:xfrm>
            <a:off x="6299280" y="1981080"/>
            <a:ext cx="1422000" cy="837720"/>
          </a:xfrm>
          <a:prstGeom prst="roundRect">
            <a:avLst>
              <a:gd name="adj" fmla="val 10606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01520" bIns="101520" anchor="t">
            <a:noAutofit/>
          </a:bodyPr>
          <a:p>
            <a:pPr defTabSz="914400">
              <a:lnSpc>
                <a:spcPct val="125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1"/>
                </a:solidFill>
                <a:latin typeface="Malgun Gothic"/>
              </a:rPr>
              <a:t>4 </a:t>
            </a: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저장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벡터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+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원문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+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메타데이터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9" name="vector-db"/>
          <p:cNvSpPr/>
          <p:nvPr/>
        </p:nvSpPr>
        <p:spPr>
          <a:xfrm>
            <a:off x="6299280" y="3009960"/>
            <a:ext cx="1422000" cy="609120"/>
          </a:xfrm>
          <a:prstGeom prst="roundRect">
            <a:avLst>
              <a:gd name="adj" fmla="val 14583"/>
            </a:avLst>
          </a:prstGeom>
          <a:solidFill>
            <a:schemeClr val="tx1"/>
          </a:solidFill>
          <a:ln w="12700">
            <a:solidFill>
              <a:srgbClr val="1321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01520" bIns="101520" anchor="ctr">
            <a:noAutofit/>
          </a:bodyPr>
          <a:p>
            <a:pPr algn="ctr" defTabSz="914400">
              <a:lnSpc>
                <a:spcPct val="125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ko-KR" sz="1300" spc="-1" strike="noStrike">
                <a:solidFill>
                  <a:schemeClr val="lt1"/>
                </a:solidFill>
                <a:latin typeface="Malgun Gothic"/>
              </a:rPr>
              <a:t>벡터 </a:t>
            </a:r>
            <a:r>
              <a:rPr b="1" lang="en-US" sz="1300" spc="-1" strike="noStrike">
                <a:solidFill>
                  <a:schemeClr val="lt1"/>
                </a:solidFill>
                <a:latin typeface="Malgun Gothic"/>
              </a:rPr>
              <a:t>DB</a:t>
            </a:r>
            <a:endParaRPr b="0" lang="en-US" sz="1300" spc="-1" strike="noStrike">
              <a:solidFill>
                <a:srgbClr val="ffffff"/>
              </a:solidFill>
              <a:latin typeface="Noto Sans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9d2e0"/>
                </a:solidFill>
                <a:latin typeface="Malgun Gothic"/>
              </a:rPr>
              <a:t>Chroma </a:t>
            </a:r>
            <a:r>
              <a:rPr b="0" lang="ko-KR" sz="1200" spc="-1" strike="noStrike">
                <a:solidFill>
                  <a:srgbClr val="c9d2e0"/>
                </a:solidFill>
                <a:latin typeface="Malgun Gothic"/>
              </a:rPr>
              <a:t>등</a:t>
            </a:r>
            <a:endParaRPr b="0" lang="en-US" sz="12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10" name="Text 8"/>
          <p:cNvSpPr/>
          <p:nvPr/>
        </p:nvSpPr>
        <p:spPr>
          <a:xfrm>
            <a:off x="812880" y="3327480"/>
            <a:ext cx="5206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accent2"/>
                </a:solidFill>
                <a:latin typeface="Malgun Gothic"/>
              </a:rPr>
              <a:t>② </a:t>
            </a:r>
            <a:r>
              <a:rPr b="1" lang="en-US" sz="1200" spc="-1" strike="noStrike">
                <a:solidFill>
                  <a:schemeClr val="accent2"/>
                </a:solidFill>
                <a:latin typeface="Malgun Gothic"/>
              </a:rPr>
              <a:t>Query — </a:t>
            </a:r>
            <a:r>
              <a:rPr b="1" lang="ko-KR" sz="1200" spc="-1" strike="noStrike">
                <a:solidFill>
                  <a:schemeClr val="accent2"/>
                </a:solidFill>
                <a:latin typeface="Malgun Gothic"/>
              </a:rPr>
              <a:t>질문이 들어올 때마다 실행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1" name="query-1"/>
          <p:cNvSpPr/>
          <p:nvPr/>
        </p:nvSpPr>
        <p:spPr>
          <a:xfrm>
            <a:off x="812880" y="3835440"/>
            <a:ext cx="1422000" cy="837720"/>
          </a:xfrm>
          <a:prstGeom prst="roundRect">
            <a:avLst>
              <a:gd name="adj" fmla="val 10606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01520" bIns="101520" anchor="t">
            <a:noAutofit/>
          </a:bodyPr>
          <a:p>
            <a:pPr defTabSz="914400">
              <a:lnSpc>
                <a:spcPct val="125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1"/>
                </a:solidFill>
                <a:latin typeface="Malgun Gothic"/>
              </a:rPr>
              <a:t>1 </a:t>
            </a: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질문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사용자 질문 입력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2" name="query-2"/>
          <p:cNvSpPr/>
          <p:nvPr/>
        </p:nvSpPr>
        <p:spPr>
          <a:xfrm>
            <a:off x="2641680" y="3835440"/>
            <a:ext cx="1422000" cy="837720"/>
          </a:xfrm>
          <a:prstGeom prst="roundRect">
            <a:avLst>
              <a:gd name="adj" fmla="val 10606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01520" bIns="101520" anchor="t">
            <a:noAutofit/>
          </a:bodyPr>
          <a:p>
            <a:pPr defTabSz="914400">
              <a:lnSpc>
                <a:spcPct val="125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1"/>
                </a:solidFill>
                <a:latin typeface="Malgun Gothic"/>
              </a:rPr>
              <a:t>2 </a:t>
            </a: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질의 재작성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문서 어휘에 맞게 다시 쓰기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3" name="query-3"/>
          <p:cNvSpPr/>
          <p:nvPr/>
        </p:nvSpPr>
        <p:spPr>
          <a:xfrm>
            <a:off x="4470480" y="3835440"/>
            <a:ext cx="1422000" cy="837720"/>
          </a:xfrm>
          <a:prstGeom prst="roundRect">
            <a:avLst>
              <a:gd name="adj" fmla="val 10606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01520" bIns="101520" anchor="t">
            <a:noAutofit/>
          </a:bodyPr>
          <a:p>
            <a:pPr defTabSz="914400">
              <a:lnSpc>
                <a:spcPct val="125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1"/>
                </a:solidFill>
                <a:latin typeface="Malgun Gothic"/>
              </a:rPr>
              <a:t>3 </a:t>
            </a: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질문 임베딩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저장 때와 같은 모델로 변환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4" name="query-4"/>
          <p:cNvSpPr/>
          <p:nvPr/>
        </p:nvSpPr>
        <p:spPr>
          <a:xfrm>
            <a:off x="6299280" y="3835440"/>
            <a:ext cx="1422000" cy="837720"/>
          </a:xfrm>
          <a:prstGeom prst="roundRect">
            <a:avLst>
              <a:gd name="adj" fmla="val 10606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01520" bIns="101520" anchor="t">
            <a:noAutofit/>
          </a:bodyPr>
          <a:p>
            <a:pPr defTabSz="914400">
              <a:lnSpc>
                <a:spcPct val="125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1"/>
                </a:solidFill>
                <a:latin typeface="Malgun Gothic"/>
              </a:rPr>
              <a:t>4 </a:t>
            </a: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검색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가장 가까운 조각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k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개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5" name="query-5"/>
          <p:cNvSpPr/>
          <p:nvPr/>
        </p:nvSpPr>
        <p:spPr>
          <a:xfrm>
            <a:off x="8128080" y="3835440"/>
            <a:ext cx="1422000" cy="837720"/>
          </a:xfrm>
          <a:prstGeom prst="roundRect">
            <a:avLst>
              <a:gd name="adj" fmla="val 10606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01520" bIns="101520" anchor="t">
            <a:noAutofit/>
          </a:bodyPr>
          <a:p>
            <a:pPr defTabSz="914400">
              <a:lnSpc>
                <a:spcPct val="125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1"/>
                </a:solidFill>
                <a:latin typeface="Malgun Gothic"/>
              </a:rPr>
              <a:t>5 </a:t>
            </a: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재정렬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정밀 비교로 상위만 남김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6" name="query-6"/>
          <p:cNvSpPr/>
          <p:nvPr/>
        </p:nvSpPr>
        <p:spPr>
          <a:xfrm>
            <a:off x="9956880" y="3835440"/>
            <a:ext cx="1422000" cy="837720"/>
          </a:xfrm>
          <a:prstGeom prst="roundRect">
            <a:avLst>
              <a:gd name="adj" fmla="val 10606"/>
            </a:avLst>
          </a:prstGeom>
          <a:solidFill>
            <a:schemeClr val="accent3"/>
          </a:solidFill>
          <a:ln w="25400">
            <a:solidFill>
              <a:srgbClr val="d977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01520" bIns="101520" anchor="t">
            <a:noAutofit/>
          </a:bodyPr>
          <a:p>
            <a:pPr defTabSz="914400">
              <a:lnSpc>
                <a:spcPct val="125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1"/>
                </a:solidFill>
                <a:latin typeface="Malgun Gothic"/>
              </a:rPr>
              <a:t>6 </a:t>
            </a: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생성 </a:t>
            </a:r>
            <a:r>
              <a:rPr b="1" lang="en-US" sz="1300" spc="-1" strike="noStrike">
                <a:solidFill>
                  <a:schemeClr val="dk1"/>
                </a:solidFill>
                <a:latin typeface="Malgun Gothic"/>
              </a:rPr>
              <a:t>(LLM)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근거로 답변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+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출처 표시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7" name="Shape 15"/>
          <p:cNvSpPr/>
          <p:nvPr/>
        </p:nvSpPr>
        <p:spPr>
          <a:xfrm>
            <a:off x="2234880" y="2400120"/>
            <a:ext cx="406440" cy="360"/>
          </a:xfrm>
          <a:prstGeom prst="line">
            <a:avLst/>
          </a:prstGeom>
          <a:ln w="25400">
            <a:solidFill>
              <a:srgbClr val="8a8f9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18" name="Shape 16"/>
          <p:cNvSpPr/>
          <p:nvPr/>
        </p:nvSpPr>
        <p:spPr>
          <a:xfrm>
            <a:off x="4063680" y="2400120"/>
            <a:ext cx="406440" cy="360"/>
          </a:xfrm>
          <a:prstGeom prst="line">
            <a:avLst/>
          </a:prstGeom>
          <a:ln w="25400">
            <a:solidFill>
              <a:srgbClr val="8a8f9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19" name="Shape 17"/>
          <p:cNvSpPr/>
          <p:nvPr/>
        </p:nvSpPr>
        <p:spPr>
          <a:xfrm>
            <a:off x="5892480" y="2400120"/>
            <a:ext cx="406440" cy="360"/>
          </a:xfrm>
          <a:prstGeom prst="line">
            <a:avLst/>
          </a:prstGeom>
          <a:ln w="25400">
            <a:solidFill>
              <a:srgbClr val="8a8f9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20" name="Shape 18"/>
          <p:cNvSpPr/>
          <p:nvPr/>
        </p:nvSpPr>
        <p:spPr>
          <a:xfrm>
            <a:off x="7010280" y="2819160"/>
            <a:ext cx="360" cy="190440"/>
          </a:xfrm>
          <a:prstGeom prst="line">
            <a:avLst/>
          </a:prstGeom>
          <a:ln w="25400">
            <a:solidFill>
              <a:srgbClr val="d9772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21" name="Shape 19"/>
          <p:cNvSpPr/>
          <p:nvPr/>
        </p:nvSpPr>
        <p:spPr>
          <a:xfrm>
            <a:off x="7010280" y="3619440"/>
            <a:ext cx="360" cy="215640"/>
          </a:xfrm>
          <a:prstGeom prst="line">
            <a:avLst/>
          </a:prstGeom>
          <a:ln w="25400">
            <a:solidFill>
              <a:srgbClr val="d9772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22" name="Shape 20"/>
          <p:cNvSpPr/>
          <p:nvPr/>
        </p:nvSpPr>
        <p:spPr>
          <a:xfrm>
            <a:off x="2234880" y="4254480"/>
            <a:ext cx="406440" cy="360"/>
          </a:xfrm>
          <a:prstGeom prst="line">
            <a:avLst/>
          </a:prstGeom>
          <a:ln w="25400">
            <a:solidFill>
              <a:srgbClr val="8a8f9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23" name="Shape 21"/>
          <p:cNvSpPr/>
          <p:nvPr/>
        </p:nvSpPr>
        <p:spPr>
          <a:xfrm>
            <a:off x="4063680" y="4254480"/>
            <a:ext cx="406440" cy="360"/>
          </a:xfrm>
          <a:prstGeom prst="line">
            <a:avLst/>
          </a:prstGeom>
          <a:ln w="25400">
            <a:solidFill>
              <a:srgbClr val="8a8f9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24" name="Shape 22"/>
          <p:cNvSpPr/>
          <p:nvPr/>
        </p:nvSpPr>
        <p:spPr>
          <a:xfrm>
            <a:off x="5892480" y="4254480"/>
            <a:ext cx="406440" cy="360"/>
          </a:xfrm>
          <a:prstGeom prst="line">
            <a:avLst/>
          </a:prstGeom>
          <a:ln w="25400">
            <a:solidFill>
              <a:srgbClr val="8a8f9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25" name="Shape 23"/>
          <p:cNvSpPr/>
          <p:nvPr/>
        </p:nvSpPr>
        <p:spPr>
          <a:xfrm>
            <a:off x="7721280" y="4254480"/>
            <a:ext cx="406440" cy="360"/>
          </a:xfrm>
          <a:prstGeom prst="line">
            <a:avLst/>
          </a:prstGeom>
          <a:ln w="25400">
            <a:solidFill>
              <a:srgbClr val="8a8f9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26" name="Shape 24"/>
          <p:cNvSpPr/>
          <p:nvPr/>
        </p:nvSpPr>
        <p:spPr>
          <a:xfrm>
            <a:off x="9550080" y="4254480"/>
            <a:ext cx="406440" cy="360"/>
          </a:xfrm>
          <a:prstGeom prst="line">
            <a:avLst/>
          </a:prstGeom>
          <a:ln w="25400">
            <a:solidFill>
              <a:srgbClr val="8a8f9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27" name="Shape 25"/>
          <p:cNvSpPr/>
          <p:nvPr/>
        </p:nvSpPr>
        <p:spPr>
          <a:xfrm>
            <a:off x="10667880" y="4673520"/>
            <a:ext cx="360" cy="431640"/>
          </a:xfrm>
          <a:prstGeom prst="line">
            <a:avLst/>
          </a:prstGeom>
          <a:ln w="25400">
            <a:solidFill>
              <a:srgbClr val="d9772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28" name="Shape 26"/>
          <p:cNvSpPr/>
          <p:nvPr/>
        </p:nvSpPr>
        <p:spPr>
          <a:xfrm flipH="1">
            <a:off x="1523880" y="5105160"/>
            <a:ext cx="9144000" cy="360"/>
          </a:xfrm>
          <a:prstGeom prst="line">
            <a:avLst/>
          </a:prstGeom>
          <a:ln w="25400">
            <a:solidFill>
              <a:srgbClr val="d9772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29" name="Shape 27"/>
          <p:cNvSpPr/>
          <p:nvPr/>
        </p:nvSpPr>
        <p:spPr>
          <a:xfrm flipV="1">
            <a:off x="1523880" y="4686120"/>
            <a:ext cx="360" cy="419040"/>
          </a:xfrm>
          <a:prstGeom prst="line">
            <a:avLst/>
          </a:prstGeom>
          <a:ln w="25400">
            <a:solidFill>
              <a:srgbClr val="d9772b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30" name="Text 28"/>
          <p:cNvSpPr/>
          <p:nvPr/>
        </p:nvSpPr>
        <p:spPr>
          <a:xfrm>
            <a:off x="1765440" y="4775040"/>
            <a:ext cx="86608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1" lang="ko-KR" sz="1200" spc="-1" strike="noStrike">
                <a:solidFill>
                  <a:schemeClr val="accent2"/>
                </a:solidFill>
                <a:latin typeface="Malgun Gothic"/>
              </a:rPr>
              <a:t>답변 후 다음 질문으로 반복 — 사용자의 말을 계속 받아 </a:t>
            </a:r>
            <a:r>
              <a:rPr b="1" lang="en-US" sz="1200" spc="-1" strike="noStrike">
                <a:solidFill>
                  <a:schemeClr val="accent2"/>
                </a:solidFill>
                <a:latin typeface="Malgun Gothic"/>
              </a:rPr>
              <a:t>1</a:t>
            </a:r>
            <a:r>
              <a:rPr b="1" lang="ko-KR" sz="1200" spc="-1" strike="noStrike">
                <a:solidFill>
                  <a:schemeClr val="accent2"/>
                </a:solidFill>
                <a:latin typeface="Malgun Gothic"/>
              </a:rPr>
              <a:t>단계부터 다시 처리 </a:t>
            </a:r>
            <a:r>
              <a:rPr b="1" lang="en-US" sz="1200" spc="-1" strike="noStrike">
                <a:solidFill>
                  <a:schemeClr val="accent2"/>
                </a:solidFill>
                <a:latin typeface="Malgun Gothic"/>
              </a:rPr>
              <a:t>(</a:t>
            </a:r>
            <a:r>
              <a:rPr b="1" lang="ko-KR" sz="1200" spc="-1" strike="noStrike">
                <a:solidFill>
                  <a:schemeClr val="accent2"/>
                </a:solidFill>
                <a:latin typeface="Malgun Gothic"/>
              </a:rPr>
              <a:t>이전 대화는 </a:t>
            </a:r>
            <a:r>
              <a:rPr b="1" lang="en-US" sz="1200" spc="-1" strike="noStrike">
                <a:solidFill>
                  <a:schemeClr val="accent2"/>
                </a:solidFill>
                <a:latin typeface="Malgun Gothic"/>
              </a:rPr>
              <a:t>history</a:t>
            </a:r>
            <a:r>
              <a:rPr b="1" lang="ko-KR" sz="1200" spc="-1" strike="noStrike">
                <a:solidFill>
                  <a:schemeClr val="accent2"/>
                </a:solidFill>
                <a:latin typeface="Malgun Gothic"/>
              </a:rPr>
              <a:t>로 함께 전달</a:t>
            </a:r>
            <a:r>
              <a:rPr b="1" lang="en-US" sz="1200" spc="-1" strike="noStrike">
                <a:solidFill>
                  <a:schemeClr val="accent2"/>
                </a:solidFill>
                <a:latin typeface="Malgun Gothic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1" name="Text 29"/>
          <p:cNvSpPr/>
          <p:nvPr/>
        </p:nvSpPr>
        <p:spPr>
          <a:xfrm>
            <a:off x="812880" y="5372280"/>
            <a:ext cx="105660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ko-KR" sz="1500" spc="-1" strike="noStrike">
                <a:solidFill>
                  <a:schemeClr val="dk1"/>
                </a:solidFill>
                <a:latin typeface="Malgun Gothic"/>
              </a:rPr>
              <a:t>벡터 </a:t>
            </a:r>
            <a:r>
              <a:rPr b="0" lang="en-US" sz="1500" spc="-1" strike="noStrike">
                <a:solidFill>
                  <a:schemeClr val="dk1"/>
                </a:solidFill>
                <a:latin typeface="Malgun Gothic"/>
              </a:rPr>
              <a:t>DB</a:t>
            </a:r>
            <a:r>
              <a:rPr b="0" lang="ko-KR" sz="1500" spc="-1" strike="noStrike">
                <a:solidFill>
                  <a:schemeClr val="dk1"/>
                </a:solidFill>
                <a:latin typeface="Malgun Gothic"/>
              </a:rPr>
              <a:t>는 근거를 </a:t>
            </a:r>
            <a:r>
              <a:rPr b="1" lang="ko-KR" sz="1500" spc="-1" strike="noStrike">
                <a:solidFill>
                  <a:schemeClr val="dk1"/>
                </a:solidFill>
                <a:latin typeface="Malgun Gothic"/>
              </a:rPr>
              <a:t>찾아 줄 뿐</a:t>
            </a:r>
            <a:r>
              <a:rPr b="0" lang="en-US" sz="1500" spc="-1" strike="noStrike">
                <a:solidFill>
                  <a:schemeClr val="dk1"/>
                </a:solidFill>
                <a:latin typeface="Malgun Gothic"/>
              </a:rPr>
              <a:t>, </a:t>
            </a:r>
            <a:r>
              <a:rPr b="0" lang="ko-KR" sz="1500" spc="-1" strike="noStrike">
                <a:solidFill>
                  <a:schemeClr val="dk1"/>
                </a:solidFill>
                <a:latin typeface="Malgun Gothic"/>
              </a:rPr>
              <a:t>정리해서 답하는 것은 </a:t>
            </a:r>
            <a:r>
              <a:rPr b="0" lang="en-US" sz="1500" spc="-1" strike="noStrike">
                <a:solidFill>
                  <a:schemeClr val="dk1"/>
                </a:solidFill>
                <a:latin typeface="Malgun Gothic"/>
              </a:rPr>
              <a:t>LLM — </a:t>
            </a:r>
            <a:r>
              <a:rPr b="0" lang="ko-KR" sz="1500" spc="-1" strike="noStrike">
                <a:solidFill>
                  <a:schemeClr val="dk1"/>
                </a:solidFill>
                <a:latin typeface="Malgun Gothic"/>
              </a:rPr>
              <a:t>품질은 대부분 </a:t>
            </a:r>
            <a:r>
              <a:rPr b="1" lang="ko-KR" sz="1500" spc="-1" strike="noStrike">
                <a:solidFill>
                  <a:schemeClr val="dk1"/>
                </a:solidFill>
                <a:latin typeface="Malgun Gothic"/>
              </a:rPr>
              <a:t>검색</a:t>
            </a:r>
            <a:r>
              <a:rPr b="0" lang="ko-KR" sz="1500" spc="-1" strike="noStrike">
                <a:solidFill>
                  <a:schemeClr val="dk1"/>
                </a:solidFill>
                <a:latin typeface="Malgun Gothic"/>
              </a:rPr>
              <a:t>에서 결정된다</a:t>
            </a:r>
            <a:endParaRPr b="0" lang="en-US" sz="15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10"/>
          </p:nvPr>
        </p:nvSpPr>
        <p:spPr>
          <a:xfrm>
            <a:off x="10744200" y="6222960"/>
            <a:ext cx="6346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rgbClr val="7a7f8a"/>
                </a:solidFill>
                <a:latin typeface="Malgun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41D7BB-2A34-4C2A-96EE-7A04FA93309A}" type="slidenum">
              <a:rPr b="0" lang="en-US" sz="1200" spc="-1" strike="noStrike">
                <a:solidFill>
                  <a:srgbClr val="7a7f8a"/>
                </a:solidFill>
                <a:latin typeface="Malgun Gothic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/>
          </p:nvPr>
        </p:nvSpPr>
        <p:spPr>
          <a:xfrm>
            <a:off x="812880" y="749160"/>
            <a:ext cx="10566000" cy="25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2</a:t>
            </a:r>
            <a:r>
              <a:rPr b="1" lang="ko-KR" sz="1200" spc="97" strike="noStrike">
                <a:solidFill>
                  <a:schemeClr val="accent2"/>
                </a:solidFill>
                <a:latin typeface="Malgun Gothic"/>
              </a:rPr>
              <a:t>일차 </a:t>
            </a: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· </a:t>
            </a:r>
            <a:r>
              <a:rPr b="1" lang="ko-KR" sz="1200" spc="97" strike="noStrike">
                <a:solidFill>
                  <a:schemeClr val="accent2"/>
                </a:solidFill>
                <a:latin typeface="Malgun Gothic"/>
              </a:rPr>
              <a:t>단계별 핵심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title"/>
          </p:nvPr>
        </p:nvSpPr>
        <p:spPr>
          <a:xfrm>
            <a:off x="812880" y="1028880"/>
            <a:ext cx="10566000" cy="5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Malgun Gothic"/>
              </a:rPr>
              <a:t>RAG </a:t>
            </a: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품질을 좌우하는 네 단계</a:t>
            </a:r>
            <a:endParaRPr b="0" lang="en-US" sz="30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35" name="rag-step-1"/>
          <p:cNvSpPr/>
          <p:nvPr/>
        </p:nvSpPr>
        <p:spPr>
          <a:xfrm>
            <a:off x="812880" y="1841400"/>
            <a:ext cx="5206680" cy="1409400"/>
          </a:xfrm>
          <a:prstGeom prst="roundRect">
            <a:avLst>
              <a:gd name="adj" fmla="val 6306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00" rIns="216000" tIns="165240" bIns="165240" anchor="t">
            <a:noAutofit/>
          </a:bodyPr>
          <a:p>
            <a:pPr defTabSz="914400">
              <a:lnSpc>
                <a:spcPct val="125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Malgun Gothic"/>
              </a:rPr>
              <a:t>01 </a:t>
            </a:r>
            <a:r>
              <a:rPr b="1" lang="ko-KR" sz="1500" spc="-1" strike="noStrike">
                <a:solidFill>
                  <a:schemeClr val="dk1"/>
                </a:solidFill>
                <a:latin typeface="Malgun Gothic"/>
              </a:rPr>
              <a:t>청킹 — 한 조각에 한 이야기</a:t>
            </a:r>
            <a:endParaRPr b="0" lang="en-US" sz="15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고정 크기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· Recursive(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기본값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) · Semantic ·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문서 구조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· LLM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기반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.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너무 작으면 문맥이 잘리고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,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너무 크면 검색이 흐려짐 →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overlap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으로 보완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6" name="rag-step-2"/>
          <p:cNvSpPr/>
          <p:nvPr/>
        </p:nvSpPr>
        <p:spPr>
          <a:xfrm>
            <a:off x="6172200" y="1841400"/>
            <a:ext cx="5206680" cy="1409400"/>
          </a:xfrm>
          <a:prstGeom prst="roundRect">
            <a:avLst>
              <a:gd name="adj" fmla="val 6306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00" rIns="216000" tIns="165240" bIns="165240" anchor="t">
            <a:noAutofit/>
          </a:bodyPr>
          <a:p>
            <a:pPr defTabSz="914400">
              <a:lnSpc>
                <a:spcPct val="125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Malgun Gothic"/>
              </a:rPr>
              <a:t>02 </a:t>
            </a:r>
            <a:r>
              <a:rPr b="1" lang="ko-KR" sz="1500" spc="-1" strike="noStrike">
                <a:solidFill>
                  <a:schemeClr val="dk1"/>
                </a:solidFill>
                <a:latin typeface="Malgun Gothic"/>
              </a:rPr>
              <a:t>임베딩 </a:t>
            </a:r>
            <a:r>
              <a:rPr b="1" lang="en-US" sz="1500" spc="-1" strike="noStrike">
                <a:solidFill>
                  <a:schemeClr val="dk1"/>
                </a:solidFill>
                <a:latin typeface="Malgun Gothic"/>
              </a:rPr>
              <a:t>· </a:t>
            </a:r>
            <a:r>
              <a:rPr b="1" lang="ko-KR" sz="1500" spc="-1" strike="noStrike">
                <a:solidFill>
                  <a:schemeClr val="dk1"/>
                </a:solidFill>
                <a:latin typeface="Malgun Gothic"/>
              </a:rPr>
              <a:t>벡터 </a:t>
            </a:r>
            <a:r>
              <a:rPr b="1" lang="en-US" sz="1500" spc="-1" strike="noStrike">
                <a:solidFill>
                  <a:schemeClr val="dk1"/>
                </a:solidFill>
                <a:latin typeface="Malgun Gothic"/>
              </a:rPr>
              <a:t>DB</a:t>
            </a:r>
            <a:endParaRPr b="0" lang="en-US" sz="15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의미가 비슷하면 가까운 좌표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(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코사인 유사도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) → “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암호”로 “비밀번호”도 찾음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.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대량 벡터는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ANN(HNSW)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으로 거의 정확하고 빠르게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.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메타데이터로 필터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·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출처 표시 가능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7" name="rag-step-3"/>
          <p:cNvSpPr/>
          <p:nvPr/>
        </p:nvSpPr>
        <p:spPr>
          <a:xfrm>
            <a:off x="812880" y="3378240"/>
            <a:ext cx="5206680" cy="1409400"/>
          </a:xfrm>
          <a:prstGeom prst="roundRect">
            <a:avLst>
              <a:gd name="adj" fmla="val 6306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00" rIns="216000" tIns="165240" bIns="165240" anchor="t">
            <a:noAutofit/>
          </a:bodyPr>
          <a:p>
            <a:pPr defTabSz="914400">
              <a:lnSpc>
                <a:spcPct val="125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Malgun Gothic"/>
              </a:rPr>
              <a:t>03 </a:t>
            </a:r>
            <a:r>
              <a:rPr b="1" lang="ko-KR" sz="1500" spc="-1" strike="noStrike">
                <a:solidFill>
                  <a:schemeClr val="dk1"/>
                </a:solidFill>
                <a:latin typeface="Malgun Gothic"/>
              </a:rPr>
              <a:t>검색 </a:t>
            </a:r>
            <a:r>
              <a:rPr b="1" lang="en-US" sz="1500" spc="-1" strike="noStrike">
                <a:solidFill>
                  <a:schemeClr val="dk1"/>
                </a:solidFill>
                <a:latin typeface="Malgun Gothic"/>
              </a:rPr>
              <a:t>· </a:t>
            </a:r>
            <a:r>
              <a:rPr b="1" lang="ko-KR" sz="1500" spc="-1" strike="noStrike">
                <a:solidFill>
                  <a:schemeClr val="dk1"/>
                </a:solidFill>
                <a:latin typeface="Malgun Gothic"/>
              </a:rPr>
              <a:t>재정렬</a:t>
            </a:r>
            <a:endParaRPr b="0" lang="en-US" sz="15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가까운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k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개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(2~5)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를 무조건 가져옴 → 재정렬로 상위만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LLM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에 전달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. CVE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번호처럼 정확 일치가 필요하면 하이브리드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(BM25 +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의미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8" name="rag-step-4"/>
          <p:cNvSpPr/>
          <p:nvPr/>
        </p:nvSpPr>
        <p:spPr>
          <a:xfrm>
            <a:off x="6172200" y="3378240"/>
            <a:ext cx="5206680" cy="1409400"/>
          </a:xfrm>
          <a:prstGeom prst="roundRect">
            <a:avLst>
              <a:gd name="adj" fmla="val 6306"/>
            </a:avLst>
          </a:prstGeom>
          <a:solidFill>
            <a:schemeClr val="accent3"/>
          </a:solidFill>
          <a:ln w="25400">
            <a:solidFill>
              <a:srgbClr val="d977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00" rIns="216000" tIns="165240" bIns="165240" anchor="t">
            <a:noAutofit/>
          </a:bodyPr>
          <a:p>
            <a:pPr defTabSz="914400">
              <a:lnSpc>
                <a:spcPct val="125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Malgun Gothic"/>
              </a:rPr>
              <a:t>04 </a:t>
            </a:r>
            <a:r>
              <a:rPr b="1" lang="ko-KR" sz="1500" spc="-1" strike="noStrike">
                <a:solidFill>
                  <a:schemeClr val="dk1"/>
                </a:solidFill>
                <a:latin typeface="Malgun Gothic"/>
              </a:rPr>
              <a:t>생성 </a:t>
            </a:r>
            <a:r>
              <a:rPr b="1" lang="en-US" sz="1500" spc="-1" strike="noStrike">
                <a:solidFill>
                  <a:schemeClr val="dk1"/>
                </a:solidFill>
                <a:latin typeface="Malgun Gothic"/>
              </a:rPr>
              <a:t>· </a:t>
            </a:r>
            <a:r>
              <a:rPr b="1" lang="ko-KR" sz="1500" spc="-1" strike="noStrike">
                <a:solidFill>
                  <a:schemeClr val="dk1"/>
                </a:solidFill>
                <a:latin typeface="Malgun Gothic"/>
              </a:rPr>
              <a:t>평가</a:t>
            </a:r>
            <a:endParaRPr b="0" lang="en-US" sz="15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“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자료만 근거로”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, “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없으면 없다고”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, “[1], [2]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출처 표시”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, temperature 0.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정답 라벨 질문 세트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(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채점표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)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로 숫자 평가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9" name="Text 6"/>
          <p:cNvSpPr/>
          <p:nvPr/>
        </p:nvSpPr>
        <p:spPr>
          <a:xfrm>
            <a:off x="812880" y="4991040"/>
            <a:ext cx="5206680" cy="659880"/>
          </a:xfrm>
          <a:prstGeom prst="roundRect">
            <a:avLst>
              <a:gd name="adj" fmla="val 13462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7840" rIns="177840" tIns="114480" bIns="11448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Malgun Gothic"/>
              </a:rPr>
              <a:t>Advanced RAG</a:t>
            </a: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 · 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질의 재작성</a:t>
            </a: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, 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하이브리드 검색</a:t>
            </a: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, 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재정렬</a:t>
            </a: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, 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점수 하한선으로 단계마다 개선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0" name="Text 7"/>
          <p:cNvSpPr/>
          <p:nvPr/>
        </p:nvSpPr>
        <p:spPr>
          <a:xfrm>
            <a:off x="6172200" y="4991040"/>
            <a:ext cx="5206680" cy="659880"/>
          </a:xfrm>
          <a:prstGeom prst="roundRect">
            <a:avLst>
              <a:gd name="adj" fmla="val 13462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7840" rIns="177840" tIns="114480" bIns="11448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Malgun Gothic"/>
              </a:rPr>
              <a:t>Agentic RAG</a:t>
            </a: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 · 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에이전트가 검색 여부</a:t>
            </a: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·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횟수</a:t>
            </a: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·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도구를 스스로 결정 → </a:t>
            </a: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4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일차로 연결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11"/>
          </p:nvPr>
        </p:nvSpPr>
        <p:spPr>
          <a:xfrm>
            <a:off x="10744200" y="6222960"/>
            <a:ext cx="6346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rgbClr val="7a7f8a"/>
                </a:solidFill>
                <a:latin typeface="Malgun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DFFA3A-784B-4630-B155-AE58DAD02826}" type="slidenum">
              <a:rPr b="0" lang="en-US" sz="1200" spc="-1" strike="noStrike">
                <a:solidFill>
                  <a:srgbClr val="7a7f8a"/>
                </a:solidFill>
                <a:latin typeface="Malgun Gothic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/>
          </p:nvPr>
        </p:nvSpPr>
        <p:spPr>
          <a:xfrm>
            <a:off x="812880" y="749160"/>
            <a:ext cx="10566000" cy="25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3</a:t>
            </a:r>
            <a:r>
              <a:rPr b="1" lang="ko-KR" sz="1200" spc="97" strike="noStrike">
                <a:solidFill>
                  <a:schemeClr val="accent2"/>
                </a:solidFill>
                <a:latin typeface="Malgun Gothic"/>
              </a:rPr>
              <a:t>일차 </a:t>
            </a: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· Fine-tuning </a:t>
            </a:r>
            <a:r>
              <a:rPr b="1" lang="ko-KR" sz="1200" spc="97" strike="noStrike">
                <a:solidFill>
                  <a:schemeClr val="accent2"/>
                </a:solidFill>
                <a:latin typeface="Malgun Gothic"/>
              </a:rPr>
              <a:t>진행 단계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title"/>
          </p:nvPr>
        </p:nvSpPr>
        <p:spPr>
          <a:xfrm>
            <a:off x="812880" y="1028880"/>
            <a:ext cx="10566000" cy="5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Malgun Gothic"/>
              </a:rPr>
              <a:t>Fine-tuning</a:t>
            </a: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은 </a:t>
            </a:r>
            <a:r>
              <a:rPr b="1" lang="en-US" sz="3000" spc="-1" strike="noStrike">
                <a:solidFill>
                  <a:schemeClr val="dk1"/>
                </a:solidFill>
                <a:latin typeface="Malgun Gothic"/>
              </a:rPr>
              <a:t>9</a:t>
            </a: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단계</a:t>
            </a:r>
            <a:r>
              <a:rPr b="1" lang="en-US" sz="3000" spc="-1" strike="noStrike">
                <a:solidFill>
                  <a:schemeClr val="dk1"/>
                </a:solidFill>
                <a:latin typeface="Malgun Gothic"/>
              </a:rPr>
              <a:t>, </a:t>
            </a: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그중 </a:t>
            </a:r>
            <a:r>
              <a:rPr b="1" lang="en-US" sz="3000" spc="-1" strike="noStrike">
                <a:solidFill>
                  <a:schemeClr val="dk1"/>
                </a:solidFill>
                <a:latin typeface="Malgun Gothic"/>
              </a:rPr>
              <a:t>4–7</a:t>
            </a: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을 반복한다</a:t>
            </a:r>
            <a:endParaRPr b="0" lang="en-US" sz="30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44" name="ft-step-1"/>
          <p:cNvSpPr/>
          <p:nvPr/>
        </p:nvSpPr>
        <p:spPr>
          <a:xfrm>
            <a:off x="812880" y="1816200"/>
            <a:ext cx="1105920" cy="1117080"/>
          </a:xfrm>
          <a:prstGeom prst="roundRect">
            <a:avLst>
              <a:gd name="adj" fmla="val 8037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520" rIns="101520" tIns="114480" bIns="114480" anchor="t">
            <a:noAutofit/>
          </a:bodyPr>
          <a:p>
            <a:pPr defTabSz="914400">
              <a:lnSpc>
                <a:spcPct val="12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2"/>
                </a:solidFill>
                <a:latin typeface="Malgun Gothic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ko-KR" sz="1200" spc="-1" strike="noStrike">
                <a:solidFill>
                  <a:schemeClr val="dk1"/>
                </a:solidFill>
                <a:latin typeface="Malgun Gothic"/>
              </a:rPr>
              <a:t>목표</a:t>
            </a:r>
            <a:r>
              <a:rPr b="1" lang="en-US" sz="1200" spc="-1" strike="noStrike">
                <a:solidFill>
                  <a:schemeClr val="dk1"/>
                </a:solidFill>
                <a:latin typeface="Malgun Gothic"/>
              </a:rPr>
              <a:t>·</a:t>
            </a:r>
            <a:r>
              <a:rPr b="1" lang="ko-KR" sz="1200" spc="-1" strike="noStrike">
                <a:solidFill>
                  <a:schemeClr val="dk1"/>
                </a:solidFill>
                <a:latin typeface="Malgun Gothic"/>
              </a:rPr>
              <a:t>기준 설정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5" name="ft-step-2"/>
          <p:cNvSpPr/>
          <p:nvPr/>
        </p:nvSpPr>
        <p:spPr>
          <a:xfrm>
            <a:off x="1995120" y="1816200"/>
            <a:ext cx="1105920" cy="1117080"/>
          </a:xfrm>
          <a:prstGeom prst="roundRect">
            <a:avLst>
              <a:gd name="adj" fmla="val 8037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520" rIns="101520" tIns="114480" bIns="114480" anchor="t">
            <a:noAutofit/>
          </a:bodyPr>
          <a:p>
            <a:pPr defTabSz="914400">
              <a:lnSpc>
                <a:spcPct val="12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2"/>
                </a:solidFill>
                <a:latin typeface="Malgun Gothic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ko-KR" sz="1200" spc="-1" strike="noStrike">
                <a:solidFill>
                  <a:schemeClr val="dk1"/>
                </a:solidFill>
                <a:latin typeface="Malgun Gothic"/>
              </a:rPr>
              <a:t>데이터 수집</a:t>
            </a:r>
            <a:r>
              <a:rPr b="1" lang="en-US" sz="1200" spc="-1" strike="noStrike">
                <a:solidFill>
                  <a:schemeClr val="dk1"/>
                </a:solidFill>
                <a:latin typeface="Malgun Gothic"/>
              </a:rPr>
              <a:t>·</a:t>
            </a:r>
            <a:r>
              <a:rPr b="1" lang="ko-KR" sz="1200" spc="-1" strike="noStrike">
                <a:solidFill>
                  <a:schemeClr val="dk1"/>
                </a:solidFill>
                <a:latin typeface="Malgun Gothic"/>
              </a:rPr>
              <a:t>정제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6" name="ft-step-3"/>
          <p:cNvSpPr/>
          <p:nvPr/>
        </p:nvSpPr>
        <p:spPr>
          <a:xfrm>
            <a:off x="3177720" y="1816200"/>
            <a:ext cx="1105920" cy="1117080"/>
          </a:xfrm>
          <a:prstGeom prst="roundRect">
            <a:avLst>
              <a:gd name="adj" fmla="val 8037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520" rIns="101520" tIns="114480" bIns="114480" anchor="t">
            <a:noAutofit/>
          </a:bodyPr>
          <a:p>
            <a:pPr defTabSz="914400">
              <a:lnSpc>
                <a:spcPct val="12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2"/>
                </a:solidFill>
                <a:latin typeface="Malgun Gothic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Malgun Gothic"/>
              </a:rPr>
              <a:t>JSONL </a:t>
            </a:r>
            <a:r>
              <a:rPr b="1" lang="ko-KR" sz="1200" spc="-1" strike="noStrike">
                <a:solidFill>
                  <a:schemeClr val="dk1"/>
                </a:solidFill>
                <a:latin typeface="Malgun Gothic"/>
              </a:rPr>
              <a:t>변환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7" name="ft-step-4"/>
          <p:cNvSpPr/>
          <p:nvPr/>
        </p:nvSpPr>
        <p:spPr>
          <a:xfrm>
            <a:off x="4359960" y="1816200"/>
            <a:ext cx="1105920" cy="1117080"/>
          </a:xfrm>
          <a:prstGeom prst="roundRect">
            <a:avLst>
              <a:gd name="adj" fmla="val 8037"/>
            </a:avLst>
          </a:prstGeom>
          <a:solidFill>
            <a:schemeClr val="accent3"/>
          </a:solidFill>
          <a:ln w="25400">
            <a:solidFill>
              <a:srgbClr val="d977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520" rIns="101520" tIns="114480" bIns="114480" anchor="t">
            <a:noAutofit/>
          </a:bodyPr>
          <a:p>
            <a:pPr defTabSz="914400">
              <a:lnSpc>
                <a:spcPct val="12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2"/>
                </a:solidFill>
                <a:latin typeface="Malgun Gothic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ko-KR" sz="1200" spc="-1" strike="noStrike">
                <a:solidFill>
                  <a:schemeClr val="dk1"/>
                </a:solidFill>
                <a:latin typeface="Malgun Gothic"/>
              </a:rPr>
              <a:t>데이터 분할    </a:t>
            </a:r>
            <a:r>
              <a:rPr b="1" lang="ko-KR" sz="1200" spc="-1" strike="noStrike">
                <a:solidFill>
                  <a:schemeClr val="dk1"/>
                </a:solidFill>
                <a:latin typeface="Malgun Gothic"/>
              </a:rPr>
              <a:t>약 </a:t>
            </a:r>
            <a:r>
              <a:rPr b="1" lang="en-US" sz="1200" spc="-1" strike="noStrike">
                <a:solidFill>
                  <a:schemeClr val="dk1"/>
                </a:solidFill>
                <a:latin typeface="Malgun Gothic"/>
              </a:rPr>
              <a:t>7 : 1 : 2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chemeClr val="dk1"/>
                </a:solidFill>
                <a:latin typeface="Malgun Gothic"/>
              </a:rPr>
              <a:t> </a:t>
            </a:r>
            <a:r>
              <a:rPr b="1" lang="ko-KR" sz="800" spc="-1" strike="noStrike">
                <a:solidFill>
                  <a:schemeClr val="dk1"/>
                </a:solidFill>
                <a:latin typeface="Malgun Gothic"/>
              </a:rPr>
              <a:t>학습 검증 테스트</a:t>
            </a:r>
            <a:endParaRPr b="0" lang="en-US" sz="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8" name="ft-step-5"/>
          <p:cNvSpPr/>
          <p:nvPr/>
        </p:nvSpPr>
        <p:spPr>
          <a:xfrm>
            <a:off x="5542200" y="1816200"/>
            <a:ext cx="1105920" cy="1117080"/>
          </a:xfrm>
          <a:prstGeom prst="roundRect">
            <a:avLst>
              <a:gd name="adj" fmla="val 8037"/>
            </a:avLst>
          </a:prstGeom>
          <a:solidFill>
            <a:schemeClr val="accent3"/>
          </a:solidFill>
          <a:ln w="25400">
            <a:solidFill>
              <a:srgbClr val="d977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520" rIns="101520" tIns="114480" bIns="114480" anchor="t">
            <a:noAutofit/>
          </a:bodyPr>
          <a:p>
            <a:pPr defTabSz="914400">
              <a:lnSpc>
                <a:spcPct val="12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2"/>
                </a:solidFill>
                <a:latin typeface="Malgun Gothic"/>
              </a:rPr>
              <a:t>5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ko-KR" sz="1200" spc="-1" strike="noStrike">
                <a:solidFill>
                  <a:schemeClr val="dk1"/>
                </a:solidFill>
                <a:latin typeface="Malgun Gothic"/>
              </a:rPr>
              <a:t>모델</a:t>
            </a:r>
            <a:r>
              <a:rPr b="1" lang="en-US" sz="1200" spc="-1" strike="noStrike">
                <a:solidFill>
                  <a:schemeClr val="dk1"/>
                </a:solidFill>
                <a:latin typeface="Malgun Gothic"/>
              </a:rPr>
              <a:t>·</a:t>
            </a:r>
            <a:r>
              <a:rPr b="1" lang="ko-KR" sz="1200" spc="-1" strike="noStrike">
                <a:solidFill>
                  <a:schemeClr val="dk1"/>
                </a:solidFill>
                <a:latin typeface="Malgun Gothic"/>
              </a:rPr>
              <a:t>학습 방법 선정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9" name="ft-step-6"/>
          <p:cNvSpPr/>
          <p:nvPr/>
        </p:nvSpPr>
        <p:spPr>
          <a:xfrm>
            <a:off x="6724800" y="1816200"/>
            <a:ext cx="1105920" cy="1117080"/>
          </a:xfrm>
          <a:prstGeom prst="roundRect">
            <a:avLst>
              <a:gd name="adj" fmla="val 8037"/>
            </a:avLst>
          </a:prstGeom>
          <a:solidFill>
            <a:schemeClr val="accent3"/>
          </a:solidFill>
          <a:ln w="25400">
            <a:solidFill>
              <a:srgbClr val="d977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520" rIns="101520" tIns="114480" bIns="114480" anchor="t">
            <a:noAutofit/>
          </a:bodyPr>
          <a:p>
            <a:pPr defTabSz="914400">
              <a:lnSpc>
                <a:spcPct val="12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2"/>
                </a:solidFill>
                <a:latin typeface="Malgun Gothic"/>
              </a:rPr>
              <a:t>6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ko-KR" sz="1200" spc="-1" strike="noStrike">
                <a:solidFill>
                  <a:schemeClr val="dk1"/>
                </a:solidFill>
                <a:latin typeface="Malgun Gothic"/>
              </a:rPr>
              <a:t>학습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50" name="ft-step-7"/>
          <p:cNvSpPr/>
          <p:nvPr/>
        </p:nvSpPr>
        <p:spPr>
          <a:xfrm>
            <a:off x="7907040" y="1816200"/>
            <a:ext cx="1105920" cy="1117080"/>
          </a:xfrm>
          <a:prstGeom prst="roundRect">
            <a:avLst>
              <a:gd name="adj" fmla="val 8037"/>
            </a:avLst>
          </a:prstGeom>
          <a:solidFill>
            <a:schemeClr val="accent3"/>
          </a:solidFill>
          <a:ln w="25400">
            <a:solidFill>
              <a:srgbClr val="d977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520" rIns="101520" tIns="114480" bIns="114480" anchor="t">
            <a:noAutofit/>
          </a:bodyPr>
          <a:p>
            <a:pPr defTabSz="914400">
              <a:lnSpc>
                <a:spcPct val="12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2"/>
                </a:solidFill>
                <a:latin typeface="Malgun Gothic"/>
              </a:rPr>
              <a:t>7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ko-KR" sz="1200" spc="-1" strike="noStrike">
                <a:solidFill>
                  <a:schemeClr val="dk1"/>
                </a:solidFill>
                <a:latin typeface="Malgun Gothic"/>
              </a:rPr>
              <a:t>평가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51" name="ft-step-8"/>
          <p:cNvSpPr/>
          <p:nvPr/>
        </p:nvSpPr>
        <p:spPr>
          <a:xfrm>
            <a:off x="9089280" y="1816200"/>
            <a:ext cx="1105920" cy="1117080"/>
          </a:xfrm>
          <a:prstGeom prst="roundRect">
            <a:avLst>
              <a:gd name="adj" fmla="val 8037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520" rIns="101520" tIns="114480" bIns="114480" anchor="t">
            <a:noAutofit/>
          </a:bodyPr>
          <a:p>
            <a:pPr defTabSz="914400">
              <a:lnSpc>
                <a:spcPct val="12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2"/>
                </a:solidFill>
                <a:latin typeface="Malgun Gothic"/>
              </a:rPr>
              <a:t>8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ko-KR" sz="1200" spc="-1" strike="noStrike">
                <a:solidFill>
                  <a:schemeClr val="dk1"/>
                </a:solidFill>
                <a:latin typeface="Malgun Gothic"/>
              </a:rPr>
              <a:t>개선 </a:t>
            </a:r>
            <a:r>
              <a:rPr b="1" lang="en-US" sz="1200" spc="-1" strike="noStrike">
                <a:solidFill>
                  <a:schemeClr val="dk1"/>
                </a:solidFill>
                <a:latin typeface="Malgun Gothic"/>
              </a:rPr>
              <a:t>(</a:t>
            </a:r>
            <a:r>
              <a:rPr b="1" lang="ko-KR" sz="1200" spc="-1" strike="noStrike">
                <a:solidFill>
                  <a:schemeClr val="dk1"/>
                </a:solidFill>
                <a:latin typeface="Malgun Gothic"/>
              </a:rPr>
              <a:t>반복</a:t>
            </a:r>
            <a:r>
              <a:rPr b="1" lang="en-US" sz="1200" spc="-1" strike="noStrike">
                <a:solidFill>
                  <a:schemeClr val="dk1"/>
                </a:solidFill>
                <a:latin typeface="Malgun Gothic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52" name="ft-step-9"/>
          <p:cNvSpPr/>
          <p:nvPr/>
        </p:nvSpPr>
        <p:spPr>
          <a:xfrm>
            <a:off x="10271880" y="1816200"/>
            <a:ext cx="1105920" cy="1117080"/>
          </a:xfrm>
          <a:prstGeom prst="roundRect">
            <a:avLst>
              <a:gd name="adj" fmla="val 8037"/>
            </a:avLst>
          </a:prstGeom>
          <a:solidFill>
            <a:schemeClr val="tx1"/>
          </a:solidFill>
          <a:ln w="12700">
            <a:solidFill>
              <a:srgbClr val="1321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520" rIns="101520" tIns="114480" bIns="114480" anchor="t">
            <a:noAutofit/>
          </a:bodyPr>
          <a:p>
            <a:pPr defTabSz="914400">
              <a:lnSpc>
                <a:spcPct val="12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rgbClr val="e89a5b"/>
                </a:solidFill>
                <a:latin typeface="Malgun Gothic"/>
              </a:rPr>
              <a:t>9</a:t>
            </a:r>
            <a:endParaRPr b="0" lang="en-US" sz="1600" spc="-1" strike="noStrike">
              <a:solidFill>
                <a:srgbClr val="ffffff"/>
              </a:solidFill>
              <a:latin typeface="Noto Sans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ko-KR" sz="1200" spc="-1" strike="noStrike">
                <a:solidFill>
                  <a:schemeClr val="lt1"/>
                </a:solidFill>
                <a:latin typeface="Malgun Gothic"/>
              </a:rPr>
              <a:t>배포</a:t>
            </a:r>
            <a:endParaRPr b="0" lang="en-US" sz="12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53" name="Shape 11"/>
          <p:cNvSpPr/>
          <p:nvPr/>
        </p:nvSpPr>
        <p:spPr>
          <a:xfrm>
            <a:off x="4912920" y="2933640"/>
            <a:ext cx="360" cy="203040"/>
          </a:xfrm>
          <a:prstGeom prst="line">
            <a:avLst/>
          </a:prstGeom>
          <a:ln w="25400">
            <a:solidFill>
              <a:srgbClr val="d9772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54" name="Shape 12"/>
          <p:cNvSpPr/>
          <p:nvPr/>
        </p:nvSpPr>
        <p:spPr>
          <a:xfrm>
            <a:off x="4912920" y="3136680"/>
            <a:ext cx="4729320" cy="360"/>
          </a:xfrm>
          <a:prstGeom prst="line">
            <a:avLst/>
          </a:prstGeom>
          <a:ln w="25400">
            <a:solidFill>
              <a:srgbClr val="d9772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55" name="Shape 13"/>
          <p:cNvSpPr/>
          <p:nvPr/>
        </p:nvSpPr>
        <p:spPr>
          <a:xfrm flipV="1">
            <a:off x="9642240" y="2933640"/>
            <a:ext cx="360" cy="203040"/>
          </a:xfrm>
          <a:prstGeom prst="line">
            <a:avLst/>
          </a:prstGeom>
          <a:ln w="25400">
            <a:solidFill>
              <a:srgbClr val="d9772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56" name="Text 14"/>
          <p:cNvSpPr/>
          <p:nvPr/>
        </p:nvSpPr>
        <p:spPr>
          <a:xfrm>
            <a:off x="4912920" y="3200400"/>
            <a:ext cx="634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ko-KR" sz="1200" spc="-1" strike="noStrike">
                <a:solidFill>
                  <a:schemeClr val="accent2"/>
                </a:solidFill>
                <a:latin typeface="Malgun Gothic"/>
              </a:rPr>
              <a:t>평가 결과를 보고 </a:t>
            </a:r>
            <a:r>
              <a:rPr b="1" lang="en-US" sz="1200" spc="-1" strike="noStrike">
                <a:solidFill>
                  <a:schemeClr val="accent2"/>
                </a:solidFill>
                <a:latin typeface="Malgun Gothic"/>
              </a:rPr>
              <a:t>8</a:t>
            </a:r>
            <a:r>
              <a:rPr b="1" lang="ko-KR" sz="1200" spc="-1" strike="noStrike">
                <a:solidFill>
                  <a:schemeClr val="accent2"/>
                </a:solidFill>
                <a:latin typeface="Malgun Gothic"/>
              </a:rPr>
              <a:t>단계에서 </a:t>
            </a:r>
            <a:r>
              <a:rPr b="1" lang="en-US" sz="1200" spc="-1" strike="noStrike">
                <a:solidFill>
                  <a:schemeClr val="accent2"/>
                </a:solidFill>
                <a:latin typeface="Malgun Gothic"/>
              </a:rPr>
              <a:t>4–7</a:t>
            </a:r>
            <a:r>
              <a:rPr b="1" lang="ko-KR" sz="1200" spc="-1" strike="noStrike">
                <a:solidFill>
                  <a:schemeClr val="accent2"/>
                </a:solidFill>
                <a:latin typeface="Malgun Gothic"/>
              </a:rPr>
              <a:t>단계를 다시 돌린다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57" name="Text 15"/>
          <p:cNvSpPr/>
          <p:nvPr/>
        </p:nvSpPr>
        <p:spPr>
          <a:xfrm>
            <a:off x="812880" y="3746520"/>
            <a:ext cx="3936600" cy="19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4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파라미터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 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· </a:t>
            </a:r>
            <a:r>
              <a:rPr b="0" lang="ko-KR" sz="1300" spc="-1" strike="noStrike">
                <a:solidFill>
                  <a:schemeClr val="dk2"/>
                </a:solidFill>
                <a:latin typeface="Malgun Gothic"/>
              </a:rPr>
              <a:t>데이터로 학습되는 모델 내부 값 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(</a:t>
            </a:r>
            <a:r>
              <a:rPr b="0" lang="ko-KR" sz="1300" spc="-1" strike="noStrike">
                <a:solidFill>
                  <a:schemeClr val="dk2"/>
                </a:solidFill>
                <a:latin typeface="Malgun Gothic"/>
              </a:rPr>
              <a:t>가중치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·</a:t>
            </a:r>
            <a:r>
              <a:rPr b="0" lang="ko-KR" sz="1300" spc="-1" strike="noStrike">
                <a:solidFill>
                  <a:schemeClr val="dk2"/>
                </a:solidFill>
                <a:latin typeface="Malgun Gothic"/>
              </a:rPr>
              <a:t>편향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)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하이퍼파라미터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 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· </a:t>
            </a:r>
            <a:r>
              <a:rPr b="0" lang="ko-KR" sz="1300" spc="-1" strike="noStrike">
                <a:solidFill>
                  <a:schemeClr val="dk2"/>
                </a:solidFill>
                <a:latin typeface="Malgun Gothic"/>
              </a:rPr>
              <a:t>사람이 학습 전에 정하는 값 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(</a:t>
            </a:r>
            <a:r>
              <a:rPr b="0" lang="ko-KR" sz="1300" spc="-1" strike="noStrike">
                <a:solidFill>
                  <a:schemeClr val="dk2"/>
                </a:solidFill>
                <a:latin typeface="Malgun Gothic"/>
              </a:rPr>
              <a:t>학습률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, r, alpha, </a:t>
            </a:r>
            <a:r>
              <a:rPr b="0" lang="ko-KR" sz="1300" spc="-1" strike="noStrike">
                <a:solidFill>
                  <a:schemeClr val="dk2"/>
                </a:solidFill>
                <a:latin typeface="Malgun Gothic"/>
              </a:rPr>
              <a:t>에폭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)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오픈 웨이트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 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· Qwen·Llama</a:t>
            </a:r>
            <a:r>
              <a:rPr b="0" lang="ko-KR" sz="1300" spc="-1" strike="noStrike">
                <a:solidFill>
                  <a:schemeClr val="dk2"/>
                </a:solidFill>
                <a:latin typeface="Malgun Gothic"/>
              </a:rPr>
              <a:t>처럼 가중치만 공개된 모델을 받아 미세조정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graphicFrame>
        <p:nvGraphicFramePr>
          <p:cNvPr id="158" name="rag-vs-ft"/>
          <p:cNvGraphicFramePr/>
          <p:nvPr/>
        </p:nvGraphicFramePr>
        <p:xfrm>
          <a:off x="5003640" y="3746520"/>
          <a:ext cx="6374880" cy="1876320"/>
        </p:xfrm>
        <a:graphic>
          <a:graphicData uri="http://schemas.openxmlformats.org/drawingml/2006/table">
            <a:tbl>
              <a:tblPr/>
              <a:tblGrid>
                <a:gridCol w="1523880"/>
                <a:gridCol w="2425680"/>
                <a:gridCol w="2425680"/>
              </a:tblGrid>
              <a:tr h="355320"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ko-KR" sz="13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기준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9360">
                      <a:solidFill>
                        <a:srgbClr val="d3cec3"/>
                      </a:solidFill>
                      <a:prstDash val="solid"/>
                    </a:lnL>
                    <a:lnR w="9360">
                      <a:solidFill>
                        <a:srgbClr val="d3cec3"/>
                      </a:solidFill>
                      <a:prstDash val="solid"/>
                    </a:lnR>
                    <a:lnT w="9360">
                      <a:solidFill>
                        <a:srgbClr val="d3cec3"/>
                      </a:solidFill>
                      <a:prstDash val="solid"/>
                    </a:lnT>
                    <a:lnB w="9360">
                      <a:solidFill>
                        <a:srgbClr val="d3cec3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RAG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9360">
                      <a:solidFill>
                        <a:srgbClr val="d3cec3"/>
                      </a:solidFill>
                      <a:prstDash val="solid"/>
                    </a:lnL>
                    <a:lnR w="9360">
                      <a:solidFill>
                        <a:srgbClr val="d3cec3"/>
                      </a:solidFill>
                      <a:prstDash val="solid"/>
                    </a:lnR>
                    <a:lnT w="9360">
                      <a:solidFill>
                        <a:srgbClr val="d3cec3"/>
                      </a:solidFill>
                      <a:prstDash val="solid"/>
                    </a:lnT>
                    <a:lnB w="9360">
                      <a:solidFill>
                        <a:srgbClr val="d3cec3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Fine-tuning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9360">
                      <a:solidFill>
                        <a:srgbClr val="d3cec3"/>
                      </a:solidFill>
                      <a:prstDash val="solid"/>
                    </a:lnL>
                    <a:lnR w="9360">
                      <a:solidFill>
                        <a:srgbClr val="d3cec3"/>
                      </a:solidFill>
                      <a:prstDash val="solid"/>
                    </a:lnR>
                    <a:lnT w="9360">
                      <a:solidFill>
                        <a:srgbClr val="d3cec3"/>
                      </a:solidFill>
                      <a:prstDash val="solid"/>
                    </a:lnT>
                    <a:lnB w="9360">
                      <a:solidFill>
                        <a:srgbClr val="d3cec3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55320"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3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바꾸는 것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9360">
                      <a:solidFill>
                        <a:srgbClr val="d3cec3"/>
                      </a:solidFill>
                      <a:prstDash val="solid"/>
                    </a:lnL>
                    <a:lnR w="9360">
                      <a:solidFill>
                        <a:srgbClr val="d3cec3"/>
                      </a:solidFill>
                      <a:prstDash val="solid"/>
                    </a:lnR>
                    <a:lnT w="9360">
                      <a:solidFill>
                        <a:srgbClr val="d3cec3"/>
                      </a:solidFill>
                      <a:prstDash val="solid"/>
                    </a:lnT>
                    <a:lnB w="9360">
                      <a:solidFill>
                        <a:srgbClr val="d3cec3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3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프롬프트에 넣는 자료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9360">
                      <a:solidFill>
                        <a:srgbClr val="d3cec3"/>
                      </a:solidFill>
                      <a:prstDash val="solid"/>
                    </a:lnL>
                    <a:lnR w="9360">
                      <a:solidFill>
                        <a:srgbClr val="d3cec3"/>
                      </a:solidFill>
                      <a:prstDash val="solid"/>
                    </a:lnR>
                    <a:lnT w="9360">
                      <a:solidFill>
                        <a:srgbClr val="d3cec3"/>
                      </a:solidFill>
                      <a:prstDash val="solid"/>
                    </a:lnT>
                    <a:lnB w="9360">
                      <a:solidFill>
                        <a:srgbClr val="d3cec3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3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모델의 가중치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9360">
                      <a:solidFill>
                        <a:srgbClr val="d3cec3"/>
                      </a:solidFill>
                      <a:prstDash val="solid"/>
                    </a:lnL>
                    <a:lnR w="9360">
                      <a:solidFill>
                        <a:srgbClr val="d3cec3"/>
                      </a:solidFill>
                      <a:prstDash val="solid"/>
                    </a:lnR>
                    <a:lnT w="9360">
                      <a:solidFill>
                        <a:srgbClr val="d3cec3"/>
                      </a:solidFill>
                      <a:prstDash val="solid"/>
                    </a:lnT>
                    <a:lnB w="9360">
                      <a:solidFill>
                        <a:srgbClr val="d3cec3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</a:tr>
              <a:tr h="355320"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3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강한 분야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9360">
                      <a:solidFill>
                        <a:srgbClr val="d3cec3"/>
                      </a:solidFill>
                      <a:prstDash val="solid"/>
                    </a:lnL>
                    <a:lnR w="9360">
                      <a:solidFill>
                        <a:srgbClr val="d3cec3"/>
                      </a:solidFill>
                      <a:prstDash val="solid"/>
                    </a:lnR>
                    <a:lnT w="9360">
                      <a:solidFill>
                        <a:srgbClr val="d3cec3"/>
                      </a:solidFill>
                      <a:prstDash val="solid"/>
                    </a:lnT>
                    <a:lnB w="9360">
                      <a:solidFill>
                        <a:srgbClr val="d3cec3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3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최신</a:t>
                      </a:r>
                      <a:r>
                        <a:rPr b="0" lang="en-US" sz="13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·</a:t>
                      </a:r>
                      <a:r>
                        <a:rPr b="0" lang="ko-KR" sz="13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사내 지식</a:t>
                      </a:r>
                      <a:r>
                        <a:rPr b="0" lang="en-US" sz="13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, </a:t>
                      </a:r>
                      <a:r>
                        <a:rPr b="0" lang="ko-KR" sz="13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출처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(</a:t>
                      </a:r>
                      <a:r>
                        <a:rPr b="0" lang="ko-KR" sz="10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자주 바뀌는 지식</a:t>
                      </a:r>
                      <a:r>
                        <a:rPr b="0" lang="en-US" sz="10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9360">
                      <a:solidFill>
                        <a:srgbClr val="d3cec3"/>
                      </a:solidFill>
                      <a:prstDash val="solid"/>
                    </a:lnL>
                    <a:lnR w="9360">
                      <a:solidFill>
                        <a:srgbClr val="d3cec3"/>
                      </a:solidFill>
                      <a:prstDash val="solid"/>
                    </a:lnR>
                    <a:lnT w="9360">
                      <a:solidFill>
                        <a:srgbClr val="d3cec3"/>
                      </a:solidFill>
                      <a:prstDash val="solid"/>
                    </a:lnT>
                    <a:lnB w="9360">
                      <a:solidFill>
                        <a:srgbClr val="d3cec3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3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말투</a:t>
                      </a:r>
                      <a:r>
                        <a:rPr b="0" lang="en-US" sz="13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·</a:t>
                      </a:r>
                      <a:r>
                        <a:rPr b="0" lang="ko-KR" sz="13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형식</a:t>
                      </a:r>
                      <a:r>
                        <a:rPr b="0" lang="en-US" sz="13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·</a:t>
                      </a:r>
                      <a:r>
                        <a:rPr b="0" lang="ko-KR" sz="13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특정 작업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(</a:t>
                      </a:r>
                      <a:r>
                        <a:rPr b="0" lang="ko-KR" sz="10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고정된 행동</a:t>
                      </a:r>
                      <a:r>
                        <a:rPr b="0" lang="en-US" sz="10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·</a:t>
                      </a:r>
                      <a:r>
                        <a:rPr b="0" lang="ko-KR" sz="10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형식</a:t>
                      </a:r>
                      <a:r>
                        <a:rPr b="0" lang="en-US" sz="10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9360">
                      <a:solidFill>
                        <a:srgbClr val="d3cec3"/>
                      </a:solidFill>
                      <a:prstDash val="solid"/>
                    </a:lnL>
                    <a:lnR w="9360">
                      <a:solidFill>
                        <a:srgbClr val="d3cec3"/>
                      </a:solidFill>
                      <a:prstDash val="solid"/>
                    </a:lnR>
                    <a:lnT w="9360">
                      <a:solidFill>
                        <a:srgbClr val="d3cec3"/>
                      </a:solidFill>
                      <a:prstDash val="solid"/>
                    </a:lnT>
                    <a:lnB w="9360">
                      <a:solidFill>
                        <a:srgbClr val="d3cec3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</a:tr>
              <a:tr h="355320"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3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정보 갱신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9360">
                      <a:solidFill>
                        <a:srgbClr val="d3cec3"/>
                      </a:solidFill>
                      <a:prstDash val="solid"/>
                    </a:lnL>
                    <a:lnR w="9360">
                      <a:solidFill>
                        <a:srgbClr val="d3cec3"/>
                      </a:solidFill>
                      <a:prstDash val="solid"/>
                    </a:lnR>
                    <a:lnT w="9360">
                      <a:solidFill>
                        <a:srgbClr val="d3cec3"/>
                      </a:solidFill>
                      <a:prstDash val="solid"/>
                    </a:lnT>
                    <a:lnB w="9360">
                      <a:solidFill>
                        <a:srgbClr val="d3cec3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DB</a:t>
                      </a:r>
                      <a:r>
                        <a:rPr b="0" lang="ko-KR" sz="13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만 갱신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9360">
                      <a:solidFill>
                        <a:srgbClr val="d3cec3"/>
                      </a:solidFill>
                      <a:prstDash val="solid"/>
                    </a:lnL>
                    <a:lnR w="9360">
                      <a:solidFill>
                        <a:srgbClr val="d3cec3"/>
                      </a:solidFill>
                      <a:prstDash val="solid"/>
                    </a:lnR>
                    <a:lnT w="9360">
                      <a:solidFill>
                        <a:srgbClr val="d3cec3"/>
                      </a:solidFill>
                      <a:prstDash val="solid"/>
                    </a:lnT>
                    <a:lnB w="9360">
                      <a:solidFill>
                        <a:srgbClr val="d3cec3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3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재학습 필요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9360">
                      <a:solidFill>
                        <a:srgbClr val="d3cec3"/>
                      </a:solidFill>
                      <a:prstDash val="solid"/>
                    </a:lnL>
                    <a:lnR w="9360">
                      <a:solidFill>
                        <a:srgbClr val="d3cec3"/>
                      </a:solidFill>
                      <a:prstDash val="solid"/>
                    </a:lnR>
                    <a:lnT w="9360">
                      <a:solidFill>
                        <a:srgbClr val="d3cec3"/>
                      </a:solidFill>
                      <a:prstDash val="solid"/>
                    </a:lnT>
                    <a:lnB w="9360">
                      <a:solidFill>
                        <a:srgbClr val="d3cec3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</a:tr>
              <a:tr h="355320"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3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비용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9360">
                      <a:solidFill>
                        <a:srgbClr val="d3cec3"/>
                      </a:solidFill>
                      <a:prstDash val="solid"/>
                    </a:lnL>
                    <a:lnR w="9360">
                      <a:solidFill>
                        <a:srgbClr val="d3cec3"/>
                      </a:solidFill>
                      <a:prstDash val="solid"/>
                    </a:lnR>
                    <a:lnT w="9360">
                      <a:solidFill>
                        <a:srgbClr val="d3cec3"/>
                      </a:solidFill>
                      <a:prstDash val="solid"/>
                    </a:lnT>
                    <a:lnB w="9360">
                      <a:solidFill>
                        <a:srgbClr val="d3cec3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3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학습 불필요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9360">
                      <a:solidFill>
                        <a:srgbClr val="d3cec3"/>
                      </a:solidFill>
                      <a:prstDash val="solid"/>
                    </a:lnL>
                    <a:lnR w="9360">
                      <a:solidFill>
                        <a:srgbClr val="d3cec3"/>
                      </a:solidFill>
                      <a:prstDash val="solid"/>
                    </a:lnR>
                    <a:lnT w="9360">
                      <a:solidFill>
                        <a:srgbClr val="d3cec3"/>
                      </a:solidFill>
                      <a:prstDash val="solid"/>
                    </a:lnT>
                    <a:lnB w="9360">
                      <a:solidFill>
                        <a:srgbClr val="d3cec3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GPU·</a:t>
                      </a:r>
                      <a:r>
                        <a:rPr b="0" lang="ko-KR" sz="13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시간 필요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9360">
                      <a:solidFill>
                        <a:srgbClr val="d3cec3"/>
                      </a:solidFill>
                      <a:prstDash val="solid"/>
                    </a:lnL>
                    <a:lnR w="9360">
                      <a:solidFill>
                        <a:srgbClr val="d3cec3"/>
                      </a:solidFill>
                      <a:prstDash val="solid"/>
                    </a:lnR>
                    <a:lnT w="9360">
                      <a:solidFill>
                        <a:srgbClr val="d3cec3"/>
                      </a:solidFill>
                      <a:prstDash val="solid"/>
                    </a:lnT>
                    <a:lnB w="9360">
                      <a:solidFill>
                        <a:srgbClr val="d3cec3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159" name="PlaceHolder 3"/>
          <p:cNvSpPr>
            <a:spLocks noGrp="1"/>
          </p:cNvSpPr>
          <p:nvPr>
            <p:ph type="sldNum" idx="12"/>
          </p:nvPr>
        </p:nvSpPr>
        <p:spPr>
          <a:xfrm>
            <a:off x="10744200" y="6222960"/>
            <a:ext cx="6346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rgbClr val="7a7f8a"/>
                </a:solidFill>
                <a:latin typeface="Malgun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880C8C-59E2-428E-AA33-3D4F697ABD82}" type="slidenum">
              <a:rPr b="0" lang="en-US" sz="1200" spc="-1" strike="noStrike">
                <a:solidFill>
                  <a:srgbClr val="7a7f8a"/>
                </a:solidFill>
                <a:latin typeface="Malgun Gothic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/>
          </p:nvPr>
        </p:nvSpPr>
        <p:spPr>
          <a:xfrm>
            <a:off x="812880" y="749160"/>
            <a:ext cx="10566000" cy="25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3</a:t>
            </a:r>
            <a:r>
              <a:rPr b="1" lang="ko-KR" sz="1200" spc="97" strike="noStrike">
                <a:solidFill>
                  <a:schemeClr val="accent2"/>
                </a:solidFill>
                <a:latin typeface="Malgun Gothic"/>
              </a:rPr>
              <a:t>일차 </a:t>
            </a: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· LoRA </a:t>
            </a:r>
            <a:r>
              <a:rPr b="1" lang="ko-KR" sz="1200" spc="97" strike="noStrike">
                <a:solidFill>
                  <a:schemeClr val="accent2"/>
                </a:solidFill>
                <a:latin typeface="Malgun Gothic"/>
              </a:rPr>
              <a:t>구조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title"/>
          </p:nvPr>
        </p:nvSpPr>
        <p:spPr>
          <a:xfrm>
            <a:off x="812880" y="1028880"/>
            <a:ext cx="10566000" cy="5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Malgun Gothic"/>
              </a:rPr>
              <a:t>LoRA: </a:t>
            </a: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원래 가중치는 고정</a:t>
            </a:r>
            <a:r>
              <a:rPr b="1" lang="en-US" sz="3000" spc="-1" strike="noStrike">
                <a:solidFill>
                  <a:schemeClr val="dk1"/>
                </a:solidFill>
                <a:latin typeface="Malgun Gothic"/>
              </a:rPr>
              <a:t>, </a:t>
            </a: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작은 어댑터만 학습</a:t>
            </a:r>
            <a:endParaRPr b="0" lang="en-US" sz="30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62" name="input"/>
          <p:cNvSpPr/>
          <p:nvPr/>
        </p:nvSpPr>
        <p:spPr>
          <a:xfrm>
            <a:off x="812880" y="3111480"/>
            <a:ext cx="888480" cy="634680"/>
          </a:xfrm>
          <a:prstGeom prst="roundRect">
            <a:avLst>
              <a:gd name="adj" fmla="val 14000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1" lang="ko-KR" sz="1400" spc="-1" strike="noStrike">
                <a:solidFill>
                  <a:schemeClr val="dk1"/>
                </a:solidFill>
                <a:latin typeface="Malgun Gothic"/>
              </a:rPr>
              <a:t>입력 </a:t>
            </a:r>
            <a:r>
              <a:rPr b="1" lang="en-US" sz="1400" spc="-1" strike="noStrike">
                <a:solidFill>
                  <a:schemeClr val="dk1"/>
                </a:solidFill>
                <a:latin typeface="Malgun Gothic"/>
              </a:rPr>
              <a:t>x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63" name="W-frozen"/>
          <p:cNvSpPr/>
          <p:nvPr/>
        </p:nvSpPr>
        <p:spPr>
          <a:xfrm>
            <a:off x="2209680" y="1968480"/>
            <a:ext cx="2793600" cy="952200"/>
          </a:xfrm>
          <a:prstGeom prst="roundRect">
            <a:avLst>
              <a:gd name="adj" fmla="val 9333"/>
            </a:avLst>
          </a:prstGeom>
          <a:solidFill>
            <a:srgbClr val="e6e0d4"/>
          </a:solidFill>
          <a:ln w="12700">
            <a:solidFill>
              <a:srgbClr val="b9b2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7840" rIns="177840" tIns="127080" bIns="127080" anchor="ctr">
            <a:noAutofit/>
          </a:bodyPr>
          <a:p>
            <a:pPr defTabSz="914400">
              <a:lnSpc>
                <a:spcPct val="12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Malgun Gothic"/>
              </a:rPr>
              <a:t>W · </a:t>
            </a:r>
            <a:r>
              <a:rPr b="1" lang="ko-KR" sz="1400" spc="-1" strike="noStrike">
                <a:solidFill>
                  <a:schemeClr val="dk1"/>
                </a:solidFill>
                <a:latin typeface="Malgun Gothic"/>
              </a:rPr>
              <a:t>사전학습 가중치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고정 — 학습하지 않음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(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수십억 개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64" name="adapter-A"/>
          <p:cNvSpPr/>
          <p:nvPr/>
        </p:nvSpPr>
        <p:spPr>
          <a:xfrm>
            <a:off x="2209680" y="3936960"/>
            <a:ext cx="1269720" cy="952200"/>
          </a:xfrm>
          <a:prstGeom prst="roundRect">
            <a:avLst>
              <a:gd name="adj" fmla="val 9333"/>
            </a:avLst>
          </a:prstGeom>
          <a:solidFill>
            <a:schemeClr val="accent3"/>
          </a:solidFill>
          <a:ln w="25400">
            <a:solidFill>
              <a:srgbClr val="d977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39680" rIns="139680" tIns="127080" bIns="127080" anchor="ctr">
            <a:noAutofit/>
          </a:bodyPr>
          <a:p>
            <a:pPr defTabSz="914400">
              <a:lnSpc>
                <a:spcPct val="12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Malgun Gothic"/>
              </a:rPr>
              <a:t>A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r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차원으로 축소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65" name="adapter-B"/>
          <p:cNvSpPr/>
          <p:nvPr/>
        </p:nvSpPr>
        <p:spPr>
          <a:xfrm>
            <a:off x="3733920" y="3936960"/>
            <a:ext cx="1269720" cy="952200"/>
          </a:xfrm>
          <a:prstGeom prst="roundRect">
            <a:avLst>
              <a:gd name="adj" fmla="val 9333"/>
            </a:avLst>
          </a:prstGeom>
          <a:solidFill>
            <a:schemeClr val="accent3"/>
          </a:solidFill>
          <a:ln w="25400">
            <a:solidFill>
              <a:srgbClr val="d977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39680" rIns="139680" tIns="127080" bIns="127080" anchor="ctr">
            <a:noAutofit/>
          </a:bodyPr>
          <a:p>
            <a:pPr defTabSz="914400">
              <a:lnSpc>
                <a:spcPct val="12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Malgun Gothic"/>
              </a:rPr>
              <a:t>B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원래 차원으로 복원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66" name="sum"/>
          <p:cNvSpPr/>
          <p:nvPr/>
        </p:nvSpPr>
        <p:spPr>
          <a:xfrm>
            <a:off x="5384880" y="3174840"/>
            <a:ext cx="507600" cy="507600"/>
          </a:xfrm>
          <a:prstGeom prst="ellipse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lt1"/>
                </a:solidFill>
                <a:latin typeface="Malgun Gothic"/>
              </a:rPr>
              <a:t>+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67" name="output"/>
          <p:cNvSpPr/>
          <p:nvPr/>
        </p:nvSpPr>
        <p:spPr>
          <a:xfrm>
            <a:off x="6273720" y="3111480"/>
            <a:ext cx="888480" cy="634680"/>
          </a:xfrm>
          <a:prstGeom prst="roundRect">
            <a:avLst>
              <a:gd name="adj" fmla="val 14000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1" lang="ko-KR" sz="1400" spc="-1" strike="noStrike">
                <a:solidFill>
                  <a:schemeClr val="dk1"/>
                </a:solidFill>
                <a:latin typeface="Malgun Gothic"/>
              </a:rPr>
              <a:t>출력 </a:t>
            </a:r>
            <a:r>
              <a:rPr b="1" lang="en-US" sz="1400" spc="-1" strike="noStrike">
                <a:solidFill>
                  <a:schemeClr val="dk1"/>
                </a:solidFill>
                <a:latin typeface="Malgun Gothic"/>
              </a:rPr>
              <a:t>h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68" name="Shape 8"/>
          <p:cNvSpPr/>
          <p:nvPr/>
        </p:nvSpPr>
        <p:spPr>
          <a:xfrm flipV="1">
            <a:off x="1257120" y="2444400"/>
            <a:ext cx="360" cy="667080"/>
          </a:xfrm>
          <a:prstGeom prst="line">
            <a:avLst/>
          </a:prstGeom>
          <a:ln w="25400">
            <a:solidFill>
              <a:srgbClr val="8a8f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69" name="Shape 9"/>
          <p:cNvSpPr/>
          <p:nvPr/>
        </p:nvSpPr>
        <p:spPr>
          <a:xfrm>
            <a:off x="1257120" y="2444400"/>
            <a:ext cx="952560" cy="360"/>
          </a:xfrm>
          <a:prstGeom prst="line">
            <a:avLst/>
          </a:prstGeom>
          <a:ln w="25400">
            <a:solidFill>
              <a:srgbClr val="8a8f9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70" name="Shape 10"/>
          <p:cNvSpPr/>
          <p:nvPr/>
        </p:nvSpPr>
        <p:spPr>
          <a:xfrm>
            <a:off x="1257120" y="3746160"/>
            <a:ext cx="360" cy="667080"/>
          </a:xfrm>
          <a:prstGeom prst="line">
            <a:avLst/>
          </a:prstGeom>
          <a:ln w="25400">
            <a:solidFill>
              <a:srgbClr val="d977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71" name="Shape 11"/>
          <p:cNvSpPr/>
          <p:nvPr/>
        </p:nvSpPr>
        <p:spPr>
          <a:xfrm>
            <a:off x="1257120" y="4413240"/>
            <a:ext cx="952560" cy="360"/>
          </a:xfrm>
          <a:prstGeom prst="line">
            <a:avLst/>
          </a:prstGeom>
          <a:ln w="25400">
            <a:solidFill>
              <a:srgbClr val="d9772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72" name="Shape 12"/>
          <p:cNvSpPr/>
          <p:nvPr/>
        </p:nvSpPr>
        <p:spPr>
          <a:xfrm>
            <a:off x="3479760" y="4413240"/>
            <a:ext cx="253800" cy="360"/>
          </a:xfrm>
          <a:prstGeom prst="line">
            <a:avLst/>
          </a:prstGeom>
          <a:ln w="25400">
            <a:solidFill>
              <a:srgbClr val="d9772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73" name="Shape 13"/>
          <p:cNvSpPr/>
          <p:nvPr/>
        </p:nvSpPr>
        <p:spPr>
          <a:xfrm>
            <a:off x="5003640" y="2444400"/>
            <a:ext cx="635040" cy="360"/>
          </a:xfrm>
          <a:prstGeom prst="line">
            <a:avLst/>
          </a:prstGeom>
          <a:ln w="25400">
            <a:solidFill>
              <a:srgbClr val="8a8f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74" name="Shape 14"/>
          <p:cNvSpPr/>
          <p:nvPr/>
        </p:nvSpPr>
        <p:spPr>
          <a:xfrm>
            <a:off x="5638680" y="2444400"/>
            <a:ext cx="360" cy="730440"/>
          </a:xfrm>
          <a:prstGeom prst="line">
            <a:avLst/>
          </a:prstGeom>
          <a:ln w="25400">
            <a:solidFill>
              <a:srgbClr val="8a8f9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75" name="Shape 15"/>
          <p:cNvSpPr/>
          <p:nvPr/>
        </p:nvSpPr>
        <p:spPr>
          <a:xfrm>
            <a:off x="5003640" y="4413240"/>
            <a:ext cx="635040" cy="360"/>
          </a:xfrm>
          <a:prstGeom prst="line">
            <a:avLst/>
          </a:prstGeom>
          <a:ln w="25400">
            <a:solidFill>
              <a:srgbClr val="d977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76" name="Shape 16"/>
          <p:cNvSpPr/>
          <p:nvPr/>
        </p:nvSpPr>
        <p:spPr>
          <a:xfrm flipV="1">
            <a:off x="5638680" y="3682800"/>
            <a:ext cx="360" cy="730440"/>
          </a:xfrm>
          <a:prstGeom prst="line">
            <a:avLst/>
          </a:prstGeom>
          <a:ln w="25400">
            <a:solidFill>
              <a:srgbClr val="d9772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77" name="Shape 17"/>
          <p:cNvSpPr/>
          <p:nvPr/>
        </p:nvSpPr>
        <p:spPr>
          <a:xfrm>
            <a:off x="5892480" y="3429000"/>
            <a:ext cx="381240" cy="360"/>
          </a:xfrm>
          <a:prstGeom prst="line">
            <a:avLst/>
          </a:prstGeom>
          <a:ln w="25400">
            <a:solidFill>
              <a:srgbClr val="13213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78" name="Text 18"/>
          <p:cNvSpPr/>
          <p:nvPr/>
        </p:nvSpPr>
        <p:spPr>
          <a:xfrm>
            <a:off x="5791320" y="2540160"/>
            <a:ext cx="126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Wx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79" name="Text 19"/>
          <p:cNvSpPr/>
          <p:nvPr/>
        </p:nvSpPr>
        <p:spPr>
          <a:xfrm>
            <a:off x="5791320" y="412740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accent2"/>
                </a:solidFill>
                <a:latin typeface="Malgun Gothic"/>
              </a:rPr>
              <a:t>BAx × (α / r)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80" name="Text 20"/>
          <p:cNvSpPr/>
          <p:nvPr/>
        </p:nvSpPr>
        <p:spPr>
          <a:xfrm>
            <a:off x="2209680" y="4991040"/>
            <a:ext cx="2793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ko-KR" sz="1200" spc="-1" strike="noStrike">
                <a:solidFill>
                  <a:schemeClr val="accent2"/>
                </a:solidFill>
                <a:latin typeface="Malgun Gothic"/>
              </a:rPr>
              <a:t>어댑터 </a:t>
            </a:r>
            <a:r>
              <a:rPr b="1" lang="en-US" sz="1200" spc="-1" strike="noStrike">
                <a:solidFill>
                  <a:schemeClr val="accent2"/>
                </a:solidFill>
                <a:latin typeface="Malgun Gothic"/>
              </a:rPr>
              <a:t>= </a:t>
            </a:r>
            <a:r>
              <a:rPr b="1" lang="ko-KR" sz="1200" spc="-1" strike="noStrike">
                <a:solidFill>
                  <a:schemeClr val="accent2"/>
                </a:solidFill>
                <a:latin typeface="Malgun Gothic"/>
              </a:rPr>
              <a:t>학습 대상 </a:t>
            </a:r>
            <a:r>
              <a:rPr b="1" lang="en-US" sz="1200" spc="-1" strike="noStrike">
                <a:solidFill>
                  <a:schemeClr val="accent2"/>
                </a:solidFill>
                <a:latin typeface="Malgun Gothic"/>
              </a:rPr>
              <a:t>(</a:t>
            </a:r>
            <a:r>
              <a:rPr b="1" lang="ko-KR" sz="1200" spc="-1" strike="noStrike">
                <a:solidFill>
                  <a:schemeClr val="accent2"/>
                </a:solidFill>
                <a:latin typeface="Malgun Gothic"/>
              </a:rPr>
              <a:t>아주 작음</a:t>
            </a:r>
            <a:r>
              <a:rPr b="1" lang="en-US" sz="1200" spc="-1" strike="noStrike">
                <a:solidFill>
                  <a:schemeClr val="accent2"/>
                </a:solidFill>
                <a:latin typeface="Malgun Gothic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81" name="Text 21"/>
          <p:cNvSpPr/>
          <p:nvPr/>
        </p:nvSpPr>
        <p:spPr>
          <a:xfrm>
            <a:off x="7467480" y="1841400"/>
            <a:ext cx="39114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ko-KR" sz="1500" spc="-1" strike="noStrike">
                <a:solidFill>
                  <a:schemeClr val="dk1"/>
                </a:solidFill>
                <a:latin typeface="Malgun Gothic"/>
              </a:rPr>
              <a:t>주요 하이퍼파라미터</a:t>
            </a:r>
            <a:endParaRPr b="0" lang="en-US" sz="1500" spc="-1" strike="noStrike">
              <a:solidFill>
                <a:srgbClr val="000000"/>
              </a:solidFill>
              <a:latin typeface="Noto Sans KR"/>
            </a:endParaRPr>
          </a:p>
        </p:txBody>
      </p:sp>
      <p:graphicFrame>
        <p:nvGraphicFramePr>
          <p:cNvPr id="182" name="lora-hp"/>
          <p:cNvGraphicFramePr/>
          <p:nvPr/>
        </p:nvGraphicFramePr>
        <p:xfrm>
          <a:off x="7467480" y="2197080"/>
          <a:ext cx="3911400" cy="1269720"/>
        </p:xfrm>
        <a:graphic>
          <a:graphicData uri="http://schemas.openxmlformats.org/drawingml/2006/table">
            <a:tbl>
              <a:tblPr/>
              <a:tblGrid>
                <a:gridCol w="1269720"/>
                <a:gridCol w="2641320"/>
              </a:tblGrid>
              <a:tr h="31716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ko-KR" sz="12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이름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5960" marR="75960">
                    <a:lnL w="9360">
                      <a:solidFill>
                        <a:srgbClr val="d3cec3"/>
                      </a:solidFill>
                      <a:prstDash val="solid"/>
                    </a:lnL>
                    <a:lnR w="9360">
                      <a:solidFill>
                        <a:srgbClr val="d3cec3"/>
                      </a:solidFill>
                      <a:prstDash val="solid"/>
                    </a:lnR>
                    <a:lnT w="9360">
                      <a:solidFill>
                        <a:srgbClr val="d3cec3"/>
                      </a:solidFill>
                      <a:prstDash val="solid"/>
                    </a:lnT>
                    <a:lnB w="9360">
                      <a:solidFill>
                        <a:srgbClr val="d3cec3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ko-KR" sz="12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의미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5960" marR="75960">
                    <a:lnL w="9360">
                      <a:solidFill>
                        <a:srgbClr val="d3cec3"/>
                      </a:solidFill>
                      <a:prstDash val="solid"/>
                    </a:lnL>
                    <a:lnR w="9360">
                      <a:solidFill>
                        <a:srgbClr val="d3cec3"/>
                      </a:solidFill>
                      <a:prstDash val="solid"/>
                    </a:lnR>
                    <a:lnT w="9360">
                      <a:solidFill>
                        <a:srgbClr val="d3cec3"/>
                      </a:solidFill>
                      <a:prstDash val="solid"/>
                    </a:lnT>
                    <a:lnB w="9360">
                      <a:solidFill>
                        <a:srgbClr val="d3cec3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1716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5960" marR="75960">
                    <a:lnL w="9360">
                      <a:solidFill>
                        <a:srgbClr val="d3cec3"/>
                      </a:solidFill>
                      <a:prstDash val="solid"/>
                    </a:lnL>
                    <a:lnR w="9360">
                      <a:solidFill>
                        <a:srgbClr val="d3cec3"/>
                      </a:solidFill>
                      <a:prstDash val="solid"/>
                    </a:lnR>
                    <a:lnT w="9360">
                      <a:solidFill>
                        <a:srgbClr val="d3cec3"/>
                      </a:solidFill>
                      <a:prstDash val="solid"/>
                    </a:lnT>
                    <a:lnB w="9360">
                      <a:solidFill>
                        <a:srgbClr val="d3cec3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어댑터 폭</a:t>
                      </a: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, </a:t>
                      </a: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주로 </a:t>
                      </a: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8~16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5960" marR="75960">
                    <a:lnL w="9360">
                      <a:solidFill>
                        <a:srgbClr val="d3cec3"/>
                      </a:solidFill>
                      <a:prstDash val="solid"/>
                    </a:lnL>
                    <a:lnR w="9360">
                      <a:solidFill>
                        <a:srgbClr val="d3cec3"/>
                      </a:solidFill>
                      <a:prstDash val="solid"/>
                    </a:lnR>
                    <a:lnT w="9360">
                      <a:solidFill>
                        <a:srgbClr val="d3cec3"/>
                      </a:solidFill>
                      <a:prstDash val="solid"/>
                    </a:lnT>
                    <a:lnB w="9360">
                      <a:solidFill>
                        <a:srgbClr val="d3cec3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</a:tr>
              <a:tr h="31716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alpha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5960" marR="75960">
                    <a:lnL w="9360">
                      <a:solidFill>
                        <a:srgbClr val="d3cec3"/>
                      </a:solidFill>
                      <a:prstDash val="solid"/>
                    </a:lnL>
                    <a:lnR w="9360">
                      <a:solidFill>
                        <a:srgbClr val="d3cec3"/>
                      </a:solidFill>
                      <a:prstDash val="solid"/>
                    </a:lnR>
                    <a:lnT w="9360">
                      <a:solidFill>
                        <a:srgbClr val="d3cec3"/>
                      </a:solidFill>
                      <a:prstDash val="solid"/>
                    </a:lnT>
                    <a:lnB w="9360">
                      <a:solidFill>
                        <a:srgbClr val="d3cec3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어댑터 출력 배율</a:t>
                      </a: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(</a:t>
                      </a: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영향력</a:t>
                      </a: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5960" marR="75960">
                    <a:lnL w="9360">
                      <a:solidFill>
                        <a:srgbClr val="d3cec3"/>
                      </a:solidFill>
                      <a:prstDash val="solid"/>
                    </a:lnL>
                    <a:lnR w="9360">
                      <a:solidFill>
                        <a:srgbClr val="d3cec3"/>
                      </a:solidFill>
                      <a:prstDash val="solid"/>
                    </a:lnR>
                    <a:lnT w="9360">
                      <a:solidFill>
                        <a:srgbClr val="d3cec3"/>
                      </a:solidFill>
                      <a:prstDash val="solid"/>
                    </a:lnT>
                    <a:lnB w="9360">
                      <a:solidFill>
                        <a:srgbClr val="d3cec3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</a:tr>
              <a:tr h="317160"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learning rate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5960" marR="75960">
                    <a:lnL w="9360">
                      <a:solidFill>
                        <a:srgbClr val="d3cec3"/>
                      </a:solidFill>
                      <a:prstDash val="solid"/>
                    </a:lnL>
                    <a:lnR w="9360">
                      <a:solidFill>
                        <a:srgbClr val="d3cec3"/>
                      </a:solidFill>
                      <a:prstDash val="solid"/>
                    </a:lnR>
                    <a:lnT w="9360">
                      <a:solidFill>
                        <a:srgbClr val="d3cec3"/>
                      </a:solidFill>
                      <a:prstDash val="solid"/>
                    </a:lnT>
                    <a:lnB w="9360">
                      <a:solidFill>
                        <a:srgbClr val="d3cec3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75960" rIns="7596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Malgun Gothic"/>
                        </a:rPr>
                        <a:t>가중치 수정 정도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5960" marR="75960">
                    <a:lnL w="9360">
                      <a:solidFill>
                        <a:srgbClr val="d3cec3"/>
                      </a:solidFill>
                      <a:prstDash val="solid"/>
                    </a:lnL>
                    <a:lnR w="9360">
                      <a:solidFill>
                        <a:srgbClr val="d3cec3"/>
                      </a:solidFill>
                      <a:prstDash val="solid"/>
                    </a:lnR>
                    <a:lnT w="9360">
                      <a:solidFill>
                        <a:srgbClr val="d3cec3"/>
                      </a:solidFill>
                      <a:prstDash val="solid"/>
                    </a:lnT>
                    <a:lnB w="9360">
                      <a:solidFill>
                        <a:srgbClr val="d3cec3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183" name="qlora"/>
          <p:cNvSpPr/>
          <p:nvPr/>
        </p:nvSpPr>
        <p:spPr>
          <a:xfrm>
            <a:off x="7467480" y="3606840"/>
            <a:ext cx="3911400" cy="952200"/>
          </a:xfrm>
          <a:prstGeom prst="roundRect">
            <a:avLst>
              <a:gd name="adj" fmla="val 9333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7840" rIns="177840" tIns="139680" bIns="139680" anchor="t">
            <a:noAutofit/>
          </a:bodyPr>
          <a:p>
            <a:pPr defTabSz="914400">
              <a:lnSpc>
                <a:spcPct val="125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lt1"/>
                </a:solidFill>
                <a:latin typeface="Malgun Gothic"/>
              </a:rPr>
              <a:t>QLoRA = LoRA + 4bit </a:t>
            </a:r>
            <a:r>
              <a:rPr b="1" lang="ko-KR" sz="1400" spc="-1" strike="noStrike">
                <a:solidFill>
                  <a:schemeClr val="lt1"/>
                </a:solidFill>
                <a:latin typeface="Malgun Gothic"/>
              </a:rPr>
              <a:t>양자화</a:t>
            </a:r>
            <a:endParaRPr b="0" lang="en-US" sz="1400" spc="-1" strike="noStrike">
              <a:solidFill>
                <a:srgbClr val="ffffff"/>
              </a:solidFill>
              <a:latin typeface="Noto Sans KR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c9d2e0"/>
                </a:solidFill>
                <a:latin typeface="Malgun Gothic"/>
              </a:rPr>
              <a:t>가중치를 </a:t>
            </a:r>
            <a:r>
              <a:rPr b="0" lang="en-US" sz="1200" spc="-1" strike="noStrike">
                <a:solidFill>
                  <a:srgbClr val="c9d2e0"/>
                </a:solidFill>
                <a:latin typeface="Malgun Gothic"/>
              </a:rPr>
              <a:t>16bit → 4bit(</a:t>
            </a:r>
            <a:r>
              <a:rPr b="0" lang="ko-KR" sz="1200" spc="-1" strike="noStrike">
                <a:solidFill>
                  <a:srgbClr val="c9d2e0"/>
                </a:solidFill>
                <a:latin typeface="Malgun Gothic"/>
              </a:rPr>
              <a:t>정규분포 기반</a:t>
            </a:r>
            <a:r>
              <a:rPr b="0" lang="en-US" sz="1200" spc="-1" strike="noStrike">
                <a:solidFill>
                  <a:srgbClr val="c9d2e0"/>
                </a:solidFill>
                <a:latin typeface="Malgun Gothic"/>
              </a:rPr>
              <a:t>)</a:t>
            </a:r>
            <a:r>
              <a:rPr b="0" lang="ko-KR" sz="1200" spc="-1" strike="noStrike">
                <a:solidFill>
                  <a:srgbClr val="c9d2e0"/>
                </a:solidFill>
                <a:latin typeface="Malgun Gothic"/>
              </a:rPr>
              <a:t>로 줄여 메모리 절감 → </a:t>
            </a:r>
            <a:r>
              <a:rPr b="0" lang="en-US" sz="1200" spc="-1" strike="noStrike">
                <a:solidFill>
                  <a:srgbClr val="c9d2e0"/>
                </a:solidFill>
                <a:latin typeface="Malgun Gothic"/>
              </a:rPr>
              <a:t>Colab</a:t>
            </a:r>
            <a:r>
              <a:rPr b="0" lang="ko-KR" sz="1200" spc="-1" strike="noStrike">
                <a:solidFill>
                  <a:srgbClr val="c9d2e0"/>
                </a:solidFill>
                <a:latin typeface="Malgun Gothic"/>
              </a:rPr>
              <a:t>같은 제한된 </a:t>
            </a:r>
            <a:r>
              <a:rPr b="0" lang="en-US" sz="1200" spc="-1" strike="noStrike">
                <a:solidFill>
                  <a:srgbClr val="c9d2e0"/>
                </a:solidFill>
                <a:latin typeface="Malgun Gothic"/>
              </a:rPr>
              <a:t>GPU</a:t>
            </a:r>
            <a:r>
              <a:rPr b="0" lang="ko-KR" sz="1200" spc="-1" strike="noStrike">
                <a:solidFill>
                  <a:srgbClr val="c9d2e0"/>
                </a:solidFill>
                <a:latin typeface="Malgun Gothic"/>
              </a:rPr>
              <a:t>에서도 학습</a:t>
            </a:r>
            <a:endParaRPr b="0" lang="en-US" sz="12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84" name="Text 23"/>
          <p:cNvSpPr/>
          <p:nvPr/>
        </p:nvSpPr>
        <p:spPr>
          <a:xfrm>
            <a:off x="7467480" y="4699080"/>
            <a:ext cx="391140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1" lang="ko-KR" sz="1200" spc="-1" strike="noStrike">
                <a:solidFill>
                  <a:schemeClr val="dk1"/>
                </a:solidFill>
                <a:latin typeface="Malgun Gothic"/>
              </a:rPr>
              <a:t>장점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·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메모리 절감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·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작은 결과물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·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작업별 어댑터 교체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·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추론 지연 없음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·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전체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미세조정에 가까운 성능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13"/>
          </p:nvPr>
        </p:nvSpPr>
        <p:spPr>
          <a:xfrm>
            <a:off x="10744200" y="6222960"/>
            <a:ext cx="6346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rgbClr val="7a7f8a"/>
                </a:solidFill>
                <a:latin typeface="Malgun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B59D77-ECB7-467E-8379-C9C1D33155F2}" type="slidenum">
              <a:rPr b="0" lang="en-US" sz="1200" spc="-1" strike="noStrike">
                <a:solidFill>
                  <a:srgbClr val="7a7f8a"/>
                </a:solidFill>
                <a:latin typeface="Malgun Gothic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/>
          </p:nvPr>
        </p:nvSpPr>
        <p:spPr>
          <a:xfrm>
            <a:off x="812880" y="749160"/>
            <a:ext cx="10566000" cy="25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4</a:t>
            </a:r>
            <a:r>
              <a:rPr b="1" lang="ko-KR" sz="1200" spc="97" strike="noStrike">
                <a:solidFill>
                  <a:schemeClr val="accent2"/>
                </a:solidFill>
                <a:latin typeface="Malgun Gothic"/>
              </a:rPr>
              <a:t>일차 </a:t>
            </a: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· AI </a:t>
            </a:r>
            <a:r>
              <a:rPr b="1" lang="ko-KR" sz="1200" spc="97" strike="noStrike">
                <a:solidFill>
                  <a:schemeClr val="accent2"/>
                </a:solidFill>
                <a:latin typeface="Malgun Gothic"/>
              </a:rPr>
              <a:t>에이전트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title"/>
          </p:nvPr>
        </p:nvSpPr>
        <p:spPr>
          <a:xfrm>
            <a:off x="812880" y="1028880"/>
            <a:ext cx="10566000" cy="5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Malgun Gothic"/>
              </a:rPr>
              <a:t>Anthropic</a:t>
            </a:r>
            <a:br>
              <a:rPr sz="3000"/>
            </a:b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에이전트는 일을 위임하는 것</a:t>
            </a:r>
            <a:r>
              <a:rPr b="1" lang="en-US" sz="3000" spc="-1" strike="noStrike">
                <a:solidFill>
                  <a:schemeClr val="dk1"/>
                </a:solidFill>
                <a:latin typeface="Malgun Gothic"/>
              </a:rPr>
              <a:t>, </a:t>
            </a: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핵심은 통제</a:t>
            </a:r>
            <a:endParaRPr b="0" lang="en-US" sz="30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88" name="workflow"/>
          <p:cNvSpPr/>
          <p:nvPr/>
        </p:nvSpPr>
        <p:spPr>
          <a:xfrm>
            <a:off x="812880" y="2333880"/>
            <a:ext cx="5206680" cy="1142640"/>
          </a:xfrm>
          <a:prstGeom prst="roundRect">
            <a:avLst>
              <a:gd name="adj" fmla="val 7778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28600" rIns="228600" tIns="177840" bIns="177840" anchor="t">
            <a:noAutofit/>
          </a:bodyPr>
          <a:p>
            <a:pPr defTabSz="914400">
              <a:lnSpc>
                <a:spcPct val="125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ko-KR" sz="1600" spc="-1" strike="noStrike">
                <a:solidFill>
                  <a:schemeClr val="dk1"/>
                </a:solidFill>
                <a:latin typeface="Malgun Gothic"/>
              </a:rPr>
              <a:t>워크플로 </a:t>
            </a:r>
            <a:r>
              <a:rPr b="1" lang="en-US" sz="1600" spc="-1" strike="noStrike">
                <a:solidFill>
                  <a:schemeClr val="dk1"/>
                </a:solidFill>
                <a:latin typeface="Malgun Gothic"/>
              </a:rPr>
              <a:t>(Workflow)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LLM</a:t>
            </a:r>
            <a:r>
              <a:rPr b="0" lang="ko-KR" sz="1300" spc="-1" strike="noStrike">
                <a:solidFill>
                  <a:schemeClr val="dk2"/>
                </a:solidFill>
                <a:latin typeface="Malgun Gothic"/>
              </a:rPr>
              <a:t>과 도구가 </a:t>
            </a: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미리 정한 코드 경로</a:t>
            </a:r>
            <a:r>
              <a:rPr b="0" lang="ko-KR" sz="1300" spc="-1" strike="noStrike">
                <a:solidFill>
                  <a:schemeClr val="dk2"/>
                </a:solidFill>
                <a:latin typeface="Malgun Gothic"/>
              </a:rPr>
              <a:t>대로 조율됨 → 예측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·</a:t>
            </a:r>
            <a:r>
              <a:rPr b="0" lang="ko-KR" sz="1300" spc="-1" strike="noStrike">
                <a:solidFill>
                  <a:schemeClr val="dk2"/>
                </a:solidFill>
                <a:latin typeface="Malgun Gothic"/>
              </a:rPr>
              <a:t>통제 쉬움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89" name="agent"/>
          <p:cNvSpPr/>
          <p:nvPr/>
        </p:nvSpPr>
        <p:spPr>
          <a:xfrm>
            <a:off x="6172200" y="2333880"/>
            <a:ext cx="5206680" cy="1142640"/>
          </a:xfrm>
          <a:prstGeom prst="roundRect">
            <a:avLst>
              <a:gd name="adj" fmla="val 7778"/>
            </a:avLst>
          </a:prstGeom>
          <a:solidFill>
            <a:schemeClr val="accent3"/>
          </a:solidFill>
          <a:ln w="25400">
            <a:solidFill>
              <a:srgbClr val="d977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28600" rIns="228600" tIns="177840" bIns="177840" anchor="t">
            <a:noAutofit/>
          </a:bodyPr>
          <a:p>
            <a:pPr defTabSz="914400">
              <a:lnSpc>
                <a:spcPct val="125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ko-KR" sz="1600" spc="-1" strike="noStrike">
                <a:solidFill>
                  <a:schemeClr val="dk1"/>
                </a:solidFill>
                <a:latin typeface="Malgun Gothic"/>
              </a:rPr>
              <a:t>에이전트 </a:t>
            </a:r>
            <a:r>
              <a:rPr b="1" lang="en-US" sz="1600" spc="-1" strike="noStrike">
                <a:solidFill>
                  <a:schemeClr val="dk1"/>
                </a:solidFill>
                <a:latin typeface="Malgun Gothic"/>
              </a:rPr>
              <a:t>(Agent)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LLM</a:t>
            </a:r>
            <a:r>
              <a:rPr b="0" lang="ko-KR" sz="1300" spc="-1" strike="noStrike">
                <a:solidFill>
                  <a:schemeClr val="dk2"/>
                </a:solidFill>
                <a:latin typeface="Malgun Gothic"/>
              </a:rPr>
              <a:t>이 </a:t>
            </a: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작업 절차와 도구 사용을 스스로 결정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 → 유연하지만 추적 어려움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90" name="Text 4"/>
          <p:cNvSpPr/>
          <p:nvPr/>
        </p:nvSpPr>
        <p:spPr>
          <a:xfrm>
            <a:off x="812880" y="3731040"/>
            <a:ext cx="105660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ko-KR" sz="1500" spc="-1" strike="noStrike">
                <a:solidFill>
                  <a:schemeClr val="dk1"/>
                </a:solidFill>
                <a:latin typeface="Malgun Gothic"/>
              </a:rPr>
              <a:t>누가 결정하나</a:t>
            </a:r>
            <a:r>
              <a:rPr b="1" lang="en-US" sz="1500" spc="-1" strike="noStrike">
                <a:solidFill>
                  <a:schemeClr val="dk1"/>
                </a:solidFill>
                <a:latin typeface="Malgun Gothic"/>
              </a:rPr>
              <a:t>? — </a:t>
            </a:r>
            <a:r>
              <a:rPr b="1" lang="ko-KR" sz="1500" spc="-1" strike="noStrike">
                <a:solidFill>
                  <a:schemeClr val="dk1"/>
                </a:solidFill>
                <a:latin typeface="Malgun Gothic"/>
              </a:rPr>
              <a:t>영업 메일 실습의 세 가지 방식</a:t>
            </a:r>
            <a:endParaRPr b="0" lang="en-US" sz="15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91" name="way-1"/>
          <p:cNvSpPr/>
          <p:nvPr/>
        </p:nvSpPr>
        <p:spPr>
          <a:xfrm>
            <a:off x="812880" y="4099320"/>
            <a:ext cx="3217320" cy="952200"/>
          </a:xfrm>
          <a:prstGeom prst="roundRect">
            <a:avLst>
              <a:gd name="adj" fmla="val 9333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7840" rIns="177840" tIns="139680" bIns="139680" anchor="t">
            <a:noAutofit/>
          </a:bodyPr>
          <a:p>
            <a:pPr defTabSz="914400">
              <a:lnSpc>
                <a:spcPct val="125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Malgun Gothic"/>
              </a:rPr>
              <a:t>① </a:t>
            </a:r>
            <a:r>
              <a:rPr b="1" lang="ko-KR" sz="1400" spc="-1" strike="noStrike">
                <a:solidFill>
                  <a:schemeClr val="dk1"/>
                </a:solidFill>
                <a:latin typeface="Malgun Gothic"/>
              </a:rPr>
              <a:t>코드가 결정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순서 고정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·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디버깅 쉬움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·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가장 안전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92" name="Shape 6"/>
          <p:cNvSpPr/>
          <p:nvPr/>
        </p:nvSpPr>
        <p:spPr>
          <a:xfrm>
            <a:off x="4132080" y="4499280"/>
            <a:ext cx="253800" cy="1519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93" name="way-2"/>
          <p:cNvSpPr/>
          <p:nvPr/>
        </p:nvSpPr>
        <p:spPr>
          <a:xfrm>
            <a:off x="4487400" y="4099320"/>
            <a:ext cx="3217320" cy="952200"/>
          </a:xfrm>
          <a:prstGeom prst="roundRect">
            <a:avLst>
              <a:gd name="adj" fmla="val 9333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7840" rIns="177840" tIns="139680" bIns="139680" anchor="t">
            <a:noAutofit/>
          </a:bodyPr>
          <a:p>
            <a:pPr defTabSz="914400">
              <a:lnSpc>
                <a:spcPct val="125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Malgun Gothic"/>
              </a:rPr>
              <a:t>② </a:t>
            </a:r>
            <a:r>
              <a:rPr b="1" lang="ko-KR" sz="1400" spc="-1" strike="noStrike">
                <a:solidFill>
                  <a:schemeClr val="dk1"/>
                </a:solidFill>
                <a:latin typeface="Malgun Gothic"/>
              </a:rPr>
              <a:t>에이전트 </a:t>
            </a:r>
            <a:r>
              <a:rPr b="1" lang="en-US" sz="1400" spc="-1" strike="noStrike">
                <a:solidFill>
                  <a:schemeClr val="dk1"/>
                </a:solidFill>
                <a:latin typeface="Malgun Gothic"/>
              </a:rPr>
              <a:t>+ </a:t>
            </a:r>
            <a:r>
              <a:rPr b="1" lang="ko-KR" sz="1400" spc="-1" strike="noStrike">
                <a:solidFill>
                  <a:schemeClr val="dk1"/>
                </a:solidFill>
                <a:latin typeface="Malgun Gothic"/>
              </a:rPr>
              <a:t>도구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매니저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LLM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이 도구를 골라 실행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·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지시문만 바꾸면 됨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94" name="Shape 8"/>
          <p:cNvSpPr/>
          <p:nvPr/>
        </p:nvSpPr>
        <p:spPr>
          <a:xfrm>
            <a:off x="7806600" y="4499280"/>
            <a:ext cx="253800" cy="1519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95" name="way-3"/>
          <p:cNvSpPr/>
          <p:nvPr/>
        </p:nvSpPr>
        <p:spPr>
          <a:xfrm>
            <a:off x="8162280" y="4099320"/>
            <a:ext cx="3217320" cy="952200"/>
          </a:xfrm>
          <a:prstGeom prst="roundRect">
            <a:avLst>
              <a:gd name="adj" fmla="val 9333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7840" rIns="177840" tIns="139680" bIns="139680" anchor="t">
            <a:noAutofit/>
          </a:bodyPr>
          <a:p>
            <a:pPr defTabSz="914400">
              <a:lnSpc>
                <a:spcPct val="125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Malgun Gothic"/>
              </a:rPr>
              <a:t>③ </a:t>
            </a:r>
            <a:r>
              <a:rPr b="1" lang="ko-KR" sz="1400" spc="-1" strike="noStrike">
                <a:solidFill>
                  <a:schemeClr val="dk1"/>
                </a:solidFill>
                <a:latin typeface="Malgun Gothic"/>
              </a:rPr>
              <a:t>핸드오프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결정까지 다른 에이전트에 넘김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·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예측 가장 어려움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96" name="Shape 10"/>
          <p:cNvSpPr/>
          <p:nvPr/>
        </p:nvSpPr>
        <p:spPr>
          <a:xfrm>
            <a:off x="812880" y="5178600"/>
            <a:ext cx="3521880" cy="88560"/>
          </a:xfrm>
          <a:prstGeom prst="rect">
            <a:avLst/>
          </a:prstGeom>
          <a:solidFill>
            <a:srgbClr val="c7c1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920" bIns="43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97" name="Shape 11"/>
          <p:cNvSpPr/>
          <p:nvPr/>
        </p:nvSpPr>
        <p:spPr>
          <a:xfrm>
            <a:off x="4335120" y="5178600"/>
            <a:ext cx="3521880" cy="88560"/>
          </a:xfrm>
          <a:prstGeom prst="rect">
            <a:avLst/>
          </a:prstGeom>
          <a:solidFill>
            <a:srgbClr val="d095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920" bIns="43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98" name="Shape 12"/>
          <p:cNvSpPr/>
          <p:nvPr/>
        </p:nvSpPr>
        <p:spPr>
          <a:xfrm>
            <a:off x="7857360" y="5178600"/>
            <a:ext cx="3521880" cy="88560"/>
          </a:xfrm>
          <a:prstGeom prst="rect">
            <a:avLst/>
          </a:prstGeom>
          <a:solidFill>
            <a:srgbClr val="d977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920" bIns="43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199" name="Text 13"/>
          <p:cNvSpPr/>
          <p:nvPr/>
        </p:nvSpPr>
        <p:spPr>
          <a:xfrm>
            <a:off x="812880" y="5356440"/>
            <a:ext cx="44445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ko-KR" sz="1200" spc="-1" strike="noStrike">
                <a:solidFill>
                  <a:schemeClr val="dk2"/>
                </a:solidFill>
                <a:latin typeface="Malgun Gothic"/>
              </a:rPr>
              <a:t>통제</a:t>
            </a:r>
            <a:r>
              <a:rPr b="1" lang="en-US" sz="1200" spc="-1" strike="noStrike">
                <a:solidFill>
                  <a:schemeClr val="dk2"/>
                </a:solidFill>
                <a:latin typeface="Malgun Gothic"/>
              </a:rPr>
              <a:t>·</a:t>
            </a:r>
            <a:r>
              <a:rPr b="1" lang="ko-KR" sz="1200" spc="-1" strike="noStrike">
                <a:solidFill>
                  <a:schemeClr val="dk2"/>
                </a:solidFill>
                <a:latin typeface="Malgun Gothic"/>
              </a:rPr>
              <a:t>예측 쉬움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00" name="Text 14"/>
          <p:cNvSpPr/>
          <p:nvPr/>
        </p:nvSpPr>
        <p:spPr>
          <a:xfrm>
            <a:off x="6299280" y="5356440"/>
            <a:ext cx="50796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25000"/>
              </a:lnSpc>
              <a:tabLst>
                <a:tab algn="l" pos="0"/>
              </a:tabLst>
            </a:pPr>
            <a:r>
              <a:rPr b="1" lang="ko-KR" sz="1200" spc="-1" strike="noStrike">
                <a:solidFill>
                  <a:schemeClr val="accent2"/>
                </a:solidFill>
                <a:latin typeface="Malgun Gothic"/>
              </a:rPr>
              <a:t>유연성 ↑ </a:t>
            </a:r>
            <a:r>
              <a:rPr b="1" lang="en-US" sz="1200" spc="-1" strike="noStrike">
                <a:solidFill>
                  <a:schemeClr val="accent2"/>
                </a:solidFill>
                <a:latin typeface="Malgun Gothic"/>
              </a:rPr>
              <a:t>· </a:t>
            </a:r>
            <a:r>
              <a:rPr b="1" lang="ko-KR" sz="1200" spc="-1" strike="noStrike">
                <a:solidFill>
                  <a:schemeClr val="accent2"/>
                </a:solidFill>
                <a:latin typeface="Malgun Gothic"/>
              </a:rPr>
              <a:t>통제 어려움 → 트레이스 필수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14"/>
          </p:nvPr>
        </p:nvSpPr>
        <p:spPr>
          <a:xfrm>
            <a:off x="10744200" y="6222960"/>
            <a:ext cx="6346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rgbClr val="7a7f8a"/>
                </a:solidFill>
                <a:latin typeface="Malgun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E8951E-44BD-4D18-B0DE-0D58F552DE5E}" type="slidenum">
              <a:rPr b="0" lang="en-US" sz="1200" spc="-1" strike="noStrike">
                <a:solidFill>
                  <a:srgbClr val="7a7f8a"/>
                </a:solidFill>
                <a:latin typeface="Malgun Gothic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/>
          </p:nvPr>
        </p:nvSpPr>
        <p:spPr>
          <a:xfrm>
            <a:off x="812880" y="749160"/>
            <a:ext cx="10566000" cy="25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4</a:t>
            </a:r>
            <a:r>
              <a:rPr b="1" lang="ko-KR" sz="1200" spc="97" strike="noStrike">
                <a:solidFill>
                  <a:schemeClr val="accent2"/>
                </a:solidFill>
                <a:latin typeface="Malgun Gothic"/>
              </a:rPr>
              <a:t>일차 </a:t>
            </a: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· 5</a:t>
            </a:r>
            <a:r>
              <a:rPr b="1" lang="ko-KR" sz="1200" spc="97" strike="noStrike">
                <a:solidFill>
                  <a:schemeClr val="accent2"/>
                </a:solidFill>
                <a:latin typeface="Malgun Gothic"/>
              </a:rPr>
              <a:t>가지 디자인 패턴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title"/>
          </p:nvPr>
        </p:nvSpPr>
        <p:spPr>
          <a:xfrm>
            <a:off x="812880" y="1028880"/>
            <a:ext cx="10566000" cy="5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패턴마다 </a:t>
            </a:r>
            <a:r>
              <a:rPr b="1" lang="en-US" sz="3000" spc="-1" strike="noStrike">
                <a:solidFill>
                  <a:schemeClr val="dk1"/>
                </a:solidFill>
                <a:latin typeface="Malgun Gothic"/>
              </a:rPr>
              <a:t>LLM</a:t>
            </a: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이 결정하는 범위가 다르다</a:t>
            </a:r>
            <a:endParaRPr b="0" lang="en-US" sz="30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04" name="Text 2"/>
          <p:cNvSpPr/>
          <p:nvPr/>
        </p:nvSpPr>
        <p:spPr>
          <a:xfrm>
            <a:off x="812880" y="1854360"/>
            <a:ext cx="18410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프롬프트 체이닝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05" name="pat-1"/>
          <p:cNvSpPr/>
          <p:nvPr/>
        </p:nvSpPr>
        <p:spPr>
          <a:xfrm>
            <a:off x="2743200" y="1854360"/>
            <a:ext cx="406080" cy="253800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8360" bIns="10836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In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06" name="Shape 4"/>
          <p:cNvSpPr/>
          <p:nvPr/>
        </p:nvSpPr>
        <p:spPr>
          <a:xfrm>
            <a:off x="3225960" y="1924200"/>
            <a:ext cx="202680" cy="1141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07" name="pat-2"/>
          <p:cNvSpPr/>
          <p:nvPr/>
        </p:nvSpPr>
        <p:spPr>
          <a:xfrm>
            <a:off x="3505320" y="1854360"/>
            <a:ext cx="647280" cy="253800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8360" bIns="10836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LLM 1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08" name="Shape 6"/>
          <p:cNvSpPr/>
          <p:nvPr/>
        </p:nvSpPr>
        <p:spPr>
          <a:xfrm>
            <a:off x="4229280" y="1924200"/>
            <a:ext cx="202680" cy="1141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09" name="pat-3"/>
          <p:cNvSpPr/>
          <p:nvPr/>
        </p:nvSpPr>
        <p:spPr>
          <a:xfrm>
            <a:off x="4508640" y="1854360"/>
            <a:ext cx="1409400" cy="253800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 w="25400">
            <a:solidFill>
              <a:srgbClr val="8a8f9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8360" bIns="10836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Gate(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검증</a:t>
            </a: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10" name="Shape 8"/>
          <p:cNvSpPr/>
          <p:nvPr/>
        </p:nvSpPr>
        <p:spPr>
          <a:xfrm>
            <a:off x="5994360" y="1924200"/>
            <a:ext cx="202680" cy="1141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11" name="pat-4"/>
          <p:cNvSpPr/>
          <p:nvPr/>
        </p:nvSpPr>
        <p:spPr>
          <a:xfrm>
            <a:off x="6273720" y="1854360"/>
            <a:ext cx="647280" cy="253800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8360" bIns="10836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LLM 2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12" name="Shape 10"/>
          <p:cNvSpPr/>
          <p:nvPr/>
        </p:nvSpPr>
        <p:spPr>
          <a:xfrm>
            <a:off x="6997680" y="1924200"/>
            <a:ext cx="202680" cy="1141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13" name="pat-5"/>
          <p:cNvSpPr/>
          <p:nvPr/>
        </p:nvSpPr>
        <p:spPr>
          <a:xfrm>
            <a:off x="7277040" y="1854360"/>
            <a:ext cx="647280" cy="253800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8360" bIns="10836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LLM 3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14" name="Shape 12"/>
          <p:cNvSpPr/>
          <p:nvPr/>
        </p:nvSpPr>
        <p:spPr>
          <a:xfrm>
            <a:off x="8001000" y="1924200"/>
            <a:ext cx="202680" cy="1141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15" name="pat-6"/>
          <p:cNvSpPr/>
          <p:nvPr/>
        </p:nvSpPr>
        <p:spPr>
          <a:xfrm>
            <a:off x="8280360" y="1854360"/>
            <a:ext cx="501120" cy="253800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8360" bIns="10836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Out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16" name="Text 14"/>
          <p:cNvSpPr/>
          <p:nvPr/>
        </p:nvSpPr>
        <p:spPr>
          <a:xfrm>
            <a:off x="9182160" y="1854360"/>
            <a:ext cx="21967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단계를 순서대로 잇고 중간에 검증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17" name="Text 15"/>
          <p:cNvSpPr/>
          <p:nvPr/>
        </p:nvSpPr>
        <p:spPr>
          <a:xfrm>
            <a:off x="812880" y="2502000"/>
            <a:ext cx="18410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라우팅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18" name="pat-7"/>
          <p:cNvSpPr/>
          <p:nvPr/>
        </p:nvSpPr>
        <p:spPr>
          <a:xfrm>
            <a:off x="2743200" y="2502000"/>
            <a:ext cx="406080" cy="253800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8360" bIns="10836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In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19" name="Shape 17"/>
          <p:cNvSpPr/>
          <p:nvPr/>
        </p:nvSpPr>
        <p:spPr>
          <a:xfrm>
            <a:off x="3225960" y="2571840"/>
            <a:ext cx="202680" cy="1141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20" name="pat-8"/>
          <p:cNvSpPr/>
          <p:nvPr/>
        </p:nvSpPr>
        <p:spPr>
          <a:xfrm>
            <a:off x="3505320" y="2502000"/>
            <a:ext cx="856800" cy="25380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25400">
            <a:solidFill>
              <a:srgbClr val="d977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8360" bIns="10836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Malgun Gothic"/>
              </a:rPr>
              <a:t>Router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21" name="Shape 19"/>
          <p:cNvSpPr/>
          <p:nvPr/>
        </p:nvSpPr>
        <p:spPr>
          <a:xfrm>
            <a:off x="4438800" y="2571840"/>
            <a:ext cx="202680" cy="1141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22" name="pat-9"/>
          <p:cNvSpPr/>
          <p:nvPr/>
        </p:nvSpPr>
        <p:spPr>
          <a:xfrm>
            <a:off x="4718160" y="2241720"/>
            <a:ext cx="647280" cy="240840"/>
          </a:xfrm>
          <a:prstGeom prst="roundRect">
            <a:avLst>
              <a:gd name="adj" fmla="val 26316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1880" bIns="10188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LLM 1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23" name="pat-10"/>
          <p:cNvSpPr/>
          <p:nvPr/>
        </p:nvSpPr>
        <p:spPr>
          <a:xfrm>
            <a:off x="4718160" y="2508120"/>
            <a:ext cx="647280" cy="240840"/>
          </a:xfrm>
          <a:prstGeom prst="roundRect">
            <a:avLst>
              <a:gd name="adj" fmla="val 26316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1880" bIns="10188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LLM 2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24" name="pat-11"/>
          <p:cNvSpPr/>
          <p:nvPr/>
        </p:nvSpPr>
        <p:spPr>
          <a:xfrm>
            <a:off x="4718160" y="2774880"/>
            <a:ext cx="647280" cy="240840"/>
          </a:xfrm>
          <a:prstGeom prst="roundRect">
            <a:avLst>
              <a:gd name="adj" fmla="val 26316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1880" bIns="10188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LLM 3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25" name="Shape 23"/>
          <p:cNvSpPr/>
          <p:nvPr/>
        </p:nvSpPr>
        <p:spPr>
          <a:xfrm>
            <a:off x="5442120" y="2571840"/>
            <a:ext cx="202680" cy="1141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26" name="pat-12"/>
          <p:cNvSpPr/>
          <p:nvPr/>
        </p:nvSpPr>
        <p:spPr>
          <a:xfrm>
            <a:off x="5721480" y="2502000"/>
            <a:ext cx="501120" cy="253800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8360" bIns="10836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Out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27" name="Text 25"/>
          <p:cNvSpPr/>
          <p:nvPr/>
        </p:nvSpPr>
        <p:spPr>
          <a:xfrm>
            <a:off x="9182160" y="2502000"/>
            <a:ext cx="21967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입력을 보고 경로 하나를 선택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28" name="Text 26"/>
          <p:cNvSpPr/>
          <p:nvPr/>
        </p:nvSpPr>
        <p:spPr>
          <a:xfrm>
            <a:off x="812880" y="3403440"/>
            <a:ext cx="18410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병렬화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29" name="pat-13"/>
          <p:cNvSpPr/>
          <p:nvPr/>
        </p:nvSpPr>
        <p:spPr>
          <a:xfrm>
            <a:off x="2743200" y="3403440"/>
            <a:ext cx="406080" cy="253800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8360" bIns="10836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In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30" name="Shape 28"/>
          <p:cNvSpPr/>
          <p:nvPr/>
        </p:nvSpPr>
        <p:spPr>
          <a:xfrm>
            <a:off x="3225960" y="3473280"/>
            <a:ext cx="202680" cy="1141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31" name="pat-14"/>
          <p:cNvSpPr/>
          <p:nvPr/>
        </p:nvSpPr>
        <p:spPr>
          <a:xfrm>
            <a:off x="3505320" y="3403440"/>
            <a:ext cx="1294920" cy="253800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8360" bIns="10836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Coordinator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32" name="Shape 30"/>
          <p:cNvSpPr/>
          <p:nvPr/>
        </p:nvSpPr>
        <p:spPr>
          <a:xfrm>
            <a:off x="4876920" y="3473280"/>
            <a:ext cx="202680" cy="1141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33" name="pat-15"/>
          <p:cNvSpPr/>
          <p:nvPr/>
        </p:nvSpPr>
        <p:spPr>
          <a:xfrm>
            <a:off x="5156280" y="3143160"/>
            <a:ext cx="647280" cy="240840"/>
          </a:xfrm>
          <a:prstGeom prst="roundRect">
            <a:avLst>
              <a:gd name="adj" fmla="val 26316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1880" bIns="10188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LLM 1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34" name="pat-16"/>
          <p:cNvSpPr/>
          <p:nvPr/>
        </p:nvSpPr>
        <p:spPr>
          <a:xfrm>
            <a:off x="5156280" y="3409920"/>
            <a:ext cx="647280" cy="240840"/>
          </a:xfrm>
          <a:prstGeom prst="roundRect">
            <a:avLst>
              <a:gd name="adj" fmla="val 26316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1880" bIns="10188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LLM 2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35" name="pat-17"/>
          <p:cNvSpPr/>
          <p:nvPr/>
        </p:nvSpPr>
        <p:spPr>
          <a:xfrm>
            <a:off x="5156280" y="3676680"/>
            <a:ext cx="647280" cy="240840"/>
          </a:xfrm>
          <a:prstGeom prst="roundRect">
            <a:avLst>
              <a:gd name="adj" fmla="val 26316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1880" bIns="10188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LLM 3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36" name="Shape 34"/>
          <p:cNvSpPr/>
          <p:nvPr/>
        </p:nvSpPr>
        <p:spPr>
          <a:xfrm>
            <a:off x="5880240" y="3473280"/>
            <a:ext cx="202680" cy="1141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37" name="pat-18"/>
          <p:cNvSpPr/>
          <p:nvPr/>
        </p:nvSpPr>
        <p:spPr>
          <a:xfrm>
            <a:off x="6159600" y="3403440"/>
            <a:ext cx="1193400" cy="253800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8360" bIns="10836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Aggregator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38" name="Shape 36"/>
          <p:cNvSpPr/>
          <p:nvPr/>
        </p:nvSpPr>
        <p:spPr>
          <a:xfrm>
            <a:off x="7429680" y="3473280"/>
            <a:ext cx="202680" cy="1141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39" name="pat-19"/>
          <p:cNvSpPr/>
          <p:nvPr/>
        </p:nvSpPr>
        <p:spPr>
          <a:xfrm>
            <a:off x="7709040" y="3403440"/>
            <a:ext cx="501120" cy="253800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8360" bIns="10836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Out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40" name="Text 38"/>
          <p:cNvSpPr/>
          <p:nvPr/>
        </p:nvSpPr>
        <p:spPr>
          <a:xfrm>
            <a:off x="9182160" y="3403440"/>
            <a:ext cx="21967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동시에 나눠 처리하고 결과를 모음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41" name="Text 39"/>
          <p:cNvSpPr/>
          <p:nvPr/>
        </p:nvSpPr>
        <p:spPr>
          <a:xfrm>
            <a:off x="812880" y="4305240"/>
            <a:ext cx="18410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오케스트레이터</a:t>
            </a:r>
            <a:r>
              <a:rPr b="1" lang="en-US" sz="1300" spc="-1" strike="noStrike">
                <a:solidFill>
                  <a:schemeClr val="dk1"/>
                </a:solidFill>
                <a:latin typeface="Malgun Gothic"/>
              </a:rPr>
              <a:t>-</a:t>
            </a: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워커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42" name="pat-20"/>
          <p:cNvSpPr/>
          <p:nvPr/>
        </p:nvSpPr>
        <p:spPr>
          <a:xfrm>
            <a:off x="2743200" y="4305240"/>
            <a:ext cx="406080" cy="253800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8360" bIns="10836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In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43" name="Shape 41"/>
          <p:cNvSpPr/>
          <p:nvPr/>
        </p:nvSpPr>
        <p:spPr>
          <a:xfrm>
            <a:off x="3225960" y="4375080"/>
            <a:ext cx="202680" cy="1141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44" name="pat-21"/>
          <p:cNvSpPr/>
          <p:nvPr/>
        </p:nvSpPr>
        <p:spPr>
          <a:xfrm>
            <a:off x="3505320" y="4305240"/>
            <a:ext cx="1510920" cy="25380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25400">
            <a:solidFill>
              <a:srgbClr val="d977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8360" bIns="10836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Malgun Gothic"/>
              </a:rPr>
              <a:t>Orchestrator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45" name="Shape 43"/>
          <p:cNvSpPr/>
          <p:nvPr/>
        </p:nvSpPr>
        <p:spPr>
          <a:xfrm>
            <a:off x="5092560" y="4375080"/>
            <a:ext cx="202680" cy="1141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46" name="pat-22"/>
          <p:cNvSpPr/>
          <p:nvPr/>
        </p:nvSpPr>
        <p:spPr>
          <a:xfrm>
            <a:off x="5372280" y="4044960"/>
            <a:ext cx="945720" cy="240840"/>
          </a:xfrm>
          <a:prstGeom prst="roundRect">
            <a:avLst>
              <a:gd name="adj" fmla="val 26316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1880" bIns="10188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Worker 1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47" name="pat-23"/>
          <p:cNvSpPr/>
          <p:nvPr/>
        </p:nvSpPr>
        <p:spPr>
          <a:xfrm>
            <a:off x="5372280" y="4311720"/>
            <a:ext cx="945720" cy="240840"/>
          </a:xfrm>
          <a:prstGeom prst="roundRect">
            <a:avLst>
              <a:gd name="adj" fmla="val 26316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1880" bIns="10188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Worker 2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48" name="pat-24"/>
          <p:cNvSpPr/>
          <p:nvPr/>
        </p:nvSpPr>
        <p:spPr>
          <a:xfrm>
            <a:off x="5372280" y="4578480"/>
            <a:ext cx="945720" cy="240840"/>
          </a:xfrm>
          <a:prstGeom prst="roundRect">
            <a:avLst>
              <a:gd name="adj" fmla="val 26316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1880" bIns="10188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Worker 3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49" name="Shape 47"/>
          <p:cNvSpPr/>
          <p:nvPr/>
        </p:nvSpPr>
        <p:spPr>
          <a:xfrm>
            <a:off x="6394320" y="4375080"/>
            <a:ext cx="202680" cy="1141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50" name="pat-25"/>
          <p:cNvSpPr/>
          <p:nvPr/>
        </p:nvSpPr>
        <p:spPr>
          <a:xfrm>
            <a:off x="6673680" y="4305240"/>
            <a:ext cx="1294920" cy="253800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8360" bIns="10836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Synthesizer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51" name="Shape 49"/>
          <p:cNvSpPr/>
          <p:nvPr/>
        </p:nvSpPr>
        <p:spPr>
          <a:xfrm>
            <a:off x="8045280" y="4375080"/>
            <a:ext cx="202680" cy="1141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52" name="pat-26"/>
          <p:cNvSpPr/>
          <p:nvPr/>
        </p:nvSpPr>
        <p:spPr>
          <a:xfrm>
            <a:off x="8325000" y="4305240"/>
            <a:ext cx="501120" cy="253800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8360" bIns="10836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Out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53" name="Text 51"/>
          <p:cNvSpPr/>
          <p:nvPr/>
        </p:nvSpPr>
        <p:spPr>
          <a:xfrm>
            <a:off x="9182160" y="4305240"/>
            <a:ext cx="21967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작업을 동적으로 쪼개 맡기고 종합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54" name="Text 52"/>
          <p:cNvSpPr/>
          <p:nvPr/>
        </p:nvSpPr>
        <p:spPr>
          <a:xfrm>
            <a:off x="812880" y="5054760"/>
            <a:ext cx="18410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평가자</a:t>
            </a:r>
            <a:r>
              <a:rPr b="1" lang="en-US" sz="1300" spc="-1" strike="noStrike">
                <a:solidFill>
                  <a:schemeClr val="dk1"/>
                </a:solidFill>
                <a:latin typeface="Malgun Gothic"/>
              </a:rPr>
              <a:t>-</a:t>
            </a: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최적화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55" name="pat-27"/>
          <p:cNvSpPr/>
          <p:nvPr/>
        </p:nvSpPr>
        <p:spPr>
          <a:xfrm>
            <a:off x="2743200" y="5054760"/>
            <a:ext cx="406080" cy="253800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8360" bIns="10836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In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56" name="Shape 54"/>
          <p:cNvSpPr/>
          <p:nvPr/>
        </p:nvSpPr>
        <p:spPr>
          <a:xfrm>
            <a:off x="3225960" y="5124600"/>
            <a:ext cx="202680" cy="1141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57" name="pat-28"/>
          <p:cNvSpPr/>
          <p:nvPr/>
        </p:nvSpPr>
        <p:spPr>
          <a:xfrm>
            <a:off x="3505320" y="5054760"/>
            <a:ext cx="1091880" cy="253800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8360" bIns="10836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Generator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58" name="Shape 56"/>
          <p:cNvSpPr/>
          <p:nvPr/>
        </p:nvSpPr>
        <p:spPr>
          <a:xfrm>
            <a:off x="4673520" y="5041800"/>
            <a:ext cx="304560" cy="1141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59" name="Shape 57"/>
          <p:cNvSpPr/>
          <p:nvPr/>
        </p:nvSpPr>
        <p:spPr>
          <a:xfrm>
            <a:off x="4673520" y="5207040"/>
            <a:ext cx="304560" cy="11412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60" name="pat-29"/>
          <p:cNvSpPr/>
          <p:nvPr/>
        </p:nvSpPr>
        <p:spPr>
          <a:xfrm>
            <a:off x="5054760" y="5054760"/>
            <a:ext cx="1180800" cy="25380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25400">
            <a:solidFill>
              <a:srgbClr val="d977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8360" bIns="10836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Malgun Gothic"/>
              </a:rPr>
              <a:t>Evaluator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61" name="Shape 59"/>
          <p:cNvSpPr/>
          <p:nvPr/>
        </p:nvSpPr>
        <p:spPr>
          <a:xfrm>
            <a:off x="6311880" y="5124600"/>
            <a:ext cx="202680" cy="1141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62" name="pat-30"/>
          <p:cNvSpPr/>
          <p:nvPr/>
        </p:nvSpPr>
        <p:spPr>
          <a:xfrm>
            <a:off x="6591240" y="5054760"/>
            <a:ext cx="501120" cy="253800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60" rIns="25560" tIns="108360" bIns="10836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Out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63" name="Text 61"/>
          <p:cNvSpPr/>
          <p:nvPr/>
        </p:nvSpPr>
        <p:spPr>
          <a:xfrm>
            <a:off x="9182160" y="5054760"/>
            <a:ext cx="21967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통과할 때까지 생성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-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평가 반복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64" name="Shape 62"/>
          <p:cNvSpPr/>
          <p:nvPr/>
        </p:nvSpPr>
        <p:spPr>
          <a:xfrm>
            <a:off x="812880" y="5524560"/>
            <a:ext cx="228240" cy="15192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25400">
            <a:solidFill>
              <a:srgbClr val="d977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65" name="Text 63"/>
          <p:cNvSpPr/>
          <p:nvPr/>
        </p:nvSpPr>
        <p:spPr>
          <a:xfrm>
            <a:off x="1130400" y="5486400"/>
            <a:ext cx="10159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= LLM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이 다음 흐름을 결정하는 지점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·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나머지 연결은 코드가 고정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· </a:t>
            </a:r>
            <a:r>
              <a:rPr b="1" lang="ko-KR" sz="1200" spc="-1" strike="noStrike">
                <a:solidFill>
                  <a:schemeClr val="dk1"/>
                </a:solidFill>
                <a:latin typeface="Malgun Gothic"/>
              </a:rPr>
              <a:t>단순한 설계가 이긴다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15"/>
          </p:nvPr>
        </p:nvSpPr>
        <p:spPr>
          <a:xfrm>
            <a:off x="10744200" y="6222960"/>
            <a:ext cx="6346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rgbClr val="7a7f8a"/>
                </a:solidFill>
                <a:latin typeface="Malgun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F2EE09-2E54-4CD5-A193-61D51DF2DBFE}" type="slidenum">
              <a:rPr b="0" lang="en-US" sz="1200" spc="-1" strike="noStrike">
                <a:solidFill>
                  <a:srgbClr val="7a7f8a"/>
                </a:solidFill>
                <a:latin typeface="Malgun Gothic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/>
          </p:nvPr>
        </p:nvSpPr>
        <p:spPr>
          <a:xfrm>
            <a:off x="812880" y="749160"/>
            <a:ext cx="10566000" cy="25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4</a:t>
            </a:r>
            <a:r>
              <a:rPr b="1" lang="ko-KR" sz="1200" spc="97" strike="noStrike">
                <a:solidFill>
                  <a:schemeClr val="accent2"/>
                </a:solidFill>
                <a:latin typeface="Malgun Gothic"/>
              </a:rPr>
              <a:t>일차 </a:t>
            </a: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· </a:t>
            </a:r>
            <a:r>
              <a:rPr b="1" lang="ko-KR" sz="1200" spc="97" strike="noStrike">
                <a:solidFill>
                  <a:schemeClr val="accent2"/>
                </a:solidFill>
                <a:latin typeface="Malgun Gothic"/>
              </a:rPr>
              <a:t>에이전트 구성 </a:t>
            </a: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(OpenAI Agents SDK)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title"/>
          </p:nvPr>
        </p:nvSpPr>
        <p:spPr>
          <a:xfrm>
            <a:off x="812880" y="1028880"/>
            <a:ext cx="10566000" cy="5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에이전트는 도구로 행동하고</a:t>
            </a:r>
            <a:r>
              <a:rPr b="1" lang="en-US" sz="3000" spc="-1" strike="noStrike">
                <a:solidFill>
                  <a:schemeClr val="dk1"/>
                </a:solidFill>
                <a:latin typeface="Malgun Gothic"/>
              </a:rPr>
              <a:t>, </a:t>
            </a: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트레이스로 확인한다</a:t>
            </a:r>
            <a:endParaRPr b="0" lang="en-US" sz="30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69" name="user-input"/>
          <p:cNvSpPr/>
          <p:nvPr/>
        </p:nvSpPr>
        <p:spPr>
          <a:xfrm>
            <a:off x="812880" y="2260440"/>
            <a:ext cx="1269720" cy="634680"/>
          </a:xfrm>
          <a:prstGeom prst="roundRect">
            <a:avLst>
              <a:gd name="adj" fmla="val 14000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1" lang="ko-KR" sz="1400" spc="-1" strike="noStrike">
                <a:solidFill>
                  <a:schemeClr val="dk1"/>
                </a:solidFill>
                <a:latin typeface="Malgun Gothic"/>
              </a:rPr>
              <a:t>사용자 입력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70" name="guard-in"/>
          <p:cNvSpPr/>
          <p:nvPr/>
        </p:nvSpPr>
        <p:spPr>
          <a:xfrm>
            <a:off x="2463840" y="2260440"/>
            <a:ext cx="1523520" cy="634680"/>
          </a:xfrm>
          <a:prstGeom prst="roundRect">
            <a:avLst>
              <a:gd name="adj" fmla="val 14000"/>
            </a:avLst>
          </a:prstGeom>
          <a:solidFill>
            <a:schemeClr val="bg2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입력 가드레일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잘못된 입력 차단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71" name="agent"/>
          <p:cNvSpPr/>
          <p:nvPr/>
        </p:nvSpPr>
        <p:spPr>
          <a:xfrm>
            <a:off x="4368960" y="2006640"/>
            <a:ext cx="3047760" cy="11426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3040" rIns="203040" tIns="127080" bIns="127080" anchor="ctr">
            <a:noAutofit/>
          </a:bodyPr>
          <a:p>
            <a:pPr defTabSz="914400">
              <a:lnSpc>
                <a:spcPct val="12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chemeClr val="lt1"/>
                </a:solidFill>
                <a:latin typeface="Malgun Gothic"/>
              </a:rPr>
              <a:t>Agent</a:t>
            </a:r>
            <a:endParaRPr b="0" lang="en-US" sz="1600" spc="-1" strike="noStrike">
              <a:solidFill>
                <a:srgbClr val="ffffff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c9d2e0"/>
                </a:solidFill>
                <a:latin typeface="Malgun Gothic"/>
              </a:rPr>
              <a:t>LLM + </a:t>
            </a:r>
            <a:r>
              <a:rPr b="0" lang="ko-KR" sz="1200" spc="-1" strike="noStrike">
                <a:solidFill>
                  <a:srgbClr val="c9d2e0"/>
                </a:solidFill>
                <a:latin typeface="Malgun Gothic"/>
              </a:rPr>
              <a:t>지시문 </a:t>
            </a:r>
            <a:r>
              <a:rPr b="0" lang="en-US" sz="1200" spc="-1" strike="noStrike">
                <a:solidFill>
                  <a:srgbClr val="c9d2e0"/>
                </a:solidFill>
                <a:latin typeface="Malgun Gothic"/>
              </a:rPr>
              <a:t>+ </a:t>
            </a:r>
            <a:r>
              <a:rPr b="0" lang="ko-KR" sz="1200" spc="-1" strike="noStrike">
                <a:solidFill>
                  <a:srgbClr val="c9d2e0"/>
                </a:solidFill>
                <a:latin typeface="Malgun Gothic"/>
              </a:rPr>
              <a:t>도구 목록</a:t>
            </a:r>
            <a:endParaRPr b="0" lang="en-US" sz="1200" spc="-1" strike="noStrike">
              <a:solidFill>
                <a:srgbClr val="ffffff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9a5b"/>
                </a:solidFill>
                <a:latin typeface="Malgun Gothic"/>
              </a:rPr>
              <a:t>Runner.run()</a:t>
            </a:r>
            <a:r>
              <a:rPr b="0" lang="ko-KR" sz="1200" spc="-1" strike="noStrike">
                <a:solidFill>
                  <a:srgbClr val="e89a5b"/>
                </a:solidFill>
                <a:latin typeface="Malgun Gothic"/>
              </a:rPr>
              <a:t>으로 실행 </a:t>
            </a:r>
            <a:r>
              <a:rPr b="0" lang="en-US" sz="1200" spc="-1" strike="noStrike">
                <a:solidFill>
                  <a:srgbClr val="e89a5b"/>
                </a:solidFill>
                <a:latin typeface="Malgun Gothic"/>
              </a:rPr>
              <a:t>· async(</a:t>
            </a:r>
            <a:r>
              <a:rPr b="0" lang="ko-KR" sz="1200" spc="-1" strike="noStrike">
                <a:solidFill>
                  <a:srgbClr val="e89a5b"/>
                </a:solidFill>
                <a:latin typeface="Malgun Gothic"/>
              </a:rPr>
              <a:t>비동기</a:t>
            </a:r>
            <a:r>
              <a:rPr b="0" lang="en-US" sz="1200" spc="-1" strike="noStrike">
                <a:solidFill>
                  <a:srgbClr val="e89a5b"/>
                </a:solidFill>
                <a:latin typeface="Malgun Gothic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272" name="guard-out"/>
          <p:cNvSpPr/>
          <p:nvPr/>
        </p:nvSpPr>
        <p:spPr>
          <a:xfrm>
            <a:off x="7797960" y="2260440"/>
            <a:ext cx="1523520" cy="634680"/>
          </a:xfrm>
          <a:prstGeom prst="roundRect">
            <a:avLst>
              <a:gd name="adj" fmla="val 14000"/>
            </a:avLst>
          </a:prstGeom>
          <a:solidFill>
            <a:schemeClr val="bg2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출력 가드레일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잘못된 출력 차단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73" name="response"/>
          <p:cNvSpPr/>
          <p:nvPr/>
        </p:nvSpPr>
        <p:spPr>
          <a:xfrm>
            <a:off x="9702720" y="2260440"/>
            <a:ext cx="1676160" cy="634680"/>
          </a:xfrm>
          <a:prstGeom prst="roundRect">
            <a:avLst>
              <a:gd name="adj" fmla="val 14000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1" lang="ko-KR" sz="1400" spc="-1" strike="noStrike">
                <a:solidFill>
                  <a:schemeClr val="dk1"/>
                </a:solidFill>
                <a:latin typeface="Malgun Gothic"/>
              </a:rPr>
              <a:t>최종 응답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74" name="session"/>
          <p:cNvSpPr/>
          <p:nvPr/>
        </p:nvSpPr>
        <p:spPr>
          <a:xfrm>
            <a:off x="1066680" y="3657600"/>
            <a:ext cx="2920680" cy="825120"/>
          </a:xfrm>
          <a:prstGeom prst="roundRect">
            <a:avLst>
              <a:gd name="adj" fmla="val 10769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7840" rIns="177840" tIns="101520" bIns="101520" anchor="ctr">
            <a:noAutofit/>
          </a:bodyPr>
          <a:p>
            <a:pPr defTabSz="914400">
              <a:lnSpc>
                <a:spcPct val="125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ko-KR" sz="1400" spc="-1" strike="noStrike">
                <a:solidFill>
                  <a:schemeClr val="dk1"/>
                </a:solidFill>
                <a:latin typeface="Malgun Gothic"/>
              </a:rPr>
              <a:t>세션 </a:t>
            </a:r>
            <a:r>
              <a:rPr b="1" lang="en-US" sz="1400" spc="-1" strike="noStrike">
                <a:solidFill>
                  <a:schemeClr val="dk1"/>
                </a:solidFill>
                <a:latin typeface="Malgun Gothic"/>
              </a:rPr>
              <a:t>/ </a:t>
            </a:r>
            <a:r>
              <a:rPr b="1" lang="ko-KR" sz="1400" spc="-1" strike="noStrike">
                <a:solidFill>
                  <a:schemeClr val="dk1"/>
                </a:solidFill>
                <a:latin typeface="Malgun Gothic"/>
              </a:rPr>
              <a:t>메모리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SQLiteSession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으로 대화 기록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(stateless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보완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75" name="tools"/>
          <p:cNvSpPr/>
          <p:nvPr/>
        </p:nvSpPr>
        <p:spPr>
          <a:xfrm>
            <a:off x="4622760" y="3657600"/>
            <a:ext cx="2539800" cy="825120"/>
          </a:xfrm>
          <a:prstGeom prst="roundRect">
            <a:avLst>
              <a:gd name="adj" fmla="val 10769"/>
            </a:avLst>
          </a:prstGeom>
          <a:solidFill>
            <a:schemeClr val="accent3"/>
          </a:solidFill>
          <a:ln w="25400">
            <a:solidFill>
              <a:srgbClr val="d977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7840" rIns="177840" tIns="101520" bIns="101520" anchor="ctr">
            <a:noAutofit/>
          </a:bodyPr>
          <a:p>
            <a:pPr defTabSz="914400">
              <a:lnSpc>
                <a:spcPct val="125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ko-KR" sz="1400" spc="-1" strike="noStrike">
                <a:solidFill>
                  <a:schemeClr val="dk1"/>
                </a:solidFill>
                <a:latin typeface="Malgun Gothic"/>
              </a:rPr>
              <a:t>도구 </a:t>
            </a:r>
            <a:r>
              <a:rPr b="1" lang="en-US" sz="1400" spc="-1" strike="noStrike">
                <a:solidFill>
                  <a:schemeClr val="dk1"/>
                </a:solidFill>
                <a:latin typeface="Malgun Gothic"/>
              </a:rPr>
              <a:t>· @function_tool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docstring = LLM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이 읽는 설명서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76" name="handoff"/>
          <p:cNvSpPr/>
          <p:nvPr/>
        </p:nvSpPr>
        <p:spPr>
          <a:xfrm>
            <a:off x="7797960" y="3657600"/>
            <a:ext cx="3301560" cy="825120"/>
          </a:xfrm>
          <a:prstGeom prst="roundRect">
            <a:avLst>
              <a:gd name="adj" fmla="val 10769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7840" rIns="177840" tIns="101520" bIns="101520" anchor="ctr">
            <a:noAutofit/>
          </a:bodyPr>
          <a:p>
            <a:pPr defTabSz="914400">
              <a:lnSpc>
                <a:spcPct val="125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ko-KR" sz="1400" spc="-1" strike="noStrike">
                <a:solidFill>
                  <a:schemeClr val="dk1"/>
                </a:solidFill>
                <a:latin typeface="Malgun Gothic"/>
              </a:rPr>
              <a:t>핸드오프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다른 에이전트에게 일과 결정을 넘김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77" name="trace"/>
          <p:cNvSpPr/>
          <p:nvPr/>
        </p:nvSpPr>
        <p:spPr>
          <a:xfrm>
            <a:off x="812880" y="4648320"/>
            <a:ext cx="10566000" cy="469440"/>
          </a:xfrm>
          <a:prstGeom prst="roundRect">
            <a:avLst>
              <a:gd name="adj" fmla="val 18919"/>
            </a:avLst>
          </a:prstGeom>
          <a:solidFill>
            <a:schemeClr val="accent6"/>
          </a:solidFill>
          <a:ln w="25400">
            <a:solidFill>
              <a:srgbClr val="d9772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177840" rIns="177840" tIns="38160" bIns="3816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트레이스</a:t>
            </a:r>
            <a:r>
              <a:rPr b="0" lang="en-US" sz="1300" spc="-1" strike="noStrike">
                <a:solidFill>
                  <a:schemeClr val="dk1"/>
                </a:solidFill>
                <a:latin typeface="Malgun Gothic"/>
              </a:rPr>
              <a:t> — 위 모든 단계의 판단과 도구 호출을 기록 → 문제 원인 추적 </a:t>
            </a:r>
            <a:r>
              <a:rPr b="0" lang="en-US" sz="1300" spc="-1" strike="noStrike">
                <a:solidFill>
                  <a:schemeClr val="dk1"/>
                </a:solidFill>
                <a:latin typeface="Malgun Gothic"/>
              </a:rPr>
              <a:t>· </a:t>
            </a:r>
            <a:r>
              <a:rPr b="0" lang="ko-KR" sz="1300" spc="-1" strike="noStrike">
                <a:solidFill>
                  <a:schemeClr val="dk1"/>
                </a:solidFill>
                <a:latin typeface="Malgun Gothic"/>
              </a:rPr>
              <a:t>비용</a:t>
            </a:r>
            <a:r>
              <a:rPr b="0" lang="en-US" sz="1300" spc="-1" strike="noStrike">
                <a:solidFill>
                  <a:schemeClr val="dk1"/>
                </a:solidFill>
                <a:latin typeface="Malgun Gothic"/>
              </a:rPr>
              <a:t>(</a:t>
            </a:r>
            <a:r>
              <a:rPr b="0" lang="ko-KR" sz="1300" spc="-1" strike="noStrike">
                <a:solidFill>
                  <a:schemeClr val="dk1"/>
                </a:solidFill>
                <a:latin typeface="Malgun Gothic"/>
              </a:rPr>
              <a:t>크레딧</a:t>
            </a:r>
            <a:r>
              <a:rPr b="0" lang="en-US" sz="1300" spc="-1" strike="noStrike">
                <a:solidFill>
                  <a:schemeClr val="dk1"/>
                </a:solidFill>
                <a:latin typeface="Malgun Gothic"/>
              </a:rPr>
              <a:t>) </a:t>
            </a:r>
            <a:r>
              <a:rPr b="0" lang="ko-KR" sz="1300" spc="-1" strike="noStrike">
                <a:solidFill>
                  <a:schemeClr val="dk1"/>
                </a:solidFill>
                <a:latin typeface="Malgun Gothic"/>
              </a:rPr>
              <a:t>확인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78" name="Shape 11"/>
          <p:cNvSpPr/>
          <p:nvPr/>
        </p:nvSpPr>
        <p:spPr>
          <a:xfrm>
            <a:off x="2082600" y="2577960"/>
            <a:ext cx="380880" cy="360"/>
          </a:xfrm>
          <a:prstGeom prst="line">
            <a:avLst/>
          </a:prstGeom>
          <a:ln w="25400">
            <a:solidFill>
              <a:srgbClr val="8a8f9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79" name="Shape 12"/>
          <p:cNvSpPr/>
          <p:nvPr/>
        </p:nvSpPr>
        <p:spPr>
          <a:xfrm>
            <a:off x="3987720" y="2577960"/>
            <a:ext cx="380880" cy="360"/>
          </a:xfrm>
          <a:prstGeom prst="line">
            <a:avLst/>
          </a:prstGeom>
          <a:ln w="25400">
            <a:solidFill>
              <a:srgbClr val="8a8f9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80" name="Shape 13"/>
          <p:cNvSpPr/>
          <p:nvPr/>
        </p:nvSpPr>
        <p:spPr>
          <a:xfrm>
            <a:off x="7416720" y="2577960"/>
            <a:ext cx="380880" cy="360"/>
          </a:xfrm>
          <a:prstGeom prst="line">
            <a:avLst/>
          </a:prstGeom>
          <a:ln w="25400">
            <a:solidFill>
              <a:srgbClr val="8a8f9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81" name="Shape 14"/>
          <p:cNvSpPr/>
          <p:nvPr/>
        </p:nvSpPr>
        <p:spPr>
          <a:xfrm>
            <a:off x="9321480" y="2577960"/>
            <a:ext cx="381240" cy="360"/>
          </a:xfrm>
          <a:prstGeom prst="line">
            <a:avLst/>
          </a:prstGeom>
          <a:ln w="25400">
            <a:solidFill>
              <a:srgbClr val="8a8f9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82" name="Shape 15"/>
          <p:cNvSpPr/>
          <p:nvPr/>
        </p:nvSpPr>
        <p:spPr>
          <a:xfrm>
            <a:off x="5511600" y="3149280"/>
            <a:ext cx="360" cy="508320"/>
          </a:xfrm>
          <a:prstGeom prst="line">
            <a:avLst/>
          </a:prstGeom>
          <a:ln w="25400">
            <a:solidFill>
              <a:srgbClr val="d9772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83" name="Shape 16"/>
          <p:cNvSpPr/>
          <p:nvPr/>
        </p:nvSpPr>
        <p:spPr>
          <a:xfrm flipV="1">
            <a:off x="6273720" y="3149280"/>
            <a:ext cx="360" cy="508320"/>
          </a:xfrm>
          <a:prstGeom prst="line">
            <a:avLst/>
          </a:prstGeom>
          <a:ln w="25400">
            <a:solidFill>
              <a:srgbClr val="d9772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84" name="Shape 17"/>
          <p:cNvSpPr/>
          <p:nvPr/>
        </p:nvSpPr>
        <p:spPr>
          <a:xfrm flipV="1">
            <a:off x="2527200" y="3054240"/>
            <a:ext cx="360" cy="603360"/>
          </a:xfrm>
          <a:prstGeom prst="line">
            <a:avLst/>
          </a:prstGeom>
          <a:ln w="25400">
            <a:solidFill>
              <a:srgbClr val="8a8f9a"/>
            </a:solidFill>
            <a:prstDash val="dash"/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85" name="Shape 18"/>
          <p:cNvSpPr/>
          <p:nvPr/>
        </p:nvSpPr>
        <p:spPr>
          <a:xfrm>
            <a:off x="2527200" y="3054240"/>
            <a:ext cx="1841400" cy="360"/>
          </a:xfrm>
          <a:prstGeom prst="line">
            <a:avLst/>
          </a:prstGeom>
          <a:ln w="25400">
            <a:solidFill>
              <a:srgbClr val="8a8f9a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86" name="Shape 19"/>
          <p:cNvSpPr/>
          <p:nvPr/>
        </p:nvSpPr>
        <p:spPr>
          <a:xfrm>
            <a:off x="7416720" y="3054240"/>
            <a:ext cx="2031840" cy="360"/>
          </a:xfrm>
          <a:prstGeom prst="line">
            <a:avLst/>
          </a:prstGeom>
          <a:ln w="25400">
            <a:solidFill>
              <a:srgbClr val="8a8f9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87" name="Shape 20"/>
          <p:cNvSpPr/>
          <p:nvPr/>
        </p:nvSpPr>
        <p:spPr>
          <a:xfrm>
            <a:off x="9448560" y="3054240"/>
            <a:ext cx="360" cy="603360"/>
          </a:xfrm>
          <a:prstGeom prst="line">
            <a:avLst/>
          </a:prstGeom>
          <a:ln w="25400">
            <a:solidFill>
              <a:srgbClr val="8a8f9a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88" name="Text 21"/>
          <p:cNvSpPr/>
          <p:nvPr/>
        </p:nvSpPr>
        <p:spPr>
          <a:xfrm>
            <a:off x="4876920" y="3289320"/>
            <a:ext cx="55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25000"/>
              </a:lnSpc>
              <a:tabLst>
                <a:tab algn="l" pos="0"/>
              </a:tabLst>
            </a:pPr>
            <a:r>
              <a:rPr b="1" lang="ko-KR" sz="1200" spc="-1" strike="noStrike">
                <a:solidFill>
                  <a:schemeClr val="accent2"/>
                </a:solidFill>
                <a:latin typeface="Malgun Gothic"/>
              </a:rPr>
              <a:t>호출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89" name="Text 22"/>
          <p:cNvSpPr/>
          <p:nvPr/>
        </p:nvSpPr>
        <p:spPr>
          <a:xfrm>
            <a:off x="6350040" y="3289320"/>
            <a:ext cx="55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ko-KR" sz="1200" spc="-1" strike="noStrike">
                <a:solidFill>
                  <a:schemeClr val="accent2"/>
                </a:solidFill>
                <a:latin typeface="Malgun Gothic"/>
              </a:rPr>
              <a:t>결과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90" name="Text 23"/>
          <p:cNvSpPr/>
          <p:nvPr/>
        </p:nvSpPr>
        <p:spPr>
          <a:xfrm>
            <a:off x="812880" y="5346720"/>
            <a:ext cx="105660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하네스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 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· </a:t>
            </a:r>
            <a:r>
              <a:rPr b="0" lang="ko-KR" sz="1300" spc="-1" strike="noStrike">
                <a:solidFill>
                  <a:schemeClr val="dk2"/>
                </a:solidFill>
                <a:latin typeface="Malgun Gothic"/>
              </a:rPr>
              <a:t>도구만으로 부족하면 파일 시스템 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· </a:t>
            </a:r>
            <a:r>
              <a:rPr b="0" lang="ko-KR" sz="1300" spc="-1" strike="noStrike">
                <a:solidFill>
                  <a:schemeClr val="dk2"/>
                </a:solidFill>
                <a:latin typeface="Malgun Gothic"/>
              </a:rPr>
              <a:t>플래닝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(</a:t>
            </a:r>
            <a:r>
              <a:rPr b="0" lang="ko-KR" sz="1300" spc="-1" strike="noStrike">
                <a:solidFill>
                  <a:schemeClr val="dk2"/>
                </a:solidFill>
                <a:latin typeface="Malgun Gothic"/>
              </a:rPr>
              <a:t>가장 중요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) · </a:t>
            </a:r>
            <a:r>
              <a:rPr b="0" lang="ko-KR" sz="1300" spc="-1" strike="noStrike">
                <a:solidFill>
                  <a:schemeClr val="dk2"/>
                </a:solidFill>
                <a:latin typeface="Malgun Gothic"/>
              </a:rPr>
              <a:t>서브에이전트 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· </a:t>
            </a:r>
            <a:r>
              <a:rPr b="0" lang="ko-KR" sz="1300" spc="-1" strike="noStrike">
                <a:solidFill>
                  <a:schemeClr val="dk2"/>
                </a:solidFill>
                <a:latin typeface="Malgun Gothic"/>
              </a:rPr>
              <a:t>스킬을 갖춘 실행 환경을 붙인다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16"/>
          </p:nvPr>
        </p:nvSpPr>
        <p:spPr>
          <a:xfrm>
            <a:off x="10744200" y="6222960"/>
            <a:ext cx="6346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rgbClr val="7a7f8a"/>
                </a:solidFill>
                <a:latin typeface="Malgun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5BBED0-E082-4E83-A9A8-9ECF370A8ACA}" type="slidenum">
              <a:rPr b="0" lang="en-US" sz="1200" spc="-1" strike="noStrike">
                <a:solidFill>
                  <a:srgbClr val="7a7f8a"/>
                </a:solidFill>
                <a:latin typeface="Malgun Gothic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/>
          </p:nvPr>
        </p:nvSpPr>
        <p:spPr>
          <a:xfrm>
            <a:off x="812880" y="749160"/>
            <a:ext cx="10566000" cy="25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5</a:t>
            </a:r>
            <a:r>
              <a:rPr b="1" lang="ko-KR" sz="1200" spc="97" strike="noStrike">
                <a:solidFill>
                  <a:schemeClr val="accent2"/>
                </a:solidFill>
                <a:latin typeface="Malgun Gothic"/>
              </a:rPr>
              <a:t>일차 </a:t>
            </a: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· MCP </a:t>
            </a:r>
            <a:r>
              <a:rPr b="1" lang="ko-KR" sz="1200" spc="97" strike="noStrike">
                <a:solidFill>
                  <a:schemeClr val="accent2"/>
                </a:solidFill>
                <a:latin typeface="Malgun Gothic"/>
              </a:rPr>
              <a:t>기초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title"/>
          </p:nvPr>
        </p:nvSpPr>
        <p:spPr>
          <a:xfrm>
            <a:off x="812880" y="1028880"/>
            <a:ext cx="10566000" cy="5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Malgun Gothic"/>
              </a:rPr>
              <a:t>MCP</a:t>
            </a: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는 </a:t>
            </a:r>
            <a:r>
              <a:rPr b="1" lang="en-US" sz="3000" spc="-1" strike="noStrike">
                <a:solidFill>
                  <a:schemeClr val="dk1"/>
                </a:solidFill>
                <a:latin typeface="Malgun Gothic"/>
              </a:rPr>
              <a:t>AI</a:t>
            </a: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에 도구를 꽂는 </a:t>
            </a:r>
            <a:r>
              <a:rPr b="1" lang="en-US" sz="3000" spc="-1" strike="noStrike">
                <a:solidFill>
                  <a:schemeClr val="dk1"/>
                </a:solidFill>
                <a:latin typeface="Malgun Gothic"/>
              </a:rPr>
              <a:t>USB </a:t>
            </a: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포트</a:t>
            </a:r>
            <a:endParaRPr b="0" lang="en-US" sz="30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94" name="mcp-client"/>
          <p:cNvSpPr/>
          <p:nvPr/>
        </p:nvSpPr>
        <p:spPr>
          <a:xfrm>
            <a:off x="812880" y="1828800"/>
            <a:ext cx="3017160" cy="2057040"/>
          </a:xfrm>
          <a:prstGeom prst="roundRect">
            <a:avLst>
              <a:gd name="adj" fmla="val 6306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9600" rIns="219600" tIns="164520" bIns="164520" anchor="t">
            <a:noAutofit/>
          </a:bodyPr>
          <a:p>
            <a:pPr defTabSz="914400">
              <a:lnSpc>
                <a:spcPct val="125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Malgun Gothic"/>
              </a:rPr>
              <a:t>AI </a:t>
            </a:r>
            <a:r>
              <a:rPr b="1" lang="ko-KR" sz="1500" spc="-1" strike="noStrike">
                <a:solidFill>
                  <a:schemeClr val="accent2"/>
                </a:solidFill>
                <a:latin typeface="Malgun Gothic"/>
              </a:rPr>
              <a:t>쪽 </a:t>
            </a:r>
            <a:r>
              <a:rPr b="1" lang="en-US" sz="1500" spc="-1" strike="noStrike">
                <a:solidFill>
                  <a:schemeClr val="dk1"/>
                </a:solidFill>
                <a:latin typeface="Malgun Gothic"/>
              </a:rPr>
              <a:t>· </a:t>
            </a:r>
            <a:r>
              <a:rPr b="1" lang="ko-KR" sz="1500" spc="-1" strike="noStrike">
                <a:solidFill>
                  <a:schemeClr val="dk1"/>
                </a:solidFill>
                <a:latin typeface="Malgun Gothic"/>
              </a:rPr>
              <a:t>클라이언트</a:t>
            </a:r>
            <a:endParaRPr b="0" lang="en-US" sz="15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주피터 노트북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· VS Code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Claude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앱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에이전트는 지시만 하고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,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검색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·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파일 저장 같은 실제 일은 도구가 한다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95" name="mcp-protocol"/>
          <p:cNvSpPr/>
          <p:nvPr/>
        </p:nvSpPr>
        <p:spPr>
          <a:xfrm>
            <a:off x="4653360" y="1828800"/>
            <a:ext cx="2651400" cy="2057040"/>
          </a:xfrm>
          <a:prstGeom prst="roundRect">
            <a:avLst>
              <a:gd name="adj" fmla="val 6306"/>
            </a:avLst>
          </a:prstGeom>
          <a:solidFill>
            <a:schemeClr val="accent3"/>
          </a:solidFill>
          <a:ln w="25400">
            <a:solidFill>
              <a:srgbClr val="d977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9600" rIns="219600" tIns="164520" bIns="164520" anchor="t">
            <a:noAutofit/>
          </a:bodyPr>
          <a:p>
            <a:pPr algn="ctr" defTabSz="914400">
              <a:lnSpc>
                <a:spcPct val="125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Malgun Gothic"/>
              </a:rPr>
              <a:t>MCP </a:t>
            </a:r>
            <a:r>
              <a:rPr b="1" lang="ko-KR" sz="1500" spc="-1" strike="noStrike">
                <a:solidFill>
                  <a:schemeClr val="dk1"/>
                </a:solidFill>
                <a:latin typeface="Malgun Gothic"/>
              </a:rPr>
              <a:t>연결 규격</a:t>
            </a:r>
            <a:endParaRPr b="0" lang="en-US" sz="15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ct val="14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ko-KR" sz="1300" spc="-1" strike="noStrike">
                <a:solidFill>
                  <a:schemeClr val="accent2"/>
                </a:solidFill>
                <a:latin typeface="Malgun Gothic"/>
              </a:rPr>
              <a:t>로컬 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stdio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ct val="140000"/>
              </a:lnSpc>
              <a:tabLst>
                <a:tab algn="l" pos="0"/>
              </a:tabLst>
            </a:pPr>
            <a:r>
              <a:rPr b="1" lang="ko-KR" sz="1300" spc="-1" strike="noStrike">
                <a:solidFill>
                  <a:schemeClr val="accent2"/>
                </a:solidFill>
                <a:latin typeface="Malgun Gothic"/>
              </a:rPr>
              <a:t>원격 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URL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2"/>
                </a:solidFill>
                <a:latin typeface="Malgun Gothic"/>
              </a:rPr>
              <a:t>(Streamable HTTP)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96" name="Arrow"/>
          <p:cNvSpPr/>
          <p:nvPr/>
        </p:nvSpPr>
        <p:spPr>
          <a:xfrm>
            <a:off x="4013280" y="2775240"/>
            <a:ext cx="456840" cy="16416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080" bIns="370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97" name="Arrow"/>
          <p:cNvSpPr/>
          <p:nvPr/>
        </p:nvSpPr>
        <p:spPr>
          <a:xfrm>
            <a:off x="7488000" y="2775240"/>
            <a:ext cx="456840" cy="16416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080" bIns="370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298" name="mcp-server"/>
          <p:cNvSpPr/>
          <p:nvPr/>
        </p:nvSpPr>
        <p:spPr>
          <a:xfrm>
            <a:off x="8128080" y="1828800"/>
            <a:ext cx="3251160" cy="2057040"/>
          </a:xfrm>
          <a:prstGeom prst="roundRect">
            <a:avLst>
              <a:gd name="adj" fmla="val 6306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9600" rIns="219600" tIns="164520" bIns="164520" anchor="t">
            <a:noAutofit/>
          </a:bodyPr>
          <a:p>
            <a:pPr defTabSz="914400">
              <a:lnSpc>
                <a:spcPct val="125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ko-KR" sz="1500" spc="-1" strike="noStrike">
                <a:solidFill>
                  <a:schemeClr val="accent2"/>
                </a:solidFill>
                <a:latin typeface="Malgun Gothic"/>
              </a:rPr>
              <a:t>도구 쪽 </a:t>
            </a:r>
            <a:r>
              <a:rPr b="1" lang="en-US" sz="1500" spc="-1" strike="noStrike">
                <a:solidFill>
                  <a:schemeClr val="dk1"/>
                </a:solidFill>
                <a:latin typeface="Malgun Gothic"/>
              </a:rPr>
              <a:t>· MCP </a:t>
            </a:r>
            <a:r>
              <a:rPr b="1" lang="ko-KR" sz="1500" spc="-1" strike="noStrike">
                <a:solidFill>
                  <a:schemeClr val="dk1"/>
                </a:solidFill>
                <a:latin typeface="Malgun Gothic"/>
              </a:rPr>
              <a:t>서버</a:t>
            </a:r>
            <a:endParaRPr b="0" lang="en-US" sz="15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내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PC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에서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uvx · npx · Docker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로 실행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99" name="tool-fetch"/>
          <p:cNvSpPr/>
          <p:nvPr/>
        </p:nvSpPr>
        <p:spPr>
          <a:xfrm>
            <a:off x="8347680" y="2788920"/>
            <a:ext cx="639720" cy="273960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fetch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00" name="tool-Playwright"/>
          <p:cNvSpPr/>
          <p:nvPr/>
        </p:nvSpPr>
        <p:spPr>
          <a:xfrm>
            <a:off x="9079200" y="2788920"/>
            <a:ext cx="959760" cy="273960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Playwright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01" name="tool-filesystem"/>
          <p:cNvSpPr/>
          <p:nvPr/>
        </p:nvSpPr>
        <p:spPr>
          <a:xfrm>
            <a:off x="10130760" y="2788920"/>
            <a:ext cx="1005480" cy="273960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filesystem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02" name="tool-Context7"/>
          <p:cNvSpPr/>
          <p:nvPr/>
        </p:nvSpPr>
        <p:spPr>
          <a:xfrm>
            <a:off x="8347680" y="3154680"/>
            <a:ext cx="914040" cy="273960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Context7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03" name="tool-Tavily"/>
          <p:cNvSpPr/>
          <p:nvPr/>
        </p:nvSpPr>
        <p:spPr>
          <a:xfrm>
            <a:off x="9353520" y="3154680"/>
            <a:ext cx="731160" cy="273960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Tavily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04" name="mcp-fact-1"/>
          <p:cNvSpPr/>
          <p:nvPr/>
        </p:nvSpPr>
        <p:spPr>
          <a:xfrm>
            <a:off x="812880" y="4160520"/>
            <a:ext cx="3339000" cy="1416960"/>
          </a:xfrm>
          <a:prstGeom prst="roundRect">
            <a:avLst>
              <a:gd name="adj" fmla="val 6306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9600" rIns="219600" tIns="164520" bIns="164520" anchor="t">
            <a:noAutofit/>
          </a:bodyPr>
          <a:p>
            <a:pPr defTabSz="914400">
              <a:lnSpc>
                <a:spcPct val="125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ko-KR" sz="1400" spc="-1" strike="noStrike">
                <a:solidFill>
                  <a:schemeClr val="dk1"/>
                </a:solidFill>
                <a:latin typeface="Malgun Gothic"/>
              </a:rPr>
              <a:t>도구가 도는 곳 ≠ 자료가 있는 곳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fetch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는 내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PC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에서 돌지만 읽는 것은 인터넷 페이지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05" name="mcp-fact-2"/>
          <p:cNvSpPr/>
          <p:nvPr/>
        </p:nvSpPr>
        <p:spPr>
          <a:xfrm>
            <a:off x="4426560" y="4160520"/>
            <a:ext cx="3339000" cy="1416960"/>
          </a:xfrm>
          <a:prstGeom prst="roundRect">
            <a:avLst>
              <a:gd name="adj" fmla="val 6306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9600" rIns="219600" tIns="164520" bIns="164520" anchor="t">
            <a:noAutofit/>
          </a:bodyPr>
          <a:p>
            <a:pPr defTabSz="914400">
              <a:lnSpc>
                <a:spcPct val="125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Malgun Gothic"/>
              </a:rPr>
              <a:t>AI</a:t>
            </a:r>
            <a:r>
              <a:rPr b="1" lang="ko-KR" sz="1400" spc="-1" strike="noStrike">
                <a:solidFill>
                  <a:schemeClr val="dk1"/>
                </a:solidFill>
                <a:latin typeface="Malgun Gothic"/>
              </a:rPr>
              <a:t>가 잘 읽는 형식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JSON · Markdown · XML —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도구 결과도 이 형식으로 주고받는다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06" name="mcp-fact-3"/>
          <p:cNvSpPr/>
          <p:nvPr/>
        </p:nvSpPr>
        <p:spPr>
          <a:xfrm>
            <a:off x="8040240" y="4160520"/>
            <a:ext cx="3339000" cy="1416960"/>
          </a:xfrm>
          <a:prstGeom prst="roundRect">
            <a:avLst>
              <a:gd name="adj" fmla="val 6306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9600" rIns="219600" tIns="164520" bIns="164520" anchor="t">
            <a:noAutofit/>
          </a:bodyPr>
          <a:p>
            <a:pPr defTabSz="914400">
              <a:lnSpc>
                <a:spcPct val="125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ko-KR" sz="1400" spc="-1" strike="noStrike">
                <a:solidFill>
                  <a:schemeClr val="dk1"/>
                </a:solidFill>
                <a:latin typeface="Malgun Gothic"/>
              </a:rPr>
              <a:t>만들지 말고 가져다 쓴다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AI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개발은 속도전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.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교수님 추천 서버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: GitHub, Chrome DevTools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/>
          </p:nvPr>
        </p:nvSpPr>
        <p:spPr>
          <a:xfrm>
            <a:off x="812880" y="749160"/>
            <a:ext cx="10566000" cy="25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5</a:t>
            </a:r>
            <a:r>
              <a:rPr b="1" lang="ko-KR" sz="1200" spc="97" strike="noStrike">
                <a:solidFill>
                  <a:schemeClr val="accent2"/>
                </a:solidFill>
                <a:latin typeface="Malgun Gothic"/>
              </a:rPr>
              <a:t>일차 </a:t>
            </a: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· MCP </a:t>
            </a:r>
            <a:r>
              <a:rPr b="1" lang="ko-KR" sz="1200" spc="97" strike="noStrike">
                <a:solidFill>
                  <a:schemeClr val="accent2"/>
                </a:solidFill>
                <a:latin typeface="Malgun Gothic"/>
              </a:rPr>
              <a:t>실습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title"/>
          </p:nvPr>
        </p:nvSpPr>
        <p:spPr>
          <a:xfrm>
            <a:off x="812880" y="1028880"/>
            <a:ext cx="10566000" cy="5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도구를 꽂으면 순서는 </a:t>
            </a:r>
            <a:r>
              <a:rPr b="1" lang="en-US" sz="3000" spc="-1" strike="noStrike">
                <a:solidFill>
                  <a:schemeClr val="dk1"/>
                </a:solidFill>
                <a:latin typeface="Malgun Gothic"/>
              </a:rPr>
              <a:t>AI</a:t>
            </a: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가 알아서 정한다</a:t>
            </a:r>
            <a:endParaRPr b="0" lang="en-US" sz="30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309" name="lab-1"/>
          <p:cNvSpPr/>
          <p:nvPr/>
        </p:nvSpPr>
        <p:spPr>
          <a:xfrm>
            <a:off x="812880" y="1783080"/>
            <a:ext cx="3339000" cy="1572480"/>
          </a:xfrm>
          <a:prstGeom prst="roundRect">
            <a:avLst>
              <a:gd name="adj" fmla="val 6306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9600" rIns="219600" tIns="164520" bIns="164520" anchor="t">
            <a:noAutofit/>
          </a:bodyPr>
          <a:p>
            <a:pPr defTabSz="914400">
              <a:lnSpc>
                <a:spcPct val="125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Malgun Gothic"/>
              </a:rPr>
              <a:t>01 </a:t>
            </a:r>
            <a:r>
              <a:rPr b="1" lang="en-US" sz="1500" spc="-1" strike="noStrike">
                <a:solidFill>
                  <a:schemeClr val="dk1"/>
                </a:solidFill>
                <a:latin typeface="Malgun Gothic"/>
              </a:rPr>
              <a:t>mcp_basic</a:t>
            </a:r>
            <a:endParaRPr b="0" lang="en-US" sz="15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떡 조리법 검색 →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ricecake.md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저장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순서를 알려 주지 않아도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AI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가 도구를 골라 실행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10" name="lab-2"/>
          <p:cNvSpPr/>
          <p:nvPr/>
        </p:nvSpPr>
        <p:spPr>
          <a:xfrm>
            <a:off x="4426560" y="1783080"/>
            <a:ext cx="3339000" cy="1572480"/>
          </a:xfrm>
          <a:prstGeom prst="roundRect">
            <a:avLst>
              <a:gd name="adj" fmla="val 6306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9600" rIns="219600" tIns="164520" bIns="164520" anchor="t">
            <a:noAutofit/>
          </a:bodyPr>
          <a:p>
            <a:pPr defTabSz="914400">
              <a:lnSpc>
                <a:spcPct val="125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Malgun Gothic"/>
              </a:rPr>
              <a:t>02 </a:t>
            </a:r>
            <a:r>
              <a:rPr b="1" lang="en-US" sz="1500" spc="-1" strike="noStrike">
                <a:solidFill>
                  <a:schemeClr val="dk1"/>
                </a:solidFill>
                <a:latin typeface="Malgun Gothic"/>
              </a:rPr>
              <a:t>Context7</a:t>
            </a:r>
            <a:endParaRPr b="0" lang="en-US" sz="15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꽂기 전엔 “모른다”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꽂은 뒤엔 최신 문서를 찾아서 답함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11" name="lab-3"/>
          <p:cNvSpPr/>
          <p:nvPr/>
        </p:nvSpPr>
        <p:spPr>
          <a:xfrm>
            <a:off x="8040240" y="1783080"/>
            <a:ext cx="3339000" cy="1572480"/>
          </a:xfrm>
          <a:prstGeom prst="roundRect">
            <a:avLst>
              <a:gd name="adj" fmla="val 6306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9600" rIns="219600" tIns="164520" bIns="164520" anchor="t">
            <a:noAutofit/>
          </a:bodyPr>
          <a:p>
            <a:pPr defTabSz="914400">
              <a:lnSpc>
                <a:spcPct val="125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Malgun Gothic"/>
              </a:rPr>
              <a:t>03 </a:t>
            </a:r>
            <a:r>
              <a:rPr b="1" lang="en-US" sz="1500" spc="-1" strike="noStrike">
                <a:solidFill>
                  <a:schemeClr val="dk1"/>
                </a:solidFill>
                <a:latin typeface="Malgun Gothic"/>
              </a:rPr>
              <a:t>Docker </a:t>
            </a:r>
            <a:r>
              <a:rPr b="1" lang="ko-KR" sz="1500" spc="-1" strike="noStrike">
                <a:solidFill>
                  <a:schemeClr val="dk1"/>
                </a:solidFill>
                <a:latin typeface="Malgun Gothic"/>
              </a:rPr>
              <a:t>샌드박스</a:t>
            </a:r>
            <a:endParaRPr b="0" lang="en-US" sz="15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mcp/fetch · mcp/filesystem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을 상자 안에서 실행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--mount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로 허락한 폴더만 연결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12" name="lab-4"/>
          <p:cNvSpPr/>
          <p:nvPr/>
        </p:nvSpPr>
        <p:spPr>
          <a:xfrm>
            <a:off x="812880" y="3630240"/>
            <a:ext cx="3339000" cy="1572480"/>
          </a:xfrm>
          <a:prstGeom prst="roundRect">
            <a:avLst>
              <a:gd name="adj" fmla="val 6306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9600" rIns="219600" tIns="164520" bIns="164520" anchor="t">
            <a:noAutofit/>
          </a:bodyPr>
          <a:p>
            <a:pPr defTabSz="914400">
              <a:lnSpc>
                <a:spcPct val="125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Malgun Gothic"/>
              </a:rPr>
              <a:t>04 </a:t>
            </a:r>
            <a:r>
              <a:rPr b="1" lang="ko-KR" sz="1500" spc="-1" strike="noStrike">
                <a:solidFill>
                  <a:schemeClr val="dk1"/>
                </a:solidFill>
                <a:latin typeface="Malgun Gothic"/>
              </a:rPr>
              <a:t>메모리 </a:t>
            </a:r>
            <a:r>
              <a:rPr b="1" lang="en-US" sz="1500" spc="-1" strike="noStrike">
                <a:solidFill>
                  <a:schemeClr val="dk1"/>
                </a:solidFill>
                <a:latin typeface="Malgun Gothic"/>
              </a:rPr>
              <a:t>MCP</a:t>
            </a:r>
            <a:endParaRPr b="0" lang="en-US" sz="15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새 대화에서도 이름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·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좋아하는 떡을 기억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기억도 모델이 아니라 도구가 한다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13" name="lab-5"/>
          <p:cNvSpPr/>
          <p:nvPr/>
        </p:nvSpPr>
        <p:spPr>
          <a:xfrm>
            <a:off x="4426560" y="3630240"/>
            <a:ext cx="3339000" cy="1572480"/>
          </a:xfrm>
          <a:prstGeom prst="roundRect">
            <a:avLst>
              <a:gd name="adj" fmla="val 6306"/>
            </a:avLst>
          </a:prstGeom>
          <a:solidFill>
            <a:schemeClr val="accent3"/>
          </a:solidFill>
          <a:ln w="25400">
            <a:solidFill>
              <a:srgbClr val="d977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9600" rIns="219600" tIns="164520" bIns="164520" anchor="t">
            <a:noAutofit/>
          </a:bodyPr>
          <a:p>
            <a:pPr defTabSz="914400">
              <a:lnSpc>
                <a:spcPct val="125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Malgun Gothic"/>
              </a:rPr>
              <a:t>05 </a:t>
            </a:r>
            <a:r>
              <a:rPr b="1" lang="en-US" sz="1500" spc="-1" strike="noStrike">
                <a:solidFill>
                  <a:schemeClr val="dk1"/>
                </a:solidFill>
                <a:latin typeface="Malgun Gothic"/>
              </a:rPr>
              <a:t>Agentic RAG</a:t>
            </a:r>
            <a:endParaRPr b="0" lang="en-US" sz="15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Tavily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검색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+ Qdrant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벡터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DB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“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검색해서 저장해 줘” 한마디로 검색 → 저장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14" name="lab-6"/>
          <p:cNvSpPr/>
          <p:nvPr/>
        </p:nvSpPr>
        <p:spPr>
          <a:xfrm>
            <a:off x="8040240" y="3630240"/>
            <a:ext cx="3339000" cy="1572480"/>
          </a:xfrm>
          <a:prstGeom prst="roundRect">
            <a:avLst>
              <a:gd name="adj" fmla="val 6306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9600" rIns="219600" tIns="164520" bIns="164520" anchor="t">
            <a:noAutofit/>
          </a:bodyPr>
          <a:p>
            <a:pPr defTabSz="914400">
              <a:lnSpc>
                <a:spcPct val="125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Malgun Gothic"/>
              </a:rPr>
              <a:t>06 </a:t>
            </a:r>
            <a:r>
              <a:rPr b="1" lang="ko-KR" sz="1500" spc="-1" strike="noStrike">
                <a:solidFill>
                  <a:schemeClr val="dk1"/>
                </a:solidFill>
                <a:latin typeface="Malgun Gothic"/>
              </a:rPr>
              <a:t>시장 데이터 </a:t>
            </a:r>
            <a:r>
              <a:rPr b="1" lang="en-US" sz="1500" spc="-1" strike="noStrike">
                <a:solidFill>
                  <a:schemeClr val="dk1"/>
                </a:solidFill>
                <a:latin typeface="Malgun Gothic"/>
              </a:rPr>
              <a:t>MCP</a:t>
            </a:r>
            <a:endParaRPr b="0" lang="en-US" sz="15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API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권한 부족으로 조회 실패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유료 데이터는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API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키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·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요금제부터 확인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15" name="lab-takeaway"/>
          <p:cNvSpPr/>
          <p:nvPr/>
        </p:nvSpPr>
        <p:spPr>
          <a:xfrm>
            <a:off x="812880" y="5403960"/>
            <a:ext cx="10566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300" spc="-1" strike="noStrike">
                <a:solidFill>
                  <a:schemeClr val="accent2"/>
                </a:solidFill>
                <a:latin typeface="Malgun Gothic"/>
              </a:rPr>
              <a:t>결론 </a:t>
            </a:r>
            <a:r>
              <a:rPr b="1" lang="en-US" sz="1300" spc="-1" strike="noStrike">
                <a:solidFill>
                  <a:schemeClr val="accent2"/>
                </a:solidFill>
                <a:latin typeface="Malgun Gothic"/>
              </a:rPr>
              <a:t>· </a:t>
            </a: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코드는 거의 같고</a:t>
            </a:r>
            <a:r>
              <a:rPr b="1" lang="en-US" sz="1300" spc="-1" strike="noStrike">
                <a:solidFill>
                  <a:schemeClr val="dk1"/>
                </a:solidFill>
                <a:latin typeface="Malgun Gothic"/>
              </a:rPr>
              <a:t>, </a:t>
            </a: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꽂는 서버만 바뀐다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/>
          </p:nvPr>
        </p:nvSpPr>
        <p:spPr>
          <a:xfrm>
            <a:off x="812880" y="749160"/>
            <a:ext cx="10566000" cy="25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5</a:t>
            </a:r>
            <a:r>
              <a:rPr b="1" lang="ko-KR" sz="1200" spc="97" strike="noStrike">
                <a:solidFill>
                  <a:schemeClr val="accent2"/>
                </a:solidFill>
                <a:latin typeface="Malgun Gothic"/>
              </a:rPr>
              <a:t>일차 </a:t>
            </a: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· fetch vs Playwright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 type="title"/>
          </p:nvPr>
        </p:nvSpPr>
        <p:spPr>
          <a:xfrm>
            <a:off x="812880" y="1028880"/>
            <a:ext cx="10566000" cy="5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Malgun Gothic"/>
              </a:rPr>
              <a:t>JS</a:t>
            </a: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로 그리는 페이지는 진짜 브라우저가 필요하다</a:t>
            </a:r>
            <a:endParaRPr b="0" lang="en-US" sz="30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318" name="cmp-fetch"/>
          <p:cNvSpPr/>
          <p:nvPr/>
        </p:nvSpPr>
        <p:spPr>
          <a:xfrm>
            <a:off x="812880" y="1783080"/>
            <a:ext cx="5100120" cy="2880000"/>
          </a:xfrm>
          <a:prstGeom prst="roundRect">
            <a:avLst>
              <a:gd name="adj" fmla="val 6306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74320" rIns="274320" tIns="219600" bIns="182880" anchor="t">
            <a:noAutofit/>
          </a:bodyPr>
          <a:p>
            <a:pPr defTabSz="914400">
              <a:lnSpc>
                <a:spcPct val="125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1"/>
                </a:solidFill>
                <a:latin typeface="Malgun Gothic"/>
              </a:rPr>
              <a:t>fetch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 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웹 페이지 →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Markdown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변환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4800" spc="-1" strike="noStrike">
                <a:solidFill>
                  <a:schemeClr val="accent5"/>
                </a:solidFill>
                <a:latin typeface="Malgun Gothic"/>
              </a:rPr>
              <a:t>85</a:t>
            </a:r>
            <a:r>
              <a:rPr b="1" lang="en-US" sz="1600" spc="-1" strike="noStrike">
                <a:solidFill>
                  <a:schemeClr val="dk2"/>
                </a:solidFill>
                <a:latin typeface="Malgun Gothic"/>
              </a:rPr>
              <a:t> </a:t>
            </a:r>
            <a:r>
              <a:rPr b="1" lang="ko-KR" sz="1600" spc="-1" strike="noStrike">
                <a:solidFill>
                  <a:schemeClr val="dk2"/>
                </a:solidFill>
                <a:latin typeface="Malgun Gothic"/>
              </a:rPr>
              <a:t>자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ko-KR" sz="1100" spc="-1" strike="noStrike">
                <a:solidFill>
                  <a:schemeClr val="dk2"/>
                </a:solidFill>
                <a:latin typeface="Malgun Gothic"/>
              </a:rPr>
              <a:t>같은 취약점 페이지에서 가져온 글자 수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1"/>
                </a:solidFill>
                <a:latin typeface="Malgun Gothic"/>
              </a:rPr>
              <a:t>“</a:t>
            </a: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불러오는 중</a:t>
            </a:r>
            <a:r>
              <a:rPr b="1" lang="en-US" sz="1300" spc="-1" strike="noStrike">
                <a:solidFill>
                  <a:schemeClr val="dk1"/>
                </a:solidFill>
                <a:latin typeface="Malgun Gothic"/>
              </a:rPr>
              <a:t>...”</a:t>
            </a: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만 수집 </a:t>
            </a:r>
            <a:r>
              <a:rPr b="1" lang="en-US" sz="1300" spc="-1" strike="noStrike">
                <a:solidFill>
                  <a:schemeClr val="dk1"/>
                </a:solidFill>
                <a:latin typeface="Malgun Gothic"/>
              </a:rPr>
              <a:t>· CVE </a:t>
            </a: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번호 없음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가볍고 빠르지만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JS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실행 전의 화면만 읽음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19" name="cmp-Playwright"/>
          <p:cNvSpPr/>
          <p:nvPr/>
        </p:nvSpPr>
        <p:spPr>
          <a:xfrm>
            <a:off x="6279120" y="1783080"/>
            <a:ext cx="5100120" cy="2880000"/>
          </a:xfrm>
          <a:prstGeom prst="roundRect">
            <a:avLst>
              <a:gd name="adj" fmla="val 6306"/>
            </a:avLst>
          </a:prstGeom>
          <a:solidFill>
            <a:schemeClr val="accent3"/>
          </a:solidFill>
          <a:ln w="25400">
            <a:solidFill>
              <a:srgbClr val="d977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74320" rIns="274320" tIns="219600" bIns="182880" anchor="t">
            <a:noAutofit/>
          </a:bodyPr>
          <a:p>
            <a:pPr defTabSz="914400">
              <a:lnSpc>
                <a:spcPct val="125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1"/>
                </a:solidFill>
                <a:latin typeface="Malgun Gothic"/>
              </a:rPr>
              <a:t>Playwright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 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진짜 브라우저로 페이지를 띄움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4800" spc="-1" strike="noStrike">
                <a:solidFill>
                  <a:schemeClr val="accent1"/>
                </a:solidFill>
                <a:latin typeface="Malgun Gothic"/>
              </a:rPr>
              <a:t>222</a:t>
            </a:r>
            <a:r>
              <a:rPr b="1" lang="en-US" sz="1600" spc="-1" strike="noStrike">
                <a:solidFill>
                  <a:schemeClr val="dk2"/>
                </a:solidFill>
                <a:latin typeface="Malgun Gothic"/>
              </a:rPr>
              <a:t> </a:t>
            </a:r>
            <a:r>
              <a:rPr b="1" lang="ko-KR" sz="1600" spc="-1" strike="noStrike">
                <a:solidFill>
                  <a:schemeClr val="dk2"/>
                </a:solidFill>
                <a:latin typeface="Malgun Gothic"/>
              </a:rPr>
              <a:t>자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2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ko-KR" sz="1100" spc="-1" strike="noStrike">
                <a:solidFill>
                  <a:schemeClr val="dk2"/>
                </a:solidFill>
                <a:latin typeface="Malgun Gothic"/>
              </a:rPr>
              <a:t>같은 취약점 페이지에서 가져온 글자 수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1"/>
                </a:solidFill>
                <a:latin typeface="Malgun Gothic"/>
              </a:rPr>
              <a:t>CVE-2021-44228 · CVSS 10.0 · </a:t>
            </a: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조치 방법까지 수집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무겁지만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JS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가 그린 실제 내용을 읽음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20" name="rule-label"/>
          <p:cNvSpPr/>
          <p:nvPr/>
        </p:nvSpPr>
        <p:spPr>
          <a:xfrm>
            <a:off x="812880" y="5029200"/>
            <a:ext cx="1737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300" spc="-1" strike="noStrike">
                <a:solidFill>
                  <a:schemeClr val="dk1"/>
                </a:solidFill>
                <a:latin typeface="Malgun Gothic"/>
              </a:rPr>
              <a:t>사용 순서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21" name="rule-1"/>
          <p:cNvSpPr/>
          <p:nvPr/>
        </p:nvSpPr>
        <p:spPr>
          <a:xfrm>
            <a:off x="2641680" y="5029200"/>
            <a:ext cx="1737000" cy="328680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Malgun Gothic"/>
              </a:rPr>
              <a:t>fetch</a:t>
            </a: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로 먼저 시도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22" name="Arrow"/>
          <p:cNvSpPr/>
          <p:nvPr/>
        </p:nvSpPr>
        <p:spPr>
          <a:xfrm>
            <a:off x="4507200" y="5139000"/>
            <a:ext cx="200880" cy="1141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323" name="rule-2"/>
          <p:cNvSpPr/>
          <p:nvPr/>
        </p:nvSpPr>
        <p:spPr>
          <a:xfrm>
            <a:off x="4836240" y="5029200"/>
            <a:ext cx="1737000" cy="328680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 w="12700">
            <a:solidFill>
              <a:srgbClr val="c7c1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1"/>
                </a:solidFill>
                <a:latin typeface="Malgun Gothic"/>
              </a:rPr>
              <a:t>내용이 비었나 확인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24" name="Arrow"/>
          <p:cNvSpPr/>
          <p:nvPr/>
        </p:nvSpPr>
        <p:spPr>
          <a:xfrm>
            <a:off x="6701760" y="5139000"/>
            <a:ext cx="200880" cy="1141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325" name="rule-3"/>
          <p:cNvSpPr/>
          <p:nvPr/>
        </p:nvSpPr>
        <p:spPr>
          <a:xfrm>
            <a:off x="7030800" y="5029200"/>
            <a:ext cx="1737000" cy="32868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25400">
            <a:solidFill>
              <a:srgbClr val="d977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Malgun Gothic"/>
              </a:rPr>
              <a:t>Playwright</a:t>
            </a:r>
            <a:r>
              <a:rPr b="1" lang="ko-KR" sz="1200" spc="-1" strike="noStrike">
                <a:solidFill>
                  <a:schemeClr val="dk1"/>
                </a:solidFill>
                <a:latin typeface="Malgun Gothic"/>
              </a:rPr>
              <a:t>로 전환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26" name="rule-note"/>
          <p:cNvSpPr/>
          <p:nvPr/>
        </p:nvSpPr>
        <p:spPr>
          <a:xfrm>
            <a:off x="9042480" y="5029200"/>
            <a:ext cx="2336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가벼운 도구부터 시작한다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/>
          </p:nvPr>
        </p:nvSpPr>
        <p:spPr>
          <a:xfrm>
            <a:off x="812880" y="749160"/>
            <a:ext cx="10566000" cy="25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5</a:t>
            </a:r>
            <a:r>
              <a:rPr b="1" lang="ko-KR" sz="1200" spc="97" strike="noStrike">
                <a:solidFill>
                  <a:schemeClr val="accent2"/>
                </a:solidFill>
                <a:latin typeface="Malgun Gothic"/>
              </a:rPr>
              <a:t>일차 </a:t>
            </a:r>
            <a:r>
              <a:rPr b="1" lang="en-US" sz="1200" spc="97" strike="noStrike">
                <a:solidFill>
                  <a:schemeClr val="accent2"/>
                </a:solidFill>
                <a:latin typeface="Malgun Gothic"/>
              </a:rPr>
              <a:t>· </a:t>
            </a:r>
            <a:r>
              <a:rPr b="1" lang="ko-KR" sz="1200" spc="97" strike="noStrike">
                <a:solidFill>
                  <a:schemeClr val="accent2"/>
                </a:solidFill>
                <a:latin typeface="Malgun Gothic"/>
              </a:rPr>
              <a:t>내 도구 만들기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 type="title"/>
          </p:nvPr>
        </p:nvSpPr>
        <p:spPr>
          <a:xfrm>
            <a:off x="812880" y="1028880"/>
            <a:ext cx="10566000" cy="5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도구 </a:t>
            </a:r>
            <a:r>
              <a:rPr b="1" lang="en-US" sz="3000" spc="-1" strike="noStrike">
                <a:solidFill>
                  <a:schemeClr val="dk1"/>
                </a:solidFill>
                <a:latin typeface="Malgun Gothic"/>
              </a:rPr>
              <a:t>3</a:t>
            </a:r>
            <a:r>
              <a:rPr b="1" lang="ko-KR" sz="3000" spc="-1" strike="noStrike">
                <a:solidFill>
                  <a:schemeClr val="dk1"/>
                </a:solidFill>
                <a:latin typeface="Malgun Gothic"/>
              </a:rPr>
              <a:t>개로 취약점 보고서를 자동 작성</a:t>
            </a:r>
            <a:endParaRPr b="0" lang="en-US" sz="30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329" name="flow-1"/>
          <p:cNvSpPr/>
          <p:nvPr/>
        </p:nvSpPr>
        <p:spPr>
          <a:xfrm>
            <a:off x="812880" y="1783080"/>
            <a:ext cx="1783800" cy="80424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91440" bIns="91440" anchor="ctr">
            <a:noAutofit/>
          </a:bodyPr>
          <a:p>
            <a:pPr algn="ctr" defTabSz="914400">
              <a:lnSpc>
                <a:spcPct val="11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Malgun Gothic"/>
              </a:rPr>
              <a:t>assets.md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ko-KR" sz="1100" spc="-1" strike="noStrike">
                <a:solidFill>
                  <a:schemeClr val="dk2"/>
                </a:solidFill>
                <a:latin typeface="Malgun Gothic"/>
              </a:rPr>
              <a:t>자산 목록 읽기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30" name="Arrow"/>
          <p:cNvSpPr/>
          <p:nvPr/>
        </p:nvSpPr>
        <p:spPr>
          <a:xfrm>
            <a:off x="2702160" y="2128320"/>
            <a:ext cx="200880" cy="1141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331" name="flow-2"/>
          <p:cNvSpPr/>
          <p:nvPr/>
        </p:nvSpPr>
        <p:spPr>
          <a:xfrm>
            <a:off x="3008520" y="1783080"/>
            <a:ext cx="1783800" cy="80424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25400">
            <a:solidFill>
              <a:srgbClr val="d977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91440" bIns="91440" anchor="ctr">
            <a:noAutofit/>
          </a:bodyPr>
          <a:p>
            <a:pPr algn="ctr" defTabSz="914400">
              <a:lnSpc>
                <a:spcPct val="11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Malgun Gothic"/>
              </a:rPr>
              <a:t>list_cves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ko-KR" sz="1100" spc="-1" strike="noStrike">
                <a:solidFill>
                  <a:schemeClr val="dk2"/>
                </a:solidFill>
                <a:latin typeface="Malgun Gothic"/>
              </a:rPr>
              <a:t>등록된 </a:t>
            </a:r>
            <a:r>
              <a:rPr b="0" lang="en-US" sz="1100" spc="-1" strike="noStrike">
                <a:solidFill>
                  <a:schemeClr val="dk2"/>
                </a:solidFill>
                <a:latin typeface="Malgun Gothic"/>
              </a:rPr>
              <a:t>CVE </a:t>
            </a:r>
            <a:r>
              <a:rPr b="0" lang="ko-KR" sz="1100" spc="-1" strike="noStrike">
                <a:solidFill>
                  <a:schemeClr val="dk2"/>
                </a:solidFill>
                <a:latin typeface="Malgun Gothic"/>
              </a:rPr>
              <a:t>확인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32" name="Arrow"/>
          <p:cNvSpPr/>
          <p:nvPr/>
        </p:nvSpPr>
        <p:spPr>
          <a:xfrm>
            <a:off x="4897800" y="2128320"/>
            <a:ext cx="200880" cy="1141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333" name="flow-3"/>
          <p:cNvSpPr/>
          <p:nvPr/>
        </p:nvSpPr>
        <p:spPr>
          <a:xfrm>
            <a:off x="5204160" y="1783080"/>
            <a:ext cx="1783800" cy="80424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25400">
            <a:solidFill>
              <a:srgbClr val="d977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91440" bIns="91440" anchor="ctr">
            <a:noAutofit/>
          </a:bodyPr>
          <a:p>
            <a:pPr algn="ctr" defTabSz="914400">
              <a:lnSpc>
                <a:spcPct val="11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Malgun Gothic"/>
              </a:rPr>
              <a:t>lookup_cve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2"/>
                </a:solidFill>
                <a:latin typeface="Malgun Gothic"/>
              </a:rPr>
              <a:t>CVE </a:t>
            </a:r>
            <a:r>
              <a:rPr b="0" lang="ko-KR" sz="1100" spc="-1" strike="noStrike">
                <a:solidFill>
                  <a:schemeClr val="dk2"/>
                </a:solidFill>
                <a:latin typeface="Malgun Gothic"/>
              </a:rPr>
              <a:t>상세 조회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34" name="Arrow"/>
          <p:cNvSpPr/>
          <p:nvPr/>
        </p:nvSpPr>
        <p:spPr>
          <a:xfrm>
            <a:off x="7093440" y="2128320"/>
            <a:ext cx="200880" cy="1141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335" name="flow-4"/>
          <p:cNvSpPr/>
          <p:nvPr/>
        </p:nvSpPr>
        <p:spPr>
          <a:xfrm>
            <a:off x="7399800" y="1783080"/>
            <a:ext cx="1783800" cy="80424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91440" bIns="91440" anchor="ctr">
            <a:noAutofit/>
          </a:bodyPr>
          <a:p>
            <a:pPr algn="ctr" defTabSz="914400">
              <a:lnSpc>
                <a:spcPct val="11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ko-KR" sz="1400" spc="-1" strike="noStrike">
                <a:solidFill>
                  <a:schemeClr val="dk1"/>
                </a:solidFill>
                <a:latin typeface="Malgun Gothic"/>
              </a:rPr>
              <a:t>버전 비교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ko-KR" sz="1100" spc="-1" strike="noStrike">
                <a:solidFill>
                  <a:schemeClr val="dk2"/>
                </a:solidFill>
                <a:latin typeface="Malgun Gothic"/>
              </a:rPr>
              <a:t>영향 여부 판단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36" name="Arrow"/>
          <p:cNvSpPr/>
          <p:nvPr/>
        </p:nvSpPr>
        <p:spPr>
          <a:xfrm>
            <a:off x="9289080" y="2128320"/>
            <a:ext cx="200880" cy="1141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337" name="flow-5"/>
          <p:cNvSpPr/>
          <p:nvPr/>
        </p:nvSpPr>
        <p:spPr>
          <a:xfrm>
            <a:off x="9595440" y="1783080"/>
            <a:ext cx="1783800" cy="80424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91440" bIns="91440" anchor="ctr">
            <a:noAutofit/>
          </a:bodyPr>
          <a:p>
            <a:pPr algn="ctr" defTabSz="914400">
              <a:lnSpc>
                <a:spcPct val="11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Malgun Gothic"/>
              </a:rPr>
              <a:t>report.md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ko-KR" sz="1100" spc="-1" strike="noStrike">
                <a:solidFill>
                  <a:schemeClr val="dk2"/>
                </a:solidFill>
                <a:latin typeface="Malgun Gothic"/>
              </a:rPr>
              <a:t>보고서 저장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38" name="flow-caption"/>
          <p:cNvSpPr/>
          <p:nvPr/>
        </p:nvSpPr>
        <p:spPr>
          <a:xfrm>
            <a:off x="812880" y="2679120"/>
            <a:ext cx="10566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chemeClr val="accent2"/>
                </a:solidFill>
                <a:latin typeface="Malgun Gothic"/>
              </a:rPr>
              <a:t>주황 </a:t>
            </a:r>
            <a:r>
              <a:rPr b="1" lang="en-US" sz="1100" spc="-1" strike="noStrike">
                <a:solidFill>
                  <a:schemeClr val="accent2"/>
                </a:solidFill>
                <a:latin typeface="Malgun Gothic"/>
              </a:rPr>
              <a:t>= </a:t>
            </a:r>
            <a:r>
              <a:rPr b="1" lang="ko-KR" sz="1100" spc="-1" strike="noStrike">
                <a:solidFill>
                  <a:schemeClr val="accent2"/>
                </a:solidFill>
                <a:latin typeface="Malgun Gothic"/>
              </a:rPr>
              <a:t>직접 만든 </a:t>
            </a:r>
            <a:r>
              <a:rPr b="1" lang="en-US" sz="1100" spc="-1" strike="noStrike">
                <a:solidFill>
                  <a:schemeClr val="accent2"/>
                </a:solidFill>
                <a:latin typeface="Malgun Gothic"/>
              </a:rPr>
              <a:t>cve_server.py</a:t>
            </a:r>
            <a:r>
              <a:rPr b="1" lang="ko-KR" sz="1100" spc="-1" strike="noStrike">
                <a:solidFill>
                  <a:schemeClr val="accent2"/>
                </a:solidFill>
                <a:latin typeface="Malgun Gothic"/>
              </a:rPr>
              <a:t>의 도구 </a:t>
            </a:r>
            <a:r>
              <a:rPr b="1" lang="en-US" sz="1100" spc="-1" strike="noStrike">
                <a:solidFill>
                  <a:schemeClr val="accent2"/>
                </a:solidFill>
                <a:latin typeface="Malgun Gothic"/>
              </a:rPr>
              <a:t>· </a:t>
            </a:r>
            <a:r>
              <a:rPr b="0" lang="ko-KR" sz="1100" spc="-1" strike="noStrike">
                <a:solidFill>
                  <a:schemeClr val="dk2"/>
                </a:solidFill>
                <a:latin typeface="Malgun Gothic"/>
              </a:rPr>
              <a:t>나머지는 </a:t>
            </a:r>
            <a:r>
              <a:rPr b="0" lang="en-US" sz="1100" spc="-1" strike="noStrike">
                <a:solidFill>
                  <a:schemeClr val="dk2"/>
                </a:solidFill>
                <a:latin typeface="Malgun Gothic"/>
              </a:rPr>
              <a:t>filesystem MCP</a:t>
            </a:r>
            <a:r>
              <a:rPr b="0" lang="ko-KR" sz="1100" spc="-1" strike="noStrike">
                <a:solidFill>
                  <a:schemeClr val="dk2"/>
                </a:solidFill>
                <a:latin typeface="Malgun Gothic"/>
              </a:rPr>
              <a:t>로 읽고 쓰기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39" name="result"/>
          <p:cNvSpPr/>
          <p:nvPr/>
        </p:nvSpPr>
        <p:spPr>
          <a:xfrm>
            <a:off x="812880" y="3154680"/>
            <a:ext cx="5577480" cy="2377080"/>
          </a:xfrm>
          <a:prstGeom prst="roundRect">
            <a:avLst>
              <a:gd name="adj" fmla="val 6306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9600" rIns="219600" tIns="164520" bIns="164520" anchor="t">
            <a:noAutofit/>
          </a:bodyPr>
          <a:p>
            <a:pPr defTabSz="914400">
              <a:lnSpc>
                <a:spcPct val="125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ko-KR" sz="1500" spc="-1" strike="noStrike">
                <a:solidFill>
                  <a:schemeClr val="dk1"/>
                </a:solidFill>
                <a:latin typeface="Malgun Gothic"/>
              </a:rPr>
              <a:t>결과 — 두 자산 모두 “영향 있음”</a:t>
            </a:r>
            <a:endParaRPr b="0" lang="en-US" sz="15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1"/>
                </a:solidFill>
                <a:latin typeface="Malgun Gothic"/>
              </a:rPr>
              <a:t>Log4j 2.14.1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  →  CVE-2021-44228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1"/>
                </a:solidFill>
                <a:latin typeface="Malgun Gothic"/>
              </a:rPr>
              <a:t>Cisco AnyConnect 4.9.0</a:t>
            </a:r>
            <a:r>
              <a:rPr b="0" lang="en-US" sz="1300" spc="-1" strike="noStrike">
                <a:solidFill>
                  <a:schemeClr val="dk2"/>
                </a:solidFill>
                <a:latin typeface="Malgun Gothic"/>
              </a:rPr>
              <a:t>  →  CVE-2024-20337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샌드박스 밖 파일 읽기 시도 → </a:t>
            </a:r>
            <a:r>
              <a:rPr b="1" lang="ko-KR" sz="1200" spc="-1" strike="noStrike">
                <a:solidFill>
                  <a:schemeClr val="accent2"/>
                </a:solidFill>
                <a:latin typeface="Malgun Gothic"/>
              </a:rPr>
              <a:t>서버가 거부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Malgun Gothic"/>
              </a:rPr>
              <a:t>“</a:t>
            </a:r>
            <a:r>
              <a:rPr b="1" lang="ko-KR" sz="1200" spc="-1" strike="noStrike">
                <a:solidFill>
                  <a:schemeClr val="dk1"/>
                </a:solidFill>
                <a:latin typeface="Malgun Gothic"/>
              </a:rPr>
              <a:t>기억으로 답하지 말고 도구로 조회해”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 한 줄이 정확도를 지킨다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40" name="howto"/>
          <p:cNvSpPr/>
          <p:nvPr/>
        </p:nvSpPr>
        <p:spPr>
          <a:xfrm>
            <a:off x="6665040" y="3154680"/>
            <a:ext cx="4714200" cy="2377080"/>
          </a:xfrm>
          <a:prstGeom prst="roundRect">
            <a:avLst>
              <a:gd name="adj" fmla="val 6306"/>
            </a:avLst>
          </a:prstGeom>
          <a:solidFill>
            <a:schemeClr val="accent6"/>
          </a:solidFill>
          <a:ln w="12700">
            <a:solidFill>
              <a:srgbClr val="d3ce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9600" rIns="182880" tIns="164520" bIns="137160" anchor="t">
            <a:noAutofit/>
          </a:bodyPr>
          <a:p>
            <a:pPr defTabSz="914400">
              <a:lnSpc>
                <a:spcPct val="125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ko-KR" sz="1500" spc="-1" strike="noStrike">
                <a:solidFill>
                  <a:schemeClr val="dk1"/>
                </a:solidFill>
                <a:latin typeface="Malgun Gothic"/>
              </a:rPr>
              <a:t>이미 만든 코드도 도구가 된다</a:t>
            </a:r>
            <a:endParaRPr b="0" lang="en-US" sz="15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spcAft>
                <a:spcPts val="99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chemeClr val="accent2"/>
                </a:solidFill>
                <a:latin typeface="Courier New"/>
              </a:rPr>
              <a:t>@server.tool()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 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함수 →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MCP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도구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3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ko-KR" sz="1100" spc="-1" strike="noStrike">
                <a:solidFill>
                  <a:schemeClr val="dk2"/>
                </a:solidFill>
                <a:latin typeface="Malgun Gothic"/>
              </a:rPr>
              <a:t>독스트링 </a:t>
            </a:r>
            <a:r>
              <a:rPr b="0" lang="en-US" sz="1100" spc="-1" strike="noStrike">
                <a:solidFill>
                  <a:schemeClr val="dk2"/>
                </a:solidFill>
                <a:latin typeface="Malgun Gothic"/>
              </a:rPr>
              <a:t>= AI</a:t>
            </a:r>
            <a:r>
              <a:rPr b="0" lang="ko-KR" sz="1100" spc="-1" strike="noStrike">
                <a:solidFill>
                  <a:schemeClr val="dk2"/>
                </a:solidFill>
                <a:latin typeface="Malgun Gothic"/>
              </a:rPr>
              <a:t>가 읽는 설명서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spcAft>
                <a:spcPts val="99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chemeClr val="accent2"/>
                </a:solidFill>
                <a:latin typeface="Courier New"/>
              </a:rPr>
              <a:t>@function_tool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 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보안 </a:t>
            </a:r>
            <a:r>
              <a:rPr b="0" lang="en-US" sz="1200" spc="-1" strike="noStrike">
                <a:solidFill>
                  <a:schemeClr val="dk2"/>
                </a:solidFill>
                <a:latin typeface="Malgun Gothic"/>
              </a:rPr>
              <a:t>RAG → </a:t>
            </a:r>
            <a:r>
              <a:rPr b="0" lang="ko-KR" sz="1200" spc="-1" strike="noStrike">
                <a:solidFill>
                  <a:schemeClr val="dk2"/>
                </a:solidFill>
                <a:latin typeface="Malgun Gothic"/>
              </a:rPr>
              <a:t>에이전트 도구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3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ko-KR" sz="1100" spc="-1" strike="noStrike">
                <a:solidFill>
                  <a:schemeClr val="dk2"/>
                </a:solidFill>
                <a:latin typeface="Malgun Gothic"/>
              </a:rPr>
              <a:t>전체를 실행하는 맨 위 함수에 붙인다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40000"/>
              </a:lnSpc>
              <a:spcAft>
                <a:spcPts val="99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chemeClr val="accent2"/>
                </a:solidFill>
                <a:latin typeface="Courier New"/>
              </a:rPr>
              <a:t>Agent(mcp_servers=, tools=)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ko-KR" sz="1100" spc="-1" strike="noStrike">
                <a:solidFill>
                  <a:schemeClr val="dk2"/>
                </a:solidFill>
                <a:latin typeface="Malgun Gothic"/>
              </a:rPr>
              <a:t>남의 도구와 내 도구를 함께 사용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/>
          </p:nvPr>
        </p:nvSpPr>
        <p:spPr>
          <a:xfrm>
            <a:off x="812880" y="749160"/>
            <a:ext cx="10566000" cy="25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ko-KR" sz="1200" spc="97" strike="noStrike">
                <a:solidFill>
                  <a:srgbClr val="e89a5b"/>
                </a:solidFill>
                <a:latin typeface="Malgun Gothic"/>
              </a:rPr>
              <a:t>정리 </a:t>
            </a:r>
            <a:r>
              <a:rPr b="1" lang="en-US" sz="1200" spc="97" strike="noStrike">
                <a:solidFill>
                  <a:srgbClr val="e89a5b"/>
                </a:solidFill>
                <a:latin typeface="Malgun Gothic"/>
              </a:rPr>
              <a:t>· 1–5</a:t>
            </a:r>
            <a:r>
              <a:rPr b="1" lang="ko-KR" sz="1200" spc="97" strike="noStrike">
                <a:solidFill>
                  <a:srgbClr val="e89a5b"/>
                </a:solidFill>
                <a:latin typeface="Malgun Gothic"/>
              </a:rPr>
              <a:t>일차</a:t>
            </a:r>
            <a:endParaRPr b="0" lang="en-US" sz="12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 type="title"/>
          </p:nvPr>
        </p:nvSpPr>
        <p:spPr>
          <a:xfrm>
            <a:off x="812880" y="1028880"/>
            <a:ext cx="10566000" cy="53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3000" spc="-1" strike="noStrike">
                <a:solidFill>
                  <a:schemeClr val="lt1"/>
                </a:solidFill>
                <a:latin typeface="Malgun Gothic"/>
              </a:rPr>
              <a:t>어디까지 맡기고</a:t>
            </a:r>
            <a:r>
              <a:rPr b="1" lang="en-US" sz="3000" spc="-1" strike="noStrike">
                <a:solidFill>
                  <a:schemeClr val="lt1"/>
                </a:solidFill>
                <a:latin typeface="Malgun Gothic"/>
              </a:rPr>
              <a:t>, </a:t>
            </a:r>
            <a:r>
              <a:rPr b="1" lang="ko-KR" sz="3000" spc="-1" strike="noStrike">
                <a:solidFill>
                  <a:schemeClr val="lt1"/>
                </a:solidFill>
                <a:latin typeface="Malgun Gothic"/>
              </a:rPr>
              <a:t>어떻게 통제할 것인가</a:t>
            </a:r>
            <a:endParaRPr b="0" lang="en-US" sz="30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343" name="day-rule-0"/>
          <p:cNvSpPr/>
          <p:nvPr/>
        </p:nvSpPr>
        <p:spPr>
          <a:xfrm>
            <a:off x="812880" y="1755360"/>
            <a:ext cx="5166360" cy="360"/>
          </a:xfrm>
          <a:prstGeom prst="line">
            <a:avLst/>
          </a:prstGeom>
          <a:ln w="12700">
            <a:solidFill>
              <a:srgbClr val="3445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344" name="day-1-label"/>
          <p:cNvSpPr/>
          <p:nvPr/>
        </p:nvSpPr>
        <p:spPr>
          <a:xfrm>
            <a:off x="812880" y="1755720"/>
            <a:ext cx="7311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9a5b"/>
                </a:solidFill>
                <a:latin typeface="Malgun Gothic"/>
              </a:rPr>
              <a:t>1</a:t>
            </a:r>
            <a:r>
              <a:rPr b="1" lang="ko-KR" sz="1300" spc="-1" strike="noStrike">
                <a:solidFill>
                  <a:srgbClr val="e89a5b"/>
                </a:solidFill>
                <a:latin typeface="Malgun Gothic"/>
              </a:rPr>
              <a:t>일차</a:t>
            </a:r>
            <a:endParaRPr b="0" lang="en-US" sz="13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345" name="day-1"/>
          <p:cNvSpPr/>
          <p:nvPr/>
        </p:nvSpPr>
        <p:spPr>
          <a:xfrm>
            <a:off x="1635840" y="1755720"/>
            <a:ext cx="4343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Malgun Gothic"/>
              </a:rPr>
              <a:t>LLM</a:t>
            </a:r>
            <a:r>
              <a:rPr b="0" lang="ko-KR" sz="1300" spc="-1" strike="noStrike">
                <a:solidFill>
                  <a:schemeClr val="lt1"/>
                </a:solidFill>
                <a:latin typeface="Malgun Gothic"/>
              </a:rPr>
              <a:t>은 다음 토큰 예측기</a:t>
            </a:r>
            <a:r>
              <a:rPr b="0" lang="en-US" sz="1300" spc="-1" strike="noStrike">
                <a:solidFill>
                  <a:schemeClr val="lt1"/>
                </a:solidFill>
                <a:latin typeface="Malgun Gothic"/>
              </a:rPr>
              <a:t>, </a:t>
            </a:r>
            <a:r>
              <a:rPr b="0" lang="ko-KR" sz="1300" spc="-1" strike="noStrike">
                <a:solidFill>
                  <a:schemeClr val="lt1"/>
                </a:solidFill>
                <a:latin typeface="Malgun Gothic"/>
              </a:rPr>
              <a:t>기억이 없다</a:t>
            </a:r>
            <a:endParaRPr b="0" lang="en-US" sz="13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346" name="day-rule-1"/>
          <p:cNvSpPr/>
          <p:nvPr/>
        </p:nvSpPr>
        <p:spPr>
          <a:xfrm>
            <a:off x="812880" y="2157840"/>
            <a:ext cx="5166360" cy="360"/>
          </a:xfrm>
          <a:prstGeom prst="line">
            <a:avLst/>
          </a:prstGeom>
          <a:ln w="12700">
            <a:solidFill>
              <a:srgbClr val="3445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347" name="day-2-label"/>
          <p:cNvSpPr/>
          <p:nvPr/>
        </p:nvSpPr>
        <p:spPr>
          <a:xfrm>
            <a:off x="812880" y="2157840"/>
            <a:ext cx="7311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9a5b"/>
                </a:solidFill>
                <a:latin typeface="Malgun Gothic"/>
              </a:rPr>
              <a:t>2</a:t>
            </a:r>
            <a:r>
              <a:rPr b="1" lang="ko-KR" sz="1300" spc="-1" strike="noStrike">
                <a:solidFill>
                  <a:srgbClr val="e89a5b"/>
                </a:solidFill>
                <a:latin typeface="Malgun Gothic"/>
              </a:rPr>
              <a:t>일차</a:t>
            </a:r>
            <a:endParaRPr b="0" lang="en-US" sz="13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348" name="day-2"/>
          <p:cNvSpPr/>
          <p:nvPr/>
        </p:nvSpPr>
        <p:spPr>
          <a:xfrm>
            <a:off x="1635840" y="2157840"/>
            <a:ext cx="4343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Malgun Gothic"/>
              </a:rPr>
              <a:t>RAG</a:t>
            </a:r>
            <a:r>
              <a:rPr b="0" lang="ko-KR" sz="1300" spc="-1" strike="noStrike">
                <a:solidFill>
                  <a:schemeClr val="lt1"/>
                </a:solidFill>
                <a:latin typeface="Malgun Gothic"/>
              </a:rPr>
              <a:t>는 근거를 찾아 넣는다</a:t>
            </a:r>
            <a:r>
              <a:rPr b="0" lang="en-US" sz="1300" spc="-1" strike="noStrike">
                <a:solidFill>
                  <a:schemeClr val="lt1"/>
                </a:solidFill>
                <a:latin typeface="Malgun Gothic"/>
              </a:rPr>
              <a:t>, </a:t>
            </a:r>
            <a:r>
              <a:rPr b="0" lang="ko-KR" sz="1300" spc="-1" strike="noStrike">
                <a:solidFill>
                  <a:schemeClr val="lt1"/>
                </a:solidFill>
                <a:latin typeface="Malgun Gothic"/>
              </a:rPr>
              <a:t>품질은 검색이 좌우</a:t>
            </a:r>
            <a:endParaRPr b="0" lang="en-US" sz="13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349" name="day-rule-2"/>
          <p:cNvSpPr/>
          <p:nvPr/>
        </p:nvSpPr>
        <p:spPr>
          <a:xfrm>
            <a:off x="812880" y="2560320"/>
            <a:ext cx="5166360" cy="360"/>
          </a:xfrm>
          <a:prstGeom prst="line">
            <a:avLst/>
          </a:prstGeom>
          <a:ln w="12700">
            <a:solidFill>
              <a:srgbClr val="3445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350" name="day-3-label"/>
          <p:cNvSpPr/>
          <p:nvPr/>
        </p:nvSpPr>
        <p:spPr>
          <a:xfrm>
            <a:off x="812880" y="2560320"/>
            <a:ext cx="7311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9a5b"/>
                </a:solidFill>
                <a:latin typeface="Malgun Gothic"/>
              </a:rPr>
              <a:t>3</a:t>
            </a:r>
            <a:r>
              <a:rPr b="1" lang="ko-KR" sz="1300" spc="-1" strike="noStrike">
                <a:solidFill>
                  <a:srgbClr val="e89a5b"/>
                </a:solidFill>
                <a:latin typeface="Malgun Gothic"/>
              </a:rPr>
              <a:t>일차</a:t>
            </a:r>
            <a:endParaRPr b="0" lang="en-US" sz="13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351" name="day-3"/>
          <p:cNvSpPr/>
          <p:nvPr/>
        </p:nvSpPr>
        <p:spPr>
          <a:xfrm>
            <a:off x="1635840" y="2560320"/>
            <a:ext cx="4343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Malgun Gothic"/>
              </a:rPr>
              <a:t>Fine-tuning</a:t>
            </a:r>
            <a:r>
              <a:rPr b="0" lang="ko-KR" sz="1300" spc="-1" strike="noStrike">
                <a:solidFill>
                  <a:schemeClr val="lt1"/>
                </a:solidFill>
                <a:latin typeface="Malgun Gothic"/>
              </a:rPr>
              <a:t>은 가중치를 고친다</a:t>
            </a:r>
            <a:r>
              <a:rPr b="0" lang="en-US" sz="1300" spc="-1" strike="noStrike">
                <a:solidFill>
                  <a:schemeClr val="lt1"/>
                </a:solidFill>
                <a:latin typeface="Malgun Gothic"/>
              </a:rPr>
              <a:t>, LoRA</a:t>
            </a:r>
            <a:r>
              <a:rPr b="0" lang="ko-KR" sz="1300" spc="-1" strike="noStrike">
                <a:solidFill>
                  <a:schemeClr val="lt1"/>
                </a:solidFill>
                <a:latin typeface="Malgun Gothic"/>
              </a:rPr>
              <a:t>로 가볍게</a:t>
            </a:r>
            <a:endParaRPr b="0" lang="en-US" sz="13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352" name="day-rule-3"/>
          <p:cNvSpPr/>
          <p:nvPr/>
        </p:nvSpPr>
        <p:spPr>
          <a:xfrm>
            <a:off x="812880" y="2962440"/>
            <a:ext cx="5166360" cy="360"/>
          </a:xfrm>
          <a:prstGeom prst="line">
            <a:avLst/>
          </a:prstGeom>
          <a:ln w="12700">
            <a:solidFill>
              <a:srgbClr val="3445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353" name="day-4-label"/>
          <p:cNvSpPr/>
          <p:nvPr/>
        </p:nvSpPr>
        <p:spPr>
          <a:xfrm>
            <a:off x="812880" y="2962800"/>
            <a:ext cx="7311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9a5b"/>
                </a:solidFill>
                <a:latin typeface="Malgun Gothic"/>
              </a:rPr>
              <a:t>4</a:t>
            </a:r>
            <a:r>
              <a:rPr b="1" lang="ko-KR" sz="1300" spc="-1" strike="noStrike">
                <a:solidFill>
                  <a:srgbClr val="e89a5b"/>
                </a:solidFill>
                <a:latin typeface="Malgun Gothic"/>
              </a:rPr>
              <a:t>일차</a:t>
            </a:r>
            <a:endParaRPr b="0" lang="en-US" sz="13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354" name="day-4"/>
          <p:cNvSpPr/>
          <p:nvPr/>
        </p:nvSpPr>
        <p:spPr>
          <a:xfrm>
            <a:off x="1635840" y="2962800"/>
            <a:ext cx="4343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300" spc="-1" strike="noStrike">
                <a:solidFill>
                  <a:schemeClr val="lt1"/>
                </a:solidFill>
                <a:latin typeface="Malgun Gothic"/>
              </a:rPr>
              <a:t>에이전트는 위임이다</a:t>
            </a:r>
            <a:r>
              <a:rPr b="0" lang="en-US" sz="1300" spc="-1" strike="noStrike">
                <a:solidFill>
                  <a:schemeClr val="lt1"/>
                </a:solidFill>
                <a:latin typeface="Malgun Gothic"/>
              </a:rPr>
              <a:t>, </a:t>
            </a:r>
            <a:r>
              <a:rPr b="0" lang="ko-KR" sz="1300" spc="-1" strike="noStrike">
                <a:solidFill>
                  <a:schemeClr val="lt1"/>
                </a:solidFill>
                <a:latin typeface="Malgun Gothic"/>
              </a:rPr>
              <a:t>통제는 코드와 트레이스로</a:t>
            </a:r>
            <a:endParaRPr b="0" lang="en-US" sz="13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355" name="day-rule-4"/>
          <p:cNvSpPr/>
          <p:nvPr/>
        </p:nvSpPr>
        <p:spPr>
          <a:xfrm>
            <a:off x="812880" y="3364920"/>
            <a:ext cx="5166360" cy="360"/>
          </a:xfrm>
          <a:prstGeom prst="line">
            <a:avLst/>
          </a:prstGeom>
          <a:ln w="12700">
            <a:solidFill>
              <a:srgbClr val="3445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356" name="day-5-label"/>
          <p:cNvSpPr/>
          <p:nvPr/>
        </p:nvSpPr>
        <p:spPr>
          <a:xfrm>
            <a:off x="812880" y="3364920"/>
            <a:ext cx="7311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9a5b"/>
                </a:solidFill>
                <a:latin typeface="Malgun Gothic"/>
              </a:rPr>
              <a:t>5</a:t>
            </a:r>
            <a:r>
              <a:rPr b="1" lang="ko-KR" sz="1300" spc="-1" strike="noStrike">
                <a:solidFill>
                  <a:srgbClr val="e89a5b"/>
                </a:solidFill>
                <a:latin typeface="Malgun Gothic"/>
              </a:rPr>
              <a:t>일차</a:t>
            </a:r>
            <a:endParaRPr b="0" lang="en-US" sz="13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357" name="day-5"/>
          <p:cNvSpPr/>
          <p:nvPr/>
        </p:nvSpPr>
        <p:spPr>
          <a:xfrm>
            <a:off x="1635840" y="3364920"/>
            <a:ext cx="4343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Malgun Gothic"/>
              </a:rPr>
              <a:t>MCP</a:t>
            </a:r>
            <a:r>
              <a:rPr b="0" lang="ko-KR" sz="1300" spc="-1" strike="noStrike">
                <a:solidFill>
                  <a:schemeClr val="lt1"/>
                </a:solidFill>
                <a:latin typeface="Malgun Gothic"/>
              </a:rPr>
              <a:t>로 도구를 꽂아 쓴다</a:t>
            </a:r>
            <a:r>
              <a:rPr b="0" lang="en-US" sz="1300" spc="-1" strike="noStrike">
                <a:solidFill>
                  <a:schemeClr val="lt1"/>
                </a:solidFill>
                <a:latin typeface="Malgun Gothic"/>
              </a:rPr>
              <a:t>, </a:t>
            </a:r>
            <a:r>
              <a:rPr b="0" lang="ko-KR" sz="1300" spc="-1" strike="noStrike">
                <a:solidFill>
                  <a:schemeClr val="lt1"/>
                </a:solidFill>
                <a:latin typeface="Malgun Gothic"/>
              </a:rPr>
              <a:t>위험한 건 샌드박스에서</a:t>
            </a:r>
            <a:endParaRPr b="0" lang="en-US" sz="13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358" name="day-rule-5"/>
          <p:cNvSpPr/>
          <p:nvPr/>
        </p:nvSpPr>
        <p:spPr>
          <a:xfrm>
            <a:off x="812880" y="3767040"/>
            <a:ext cx="5166360" cy="360"/>
          </a:xfrm>
          <a:prstGeom prst="line">
            <a:avLst/>
          </a:prstGeom>
          <a:ln w="12700">
            <a:solidFill>
              <a:srgbClr val="3445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Malgun Gothic"/>
            </a:endParaRPr>
          </a:p>
        </p:txBody>
      </p:sp>
      <p:sp>
        <p:nvSpPr>
          <p:cNvPr id="359" name="mcp-principles"/>
          <p:cNvSpPr/>
          <p:nvPr/>
        </p:nvSpPr>
        <p:spPr>
          <a:xfrm>
            <a:off x="812880" y="3996000"/>
            <a:ext cx="5166000" cy="2057040"/>
          </a:xfrm>
          <a:prstGeom prst="roundRect">
            <a:avLst>
              <a:gd name="adj" fmla="val 5000"/>
            </a:avLst>
          </a:prstGeom>
          <a:solidFill>
            <a:srgbClr val="1d2e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960" rIns="228600" tIns="164520" bIns="109800" anchor="t">
            <a:noAutofit/>
          </a:bodyPr>
          <a:p>
            <a:pPr defTabSz="914400">
              <a:lnSpc>
                <a:spcPct val="125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Malgun Gothic"/>
              </a:rPr>
              <a:t>MCP </a:t>
            </a:r>
            <a:r>
              <a:rPr b="1" lang="ko-KR" sz="1500" spc="-1" strike="noStrike">
                <a:solidFill>
                  <a:schemeClr val="lt1"/>
                </a:solidFill>
                <a:latin typeface="Malgun Gothic"/>
              </a:rPr>
              <a:t>사용 </a:t>
            </a:r>
            <a:r>
              <a:rPr b="1" lang="en-US" sz="1500" spc="-1" strike="noStrike">
                <a:solidFill>
                  <a:schemeClr val="lt1"/>
                </a:solidFill>
                <a:latin typeface="Malgun Gothic"/>
              </a:rPr>
              <a:t>5</a:t>
            </a:r>
            <a:r>
              <a:rPr b="1" lang="ko-KR" sz="1500" spc="-1" strike="noStrike">
                <a:solidFill>
                  <a:schemeClr val="lt1"/>
                </a:solidFill>
                <a:latin typeface="Malgun Gothic"/>
              </a:rPr>
              <a:t>원칙 </a:t>
            </a:r>
            <a:r>
              <a:rPr b="1" lang="en-US" sz="1500" spc="-1" strike="noStrike">
                <a:solidFill>
                  <a:schemeClr val="lt1"/>
                </a:solidFill>
                <a:latin typeface="Malgun Gothic"/>
              </a:rPr>
              <a:t>· 5</a:t>
            </a:r>
            <a:r>
              <a:rPr b="1" lang="ko-KR" sz="1500" spc="-1" strike="noStrike">
                <a:solidFill>
                  <a:schemeClr val="lt1"/>
                </a:solidFill>
                <a:latin typeface="Malgun Gothic"/>
              </a:rPr>
              <a:t>일차</a:t>
            </a:r>
            <a:endParaRPr b="0" lang="en-US" sz="1500" spc="-1" strike="noStrike">
              <a:solidFill>
                <a:srgbClr val="ffffff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e89a5b"/>
                </a:solidFill>
                <a:latin typeface="Malgun Gothic"/>
              </a:rPr>
              <a:t>01  </a:t>
            </a:r>
            <a:r>
              <a:rPr b="1" lang="ko-KR" sz="1200" spc="-1" strike="noStrike">
                <a:solidFill>
                  <a:schemeClr val="lt1"/>
                </a:solidFill>
                <a:latin typeface="Malgun Gothic"/>
              </a:rPr>
              <a:t>꽂아 쓴다</a:t>
            </a:r>
            <a:r>
              <a:rPr b="0" lang="en-US" sz="1100" spc="-1" strike="noStrike">
                <a:solidFill>
                  <a:srgbClr val="c9d2e0"/>
                </a:solidFill>
                <a:latin typeface="Malgun Gothic"/>
              </a:rPr>
              <a:t>  코드는 같고 서버만 바뀐다</a:t>
            </a:r>
            <a:endParaRPr b="0" lang="en-US" sz="1100" spc="-1" strike="noStrike">
              <a:solidFill>
                <a:srgbClr val="ffffff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e89a5b"/>
                </a:solidFill>
                <a:latin typeface="Malgun Gothic"/>
              </a:rPr>
              <a:t>02  </a:t>
            </a:r>
            <a:r>
              <a:rPr b="1" lang="ko-KR" sz="1200" spc="-1" strike="noStrike">
                <a:solidFill>
                  <a:schemeClr val="lt1"/>
                </a:solidFill>
                <a:latin typeface="Malgun Gothic"/>
              </a:rPr>
              <a:t>로컬이라 안전하다는 착각</a:t>
            </a:r>
            <a:r>
              <a:rPr b="0" lang="en-US" sz="1100" spc="-1" strike="noStrike">
                <a:solidFill>
                  <a:srgbClr val="c9d2e0"/>
                </a:solidFill>
                <a:latin typeface="Malgun Gothic"/>
              </a:rPr>
              <a:t>  외부 연동은 샌드박스에서</a:t>
            </a:r>
            <a:endParaRPr b="0" lang="en-US" sz="1100" spc="-1" strike="noStrike">
              <a:solidFill>
                <a:srgbClr val="ffffff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e89a5b"/>
                </a:solidFill>
                <a:latin typeface="Malgun Gothic"/>
              </a:rPr>
              <a:t>03  </a:t>
            </a:r>
            <a:r>
              <a:rPr b="1" lang="ko-KR" sz="1200" spc="-1" strike="noStrike">
                <a:solidFill>
                  <a:schemeClr val="lt1"/>
                </a:solidFill>
                <a:latin typeface="Malgun Gothic"/>
              </a:rPr>
              <a:t>검증된 </a:t>
            </a:r>
            <a:r>
              <a:rPr b="1" lang="en-US" sz="1200" spc="-1" strike="noStrike">
                <a:solidFill>
                  <a:schemeClr val="lt1"/>
                </a:solidFill>
                <a:latin typeface="Malgun Gothic"/>
              </a:rPr>
              <a:t>MCP</a:t>
            </a:r>
            <a:r>
              <a:rPr b="1" lang="ko-KR" sz="1200" spc="-1" strike="noStrike">
                <a:solidFill>
                  <a:schemeClr val="lt1"/>
                </a:solidFill>
                <a:latin typeface="Malgun Gothic"/>
              </a:rPr>
              <a:t>만</a:t>
            </a:r>
            <a:r>
              <a:rPr b="0" lang="en-US" sz="1100" spc="-1" strike="noStrike">
                <a:solidFill>
                  <a:srgbClr val="c9d2e0"/>
                </a:solidFill>
                <a:latin typeface="Malgun Gothic"/>
              </a:rPr>
              <a:t>  </a:t>
            </a:r>
            <a:r>
              <a:rPr b="0" lang="en-US" sz="1100" spc="-1" strike="noStrike">
                <a:solidFill>
                  <a:srgbClr val="c9d2e0"/>
                </a:solidFill>
                <a:latin typeface="Malgun Gothic"/>
              </a:rPr>
              <a:t>API </a:t>
            </a:r>
            <a:r>
              <a:rPr b="0" lang="ko-KR" sz="1100" spc="-1" strike="noStrike">
                <a:solidFill>
                  <a:srgbClr val="c9d2e0"/>
                </a:solidFill>
                <a:latin typeface="Malgun Gothic"/>
              </a:rPr>
              <a:t>키</a:t>
            </a:r>
            <a:r>
              <a:rPr b="0" lang="en-US" sz="1100" spc="-1" strike="noStrike">
                <a:solidFill>
                  <a:srgbClr val="c9d2e0"/>
                </a:solidFill>
                <a:latin typeface="Malgun Gothic"/>
              </a:rPr>
              <a:t>·</a:t>
            </a:r>
            <a:r>
              <a:rPr b="0" lang="ko-KR" sz="1100" spc="-1" strike="noStrike">
                <a:solidFill>
                  <a:srgbClr val="c9d2e0"/>
                </a:solidFill>
                <a:latin typeface="Malgun Gothic"/>
              </a:rPr>
              <a:t>비밀번호는 함부로 넘기지 않기</a:t>
            </a:r>
            <a:endParaRPr b="0" lang="en-US" sz="1100" spc="-1" strike="noStrike">
              <a:solidFill>
                <a:srgbClr val="ffffff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e89a5b"/>
                </a:solidFill>
                <a:latin typeface="Malgun Gothic"/>
              </a:rPr>
              <a:t>04  </a:t>
            </a:r>
            <a:r>
              <a:rPr b="1" lang="ko-KR" sz="1200" spc="-1" strike="noStrike">
                <a:solidFill>
                  <a:schemeClr val="lt1"/>
                </a:solidFill>
                <a:latin typeface="Malgun Gothic"/>
              </a:rPr>
              <a:t>도구 목록부터 확인</a:t>
            </a:r>
            <a:r>
              <a:rPr b="0" lang="en-US" sz="1100" spc="-1" strike="noStrike">
                <a:solidFill>
                  <a:srgbClr val="c9d2e0"/>
                </a:solidFill>
                <a:latin typeface="Malgun Gothic"/>
              </a:rPr>
              <a:t>  유료 </a:t>
            </a:r>
            <a:r>
              <a:rPr b="0" lang="en-US" sz="1100" spc="-1" strike="noStrike">
                <a:solidFill>
                  <a:srgbClr val="c9d2e0"/>
                </a:solidFill>
                <a:latin typeface="Malgun Gothic"/>
              </a:rPr>
              <a:t>API·GPU </a:t>
            </a:r>
            <a:r>
              <a:rPr b="0" lang="ko-KR" sz="1100" spc="-1" strike="noStrike">
                <a:solidFill>
                  <a:srgbClr val="c9d2e0"/>
                </a:solidFill>
                <a:latin typeface="Malgun Gothic"/>
              </a:rPr>
              <a:t>비용도 함께 생각하기</a:t>
            </a:r>
            <a:endParaRPr b="0" lang="en-US" sz="1100" spc="-1" strike="noStrike">
              <a:solidFill>
                <a:srgbClr val="ffffff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e89a5b"/>
                </a:solidFill>
                <a:latin typeface="Malgun Gothic"/>
              </a:rPr>
              <a:t>05  </a:t>
            </a:r>
            <a:r>
              <a:rPr b="1" lang="ko-KR" sz="1200" spc="-1" strike="noStrike">
                <a:solidFill>
                  <a:schemeClr val="lt1"/>
                </a:solidFill>
                <a:latin typeface="Malgun Gothic"/>
              </a:rPr>
              <a:t>직접 만들어 봐야 안다</a:t>
            </a:r>
            <a:r>
              <a:rPr b="0" lang="en-US" sz="1100" spc="-1" strike="noStrike">
                <a:solidFill>
                  <a:srgbClr val="c9d2e0"/>
                </a:solidFill>
                <a:latin typeface="Malgun Gothic"/>
              </a:rPr>
              <a:t>  남의 도구를 쓰더라도 원리는 손으로 익힌다</a:t>
            </a:r>
            <a:endParaRPr b="0" lang="en-US" sz="11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360" name="agent-principles"/>
          <p:cNvSpPr/>
          <p:nvPr/>
        </p:nvSpPr>
        <p:spPr>
          <a:xfrm>
            <a:off x="6253560" y="1755720"/>
            <a:ext cx="5125680" cy="4297320"/>
          </a:xfrm>
          <a:prstGeom prst="roundRect">
            <a:avLst>
              <a:gd name="adj" fmla="val 4651"/>
            </a:avLst>
          </a:prstGeom>
          <a:solidFill>
            <a:srgbClr val="1d2e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4320" rIns="274320" tIns="228600" bIns="182880" anchor="t">
            <a:noAutofit/>
          </a:bodyPr>
          <a:p>
            <a:pPr defTabSz="914400">
              <a:lnSpc>
                <a:spcPct val="125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ko-KR" sz="1500" spc="-1" strike="noStrike">
                <a:solidFill>
                  <a:schemeClr val="lt1"/>
                </a:solidFill>
                <a:latin typeface="Malgun Gothic"/>
              </a:rPr>
              <a:t>에이전트 개발 </a:t>
            </a:r>
            <a:r>
              <a:rPr b="1" lang="en-US" sz="1500" spc="-1" strike="noStrike">
                <a:solidFill>
                  <a:schemeClr val="lt1"/>
                </a:solidFill>
                <a:latin typeface="Malgun Gothic"/>
              </a:rPr>
              <a:t>5</a:t>
            </a:r>
            <a:r>
              <a:rPr b="1" lang="ko-KR" sz="1500" spc="-1" strike="noStrike">
                <a:solidFill>
                  <a:schemeClr val="lt1"/>
                </a:solidFill>
                <a:latin typeface="Malgun Gothic"/>
              </a:rPr>
              <a:t>원칙 </a:t>
            </a:r>
            <a:r>
              <a:rPr b="1" lang="en-US" sz="1500" spc="-1" strike="noStrike">
                <a:solidFill>
                  <a:schemeClr val="lt1"/>
                </a:solidFill>
                <a:latin typeface="Malgun Gothic"/>
              </a:rPr>
              <a:t>· 4</a:t>
            </a:r>
            <a:r>
              <a:rPr b="1" lang="ko-KR" sz="1500" spc="-1" strike="noStrike">
                <a:solidFill>
                  <a:schemeClr val="lt1"/>
                </a:solidFill>
                <a:latin typeface="Malgun Gothic"/>
              </a:rPr>
              <a:t>일차</a:t>
            </a:r>
            <a:endParaRPr b="0" lang="en-US" sz="1500" spc="-1" strike="noStrike">
              <a:solidFill>
                <a:srgbClr val="ffffff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spcAft>
                <a:spcPts val="99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rgbClr val="e89a5b"/>
                </a:solidFill>
                <a:latin typeface="Malgun Gothic"/>
              </a:rPr>
              <a:t>1. </a:t>
            </a:r>
            <a:r>
              <a:rPr b="1" lang="ko-KR" sz="1300" spc="-1" strike="noStrike">
                <a:solidFill>
                  <a:schemeClr val="lt1"/>
                </a:solidFill>
                <a:latin typeface="Malgun Gothic"/>
              </a:rPr>
              <a:t>실행 권한은 우리에게 있다</a:t>
            </a:r>
            <a:endParaRPr b="0" lang="en-US" sz="1300" spc="-1" strike="noStrike">
              <a:solidFill>
                <a:srgbClr val="ffffff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ko-KR" sz="1100" spc="-1" strike="noStrike">
                <a:solidFill>
                  <a:srgbClr val="c9d2e0"/>
                </a:solidFill>
                <a:latin typeface="Malgun Gothic"/>
              </a:rPr>
              <a:t>모델은 </a:t>
            </a:r>
            <a:r>
              <a:rPr b="0" lang="en-US" sz="1100" spc="-1" strike="noStrike">
                <a:solidFill>
                  <a:srgbClr val="c9d2e0"/>
                </a:solidFill>
                <a:latin typeface="Malgun Gothic"/>
              </a:rPr>
              <a:t>"</a:t>
            </a:r>
            <a:r>
              <a:rPr b="0" lang="ko-KR" sz="1100" spc="-1" strike="noStrike">
                <a:solidFill>
                  <a:srgbClr val="c9d2e0"/>
                </a:solidFill>
                <a:latin typeface="Malgun Gothic"/>
              </a:rPr>
              <a:t>부르겠다</a:t>
            </a:r>
            <a:r>
              <a:rPr b="0" lang="en-US" sz="1100" spc="-1" strike="noStrike">
                <a:solidFill>
                  <a:srgbClr val="c9d2e0"/>
                </a:solidFill>
                <a:latin typeface="Malgun Gothic"/>
              </a:rPr>
              <a:t>"</a:t>
            </a:r>
            <a:r>
              <a:rPr b="0" lang="ko-KR" sz="1100" spc="-1" strike="noStrike">
                <a:solidFill>
                  <a:srgbClr val="c9d2e0"/>
                </a:solidFill>
                <a:latin typeface="Malgun Gothic"/>
              </a:rPr>
              <a:t>고 말할 뿐</a:t>
            </a:r>
            <a:r>
              <a:rPr b="0" lang="en-US" sz="1100" spc="-1" strike="noStrike">
                <a:solidFill>
                  <a:srgbClr val="c9d2e0"/>
                </a:solidFill>
                <a:latin typeface="Malgun Gothic"/>
              </a:rPr>
              <a:t>, </a:t>
            </a:r>
            <a:r>
              <a:rPr b="0" lang="ko-KR" sz="1100" spc="-1" strike="noStrike">
                <a:solidFill>
                  <a:srgbClr val="c9d2e0"/>
                </a:solidFill>
                <a:latin typeface="Malgun Gothic"/>
              </a:rPr>
              <a:t>실행은 코드가 한다</a:t>
            </a:r>
            <a:r>
              <a:rPr b="0" lang="en-US" sz="1100" spc="-1" strike="noStrike">
                <a:solidFill>
                  <a:srgbClr val="c9d2e0"/>
                </a:solidFill>
                <a:latin typeface="Malgun Gothic"/>
              </a:rPr>
              <a:t>.</a:t>
            </a:r>
            <a:endParaRPr b="0" lang="en-US" sz="1100" spc="-1" strike="noStrike">
              <a:solidFill>
                <a:srgbClr val="ffffff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spcAft>
                <a:spcPts val="99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rgbClr val="e89a5b"/>
                </a:solidFill>
                <a:latin typeface="Malgun Gothic"/>
              </a:rPr>
              <a:t>2. </a:t>
            </a:r>
            <a:r>
              <a:rPr b="1" lang="ko-KR" sz="1300" spc="-1" strike="noStrike">
                <a:solidFill>
                  <a:schemeClr val="lt1"/>
                </a:solidFill>
                <a:latin typeface="Malgun Gothic"/>
              </a:rPr>
              <a:t>코드로 될 일은 코드로</a:t>
            </a:r>
            <a:endParaRPr b="0" lang="en-US" sz="1300" spc="-1" strike="noStrike">
              <a:solidFill>
                <a:srgbClr val="ffffff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ko-KR" sz="1100" spc="-1" strike="noStrike">
                <a:solidFill>
                  <a:srgbClr val="c9d2e0"/>
                </a:solidFill>
                <a:latin typeface="Malgun Gothic"/>
              </a:rPr>
              <a:t>가장 흔한 실수는 코드로 충분한 일을 </a:t>
            </a:r>
            <a:r>
              <a:rPr b="0" lang="en-US" sz="1100" spc="-1" strike="noStrike">
                <a:solidFill>
                  <a:srgbClr val="c9d2e0"/>
                </a:solidFill>
                <a:latin typeface="Malgun Gothic"/>
              </a:rPr>
              <a:t>LLM</a:t>
            </a:r>
            <a:r>
              <a:rPr b="0" lang="ko-KR" sz="1100" spc="-1" strike="noStrike">
                <a:solidFill>
                  <a:srgbClr val="c9d2e0"/>
                </a:solidFill>
                <a:latin typeface="Malgun Gothic"/>
              </a:rPr>
              <a:t>에게 맡기는 것</a:t>
            </a:r>
            <a:r>
              <a:rPr b="0" lang="en-US" sz="1100" spc="-1" strike="noStrike">
                <a:solidFill>
                  <a:srgbClr val="c9d2e0"/>
                </a:solidFill>
                <a:latin typeface="Malgun Gothic"/>
              </a:rPr>
              <a:t>.</a:t>
            </a:r>
            <a:endParaRPr b="0" lang="en-US" sz="1100" spc="-1" strike="noStrike">
              <a:solidFill>
                <a:srgbClr val="ffffff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spcAft>
                <a:spcPts val="99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rgbClr val="e89a5b"/>
                </a:solidFill>
                <a:latin typeface="Malgun Gothic"/>
              </a:rPr>
              <a:t>3. </a:t>
            </a:r>
            <a:r>
              <a:rPr b="1" lang="ko-KR" sz="1300" spc="-1" strike="noStrike">
                <a:solidFill>
                  <a:schemeClr val="lt1"/>
                </a:solidFill>
                <a:latin typeface="Malgun Gothic"/>
              </a:rPr>
              <a:t>안전장치는 코드에 둔다</a:t>
            </a:r>
            <a:endParaRPr b="0" lang="en-US" sz="1300" spc="-1" strike="noStrike">
              <a:solidFill>
                <a:srgbClr val="ffffff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ko-KR" sz="1100" spc="-1" strike="noStrike">
                <a:solidFill>
                  <a:srgbClr val="c9d2e0"/>
                </a:solidFill>
                <a:latin typeface="Malgun Gothic"/>
              </a:rPr>
              <a:t>되돌릴 수 없는 동작일수록 더욱</a:t>
            </a:r>
            <a:r>
              <a:rPr b="0" lang="en-US" sz="1100" spc="-1" strike="noStrike">
                <a:solidFill>
                  <a:srgbClr val="c9d2e0"/>
                </a:solidFill>
                <a:latin typeface="Malgun Gothic"/>
              </a:rPr>
              <a:t>.</a:t>
            </a:r>
            <a:endParaRPr b="0" lang="en-US" sz="1100" spc="-1" strike="noStrike">
              <a:solidFill>
                <a:srgbClr val="ffffff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spcAft>
                <a:spcPts val="99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rgbClr val="e89a5b"/>
                </a:solidFill>
                <a:latin typeface="Malgun Gothic"/>
              </a:rPr>
              <a:t>4. </a:t>
            </a:r>
            <a:r>
              <a:rPr b="1" lang="ko-KR" sz="1300" spc="-1" strike="noStrike">
                <a:solidFill>
                  <a:schemeClr val="lt1"/>
                </a:solidFill>
                <a:latin typeface="Malgun Gothic"/>
              </a:rPr>
              <a:t>말이 아니라 기록으로 확인</a:t>
            </a:r>
            <a:endParaRPr b="0" lang="en-US" sz="1300" spc="-1" strike="noStrike">
              <a:solidFill>
                <a:srgbClr val="ffffff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ko-KR" sz="1100" spc="-1" strike="noStrike">
                <a:solidFill>
                  <a:srgbClr val="c9d2e0"/>
                </a:solidFill>
                <a:latin typeface="Malgun Gothic"/>
              </a:rPr>
              <a:t>최종 응답이 아니라 도구 호출 기록</a:t>
            </a:r>
            <a:r>
              <a:rPr b="0" lang="en-US" sz="1100" spc="-1" strike="noStrike">
                <a:solidFill>
                  <a:srgbClr val="c9d2e0"/>
                </a:solidFill>
                <a:latin typeface="Malgun Gothic"/>
              </a:rPr>
              <a:t>(</a:t>
            </a:r>
            <a:r>
              <a:rPr b="0" lang="ko-KR" sz="1100" spc="-1" strike="noStrike">
                <a:solidFill>
                  <a:srgbClr val="c9d2e0"/>
                </a:solidFill>
                <a:latin typeface="Malgun Gothic"/>
              </a:rPr>
              <a:t>트레이스</a:t>
            </a:r>
            <a:r>
              <a:rPr b="0" lang="en-US" sz="1100" spc="-1" strike="noStrike">
                <a:solidFill>
                  <a:srgbClr val="c9d2e0"/>
                </a:solidFill>
                <a:latin typeface="Malgun Gothic"/>
              </a:rPr>
              <a:t>)</a:t>
            </a:r>
            <a:r>
              <a:rPr b="0" lang="ko-KR" sz="1100" spc="-1" strike="noStrike">
                <a:solidFill>
                  <a:srgbClr val="c9d2e0"/>
                </a:solidFill>
                <a:latin typeface="Malgun Gothic"/>
              </a:rPr>
              <a:t>을 본다</a:t>
            </a:r>
            <a:r>
              <a:rPr b="0" lang="en-US" sz="1100" spc="-1" strike="noStrike">
                <a:solidFill>
                  <a:srgbClr val="c9d2e0"/>
                </a:solidFill>
                <a:latin typeface="Malgun Gothic"/>
              </a:rPr>
              <a:t>.</a:t>
            </a:r>
            <a:endParaRPr b="0" lang="en-US" sz="1100" spc="-1" strike="noStrike">
              <a:solidFill>
                <a:srgbClr val="ffffff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spcAft>
                <a:spcPts val="99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rgbClr val="e89a5b"/>
                </a:solidFill>
                <a:latin typeface="Malgun Gothic"/>
              </a:rPr>
              <a:t>5. </a:t>
            </a:r>
            <a:r>
              <a:rPr b="1" lang="ko-KR" sz="1300" spc="-1" strike="noStrike">
                <a:solidFill>
                  <a:schemeClr val="lt1"/>
                </a:solidFill>
                <a:latin typeface="Malgun Gothic"/>
              </a:rPr>
              <a:t>독스트링이 곧 명세</a:t>
            </a:r>
            <a:endParaRPr b="0" lang="en-US" sz="1300" spc="-1" strike="noStrike">
              <a:solidFill>
                <a:srgbClr val="ffffff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ko-KR" sz="1100" spc="-1" strike="noStrike">
                <a:solidFill>
                  <a:srgbClr val="c9d2e0"/>
                </a:solidFill>
                <a:latin typeface="Malgun Gothic"/>
              </a:rPr>
              <a:t>모델은 함수 본문을 보지 않는다</a:t>
            </a:r>
            <a:r>
              <a:rPr b="0" lang="en-US" sz="1100" spc="-1" strike="noStrike">
                <a:solidFill>
                  <a:srgbClr val="c9d2e0"/>
                </a:solidFill>
                <a:latin typeface="Malgun Gothic"/>
              </a:rPr>
              <a:t>.</a:t>
            </a:r>
            <a:endParaRPr b="0" lang="en-US" sz="1100" spc="-1" strike="noStrike">
              <a:solidFill>
                <a:srgbClr val="ffffff"/>
              </a:solidFill>
              <a:latin typeface="Noto Sans KR"/>
            </a:endParaRPr>
          </a:p>
          <a:p>
            <a:pPr defTabSz="914400">
              <a:lnSpc>
                <a:spcPct val="125000"/>
              </a:lnSpc>
              <a:spcBef>
                <a:spcPts val="201"/>
              </a:spcBef>
              <a:tabLst>
                <a:tab algn="l" pos="0"/>
              </a:tabLst>
            </a:pPr>
            <a:r>
              <a:rPr b="1" lang="ko-KR" sz="1200" spc="-1" strike="noStrike">
                <a:solidFill>
                  <a:srgbClr val="e89a5b"/>
                </a:solidFill>
                <a:latin typeface="Malgun Gothic"/>
              </a:rPr>
              <a:t>그리고 무엇보다</a:t>
            </a:r>
            <a:r>
              <a:rPr b="1" lang="en-US" sz="1200" spc="-1" strike="noStrike">
                <a:solidFill>
                  <a:srgbClr val="e89a5b"/>
                </a:solidFill>
                <a:latin typeface="Malgun Gothic"/>
              </a:rPr>
              <a:t>, </a:t>
            </a:r>
            <a:r>
              <a:rPr b="1" lang="ko-KR" sz="1200" spc="-1" strike="noStrike">
                <a:solidFill>
                  <a:srgbClr val="e89a5b"/>
                </a:solidFill>
                <a:latin typeface="Malgun Gothic"/>
              </a:rPr>
              <a:t>기록</a:t>
            </a:r>
            <a:r>
              <a:rPr b="1" lang="en-US" sz="1200" spc="-1" strike="noStrike">
                <a:solidFill>
                  <a:srgbClr val="e89a5b"/>
                </a:solidFill>
                <a:latin typeface="Malgun Gothic"/>
              </a:rPr>
              <a:t>(</a:t>
            </a:r>
            <a:r>
              <a:rPr b="1" lang="ko-KR" sz="1200" spc="-1" strike="noStrike">
                <a:solidFill>
                  <a:srgbClr val="e89a5b"/>
                </a:solidFill>
                <a:latin typeface="Malgun Gothic"/>
              </a:rPr>
              <a:t>문서화</a:t>
            </a:r>
            <a:r>
              <a:rPr b="1" lang="en-US" sz="1200" spc="-1" strike="noStrike">
                <a:solidFill>
                  <a:srgbClr val="e89a5b"/>
                </a:solidFill>
                <a:latin typeface="Malgun Gothic"/>
              </a:rPr>
              <a:t>)</a:t>
            </a:r>
            <a:r>
              <a:rPr b="1" lang="ko-KR" sz="1200" spc="-1" strike="noStrike">
                <a:solidFill>
                  <a:srgbClr val="e89a5b"/>
                </a:solidFill>
                <a:latin typeface="Malgun Gothic"/>
              </a:rPr>
              <a:t>이 가장 중요하다</a:t>
            </a:r>
            <a:endParaRPr b="0" lang="en-US" sz="12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361" name="closing"/>
          <p:cNvSpPr/>
          <p:nvPr/>
        </p:nvSpPr>
        <p:spPr>
          <a:xfrm>
            <a:off x="812880" y="6263640"/>
            <a:ext cx="6349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c9d2e0"/>
                </a:solidFill>
                <a:latin typeface="Malgun Gothic"/>
              </a:rPr>
              <a:t>감사합니다 </a:t>
            </a:r>
            <a:r>
              <a:rPr b="0" lang="en-US" sz="1200" spc="-1" strike="noStrike">
                <a:solidFill>
                  <a:srgbClr val="c9d2e0"/>
                </a:solidFill>
                <a:latin typeface="Malgun Gothic"/>
              </a:rPr>
              <a:t>· </a:t>
            </a:r>
            <a:r>
              <a:rPr b="0" lang="ko-KR" sz="1200" spc="-1" strike="noStrike">
                <a:solidFill>
                  <a:srgbClr val="c9d2e0"/>
                </a:solidFill>
                <a:latin typeface="Malgun Gothic"/>
              </a:rPr>
              <a:t>질문 받겠습니다</a:t>
            </a:r>
            <a:endParaRPr b="0" lang="en-US" sz="1200" spc="-1" strike="noStrike">
              <a:solidFill>
                <a:srgbClr val="ffffff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AI Study Navy Orange">
  <a:themeElements>
    <a:clrScheme name="AI Study Navy Orange">
      <a:dk1>
        <a:srgbClr val="13213a"/>
      </a:dk1>
      <a:lt1>
        <a:srgbClr val="f6f4ef"/>
      </a:lt1>
      <a:dk2>
        <a:srgbClr val="4a5263"/>
      </a:dk2>
      <a:lt2>
        <a:srgbClr val="ece8df"/>
      </a:lt2>
      <a:accent1>
        <a:srgbClr val="d9772b"/>
      </a:accent1>
      <a:accent2>
        <a:srgbClr val="a85414"/>
      </a:accent2>
      <a:accent3>
        <a:srgbClr val="f7e3d1"/>
      </a:accent3>
      <a:accent4>
        <a:srgbClr val="c7c1b4"/>
      </a:accent4>
      <a:accent5>
        <a:srgbClr val="8a8f9a"/>
      </a:accent5>
      <a:accent6>
        <a:srgbClr val="fbfaf7"/>
      </a:accent6>
      <a:hlink>
        <a:srgbClr val="a85414"/>
      </a:hlink>
      <a:folHlink>
        <a:srgbClr val="4a5263"/>
      </a:folHlink>
    </a:clrScheme>
    <a:fontScheme name="AI Study Navy Orange">
      <a:majorFont>
        <a:latin typeface="Malgun Gothic" pitchFamily="0" charset="1"/>
        <a:ea typeface=""/>
        <a:cs typeface=""/>
      </a:majorFont>
      <a:minorFont>
        <a:latin typeface="Malgun Gothic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I Study Navy Orange">
  <a:themeElements>
    <a:clrScheme name="AI Study Navy Orange">
      <a:dk1>
        <a:srgbClr val="13213a"/>
      </a:dk1>
      <a:lt1>
        <a:srgbClr val="f6f4ef"/>
      </a:lt1>
      <a:dk2>
        <a:srgbClr val="4a5263"/>
      </a:dk2>
      <a:lt2>
        <a:srgbClr val="ece8df"/>
      </a:lt2>
      <a:accent1>
        <a:srgbClr val="d9772b"/>
      </a:accent1>
      <a:accent2>
        <a:srgbClr val="a85414"/>
      </a:accent2>
      <a:accent3>
        <a:srgbClr val="f7e3d1"/>
      </a:accent3>
      <a:accent4>
        <a:srgbClr val="c7c1b4"/>
      </a:accent4>
      <a:accent5>
        <a:srgbClr val="8a8f9a"/>
      </a:accent5>
      <a:accent6>
        <a:srgbClr val="fbfaf7"/>
      </a:accent6>
      <a:hlink>
        <a:srgbClr val="a85414"/>
      </a:hlink>
      <a:folHlink>
        <a:srgbClr val="4a5263"/>
      </a:folHlink>
    </a:clrScheme>
    <a:fontScheme name="AI Study Navy Orange">
      <a:majorFont>
        <a:latin typeface="Malgun Gothic" pitchFamily="0" charset="1"/>
        <a:ea typeface=""/>
        <a:cs typeface=""/>
      </a:majorFont>
      <a:minorFont>
        <a:latin typeface="Malgun Gothic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AI Study Navy Orange">
  <a:themeElements>
    <a:clrScheme name="AI Study Navy Orange">
      <a:dk1>
        <a:srgbClr val="13213a"/>
      </a:dk1>
      <a:lt1>
        <a:srgbClr val="f6f4ef"/>
      </a:lt1>
      <a:dk2>
        <a:srgbClr val="4a5263"/>
      </a:dk2>
      <a:lt2>
        <a:srgbClr val="ece8df"/>
      </a:lt2>
      <a:accent1>
        <a:srgbClr val="d9772b"/>
      </a:accent1>
      <a:accent2>
        <a:srgbClr val="a85414"/>
      </a:accent2>
      <a:accent3>
        <a:srgbClr val="f7e3d1"/>
      </a:accent3>
      <a:accent4>
        <a:srgbClr val="c7c1b4"/>
      </a:accent4>
      <a:accent5>
        <a:srgbClr val="8a8f9a"/>
      </a:accent5>
      <a:accent6>
        <a:srgbClr val="fbfaf7"/>
      </a:accent6>
      <a:hlink>
        <a:srgbClr val="a85414"/>
      </a:hlink>
      <a:folHlink>
        <a:srgbClr val="4a5263"/>
      </a:folHlink>
    </a:clrScheme>
    <a:fontScheme name="AI Study Navy Orange">
      <a:majorFont>
        <a:latin typeface="Malgun Gothic" pitchFamily="0" charset="1"/>
        <a:ea typeface=""/>
        <a:cs typeface=""/>
      </a:majorFont>
      <a:minorFont>
        <a:latin typeface="Malgun Gothic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AI Study Navy Orange">
  <a:themeElements>
    <a:clrScheme name="AI Study Navy Orange">
      <a:dk1>
        <a:srgbClr val="13213a"/>
      </a:dk1>
      <a:lt1>
        <a:srgbClr val="f6f4ef"/>
      </a:lt1>
      <a:dk2>
        <a:srgbClr val="4a5263"/>
      </a:dk2>
      <a:lt2>
        <a:srgbClr val="ece8df"/>
      </a:lt2>
      <a:accent1>
        <a:srgbClr val="d9772b"/>
      </a:accent1>
      <a:accent2>
        <a:srgbClr val="a85414"/>
      </a:accent2>
      <a:accent3>
        <a:srgbClr val="f7e3d1"/>
      </a:accent3>
      <a:accent4>
        <a:srgbClr val="c7c1b4"/>
      </a:accent4>
      <a:accent5>
        <a:srgbClr val="8a8f9a"/>
      </a:accent5>
      <a:accent6>
        <a:srgbClr val="fbfaf7"/>
      </a:accent6>
      <a:hlink>
        <a:srgbClr val="a85414"/>
      </a:hlink>
      <a:folHlink>
        <a:srgbClr val="4a5263"/>
      </a:folHlink>
    </a:clrScheme>
    <a:fontScheme name="AI Study Navy Orange">
      <a:majorFont>
        <a:latin typeface="Malgun Gothic" pitchFamily="0" charset="1"/>
        <a:ea typeface=""/>
        <a:cs typeface=""/>
      </a:majorFont>
      <a:minorFont>
        <a:latin typeface="Malgun Gothic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706</TotalTime>
  <Application>PPT_Plus/1.0.0.0$Windows_X86_64 LibreOffice_project/</Application>
  <AppVersion>15.0000</AppVersion>
  <Words>3715</Words>
  <Paragraphs>444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2026-10-15T09:42:33Z</dcterms:created>
  <dc:creator>PptxGenJS</dc:creator>
  <dc:description/>
  <dc:language>ko-KR</dc:language>
  <cp:lastModifiedBy>승윤 이</cp:lastModifiedBy>
  <dcterms:modified xsi:type="dcterms:W3CDTF">2026-10-16T07:48:12Z</dcterms:modified>
  <cp:revision>7</cp:revision>
  <dc:subject>PptxGenJS Presentation</dc:subject>
  <dc:title>AI 학습 정리 발표 (1~4일차)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와이드스크린</vt:lpwstr>
  </property>
  <property fmtid="{D5CDD505-2E9C-101B-9397-08002B2CF9AE}" pid="4" name="Slides">
    <vt:i4>17</vt:i4>
  </property>
</Properties>
</file>